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1408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presents the completed 100,000-row GMETS analysis. It explains the source data, the meaning of every major input and output, how the LLM coding was performed, what the figures show, what can and cannot be concluded, and what actions should follow.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dominant substantive story is a relational learning system centered on teaching, supervision, feedback, psychological safety, reflection, and gradually increasing responsibility. The dominant methodological story is that the corpus is strongly positive and event-level prevalence is very high, so future inference should account for saturation, class imbalance, and repeated observations.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data come from the GMETS research table in Snowflake. Eligibility required a valid evaluation ID, a question, and a non-trivial narrative response of at least 20 characters. Exact duplicates were removed. The 100,000-row sample was selected deterministically using a hash-based seed, making the sample reproducible. Structured scores were linked at the evaluation-event level.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the row-level qualitative input from the event-level statistical unit. That distinction is critical because many narrative rows belong to the same evaluation event. Treating all 100,000 rows as independent observations would create pseudo-replication.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 taxonomy was not invented during this 100K pass. It came from an earlier inductive/open-coding phase. The 100K analysis is therefore best described as fixed-taxonomy application plus constant comparison, taxonomy-gap auditing, negative-case analysis, and theoretical integration.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aggregation design prevents pseudo-replication, but it also means event-level prevalence can become very high because each evaluation event contains many comments. A future analysis should show both event-level prevalence and the proportion of individual rows containing each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teaching, feedback and mentorship is the dominant environment category. Teaching infrastructure and psychological safety are also extremely common. Workload and wellbeing are not peripheral; they are part of the learning context. Event-level prevalence is high because each event aggregates many narratives.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developmental profile is broad. Communication and teamwork are most visible, followed by feedback receptivity, reasoning, and autonomy. Procedural/technical competence and scholarship are less frequently surfaced in the narrative corpus.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profile supports a feedback-rich and supervision-dependent learning system. Autonomy and repeated exposure are important, but they sit inside a larger coaching/scaffolding/reflection process.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confidence distribution is concentrated around roughly 70 to 80 among non-zero outputs, but a large mass appears at zero. That is a validation priority. The performance signal distribution is extremely imbalanced toward positive, so standard accuracy would be misleading.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practical interpretation is not that workload or workflow causes low scores. Rather, lower-scoring evaluations appear to contain richer descriptions of friction, constraints, burdens, and contextual problems. This suggests narrative text may explain structured scores rather than simply repeat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substantive co-occurrences link faculty teaching/feedback with didactics, psychological safety, workload, wellbeing, supervision, and assessment. That pattern supports a multifactorial learning-environment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relational infrastructure of learning is visible here: psychological safety and availability of supervision are extremely prominent. Workload/fatigue and burnout are also common, suggesting education and clinical burden are tightly linked.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operational insight is the quantity–quality gap: feedback and coaching appear everywhere, yet average feedback quality is only moderate. The intervention target is not simply “more feedback”; it is more specific, behavior-linked, actionable feedback.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latest-year decline as deterioration without checking denominators and evaluation mix. The time plot is useful for hypothesis generation and for identifying periods to investigate.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lack of a simple system-wide improvement trend does not mean trainees are not developing. It means first-versus-last scores are too crude to capture development across heterogeneous contexts.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0.43 percent gap rate is encouraging and suggests the codebook is conceptually mature. Before publication, clean the gap extraction logic and manually review the recurring genuine concepts to decide whether any justify taxonomy revision.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integrated model is hypothesis-generating. The data support a coherent sequence from learning environment to learning mechanisms to developmental outcomes, while workload, workflow, wellbeing, assessment, and equity context appear to moderate or complicate that pathway.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synthesis findings rather than direct outputs from a single figure. The most publishable hypothesis is that low-scoring evaluations elicit richer descriptions of environmental constraints, meaning narrative comments may explain score variation. Another important operational finding is that feedback is ubiquitous but only moderately specific/actionable.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operational recommendations that can be implemented without waiting for causal modeling. The strongest immediate opportunity is to improve feedback quality. The second is to use psychological safety, supervision availability, workload, and low-score narrative context as program-level monitoring signals.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roadmap turns the current descriptive mixed-methods analysis into a stronger inferential program. The highest priority is validation and cleanup, followed by row-level prevalence, adjusted mixed-effects models, longitudinal modeling, and then a prospective intervention targeting feedback quality.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100K study gives GMETS a coherent conceptual model and several immediate improvement targets. The next stage is to validate the coding, test the model with adjusted analyses, and then prospectively test an intervention focused on feedback quality and relational learning conditions.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739128"/>
            <a:ext cx="12191695" cy="118872"/>
          </a:xfrm>
          <a:prstGeom prst="rect">
            <a:avLst/>
          </a:prstGeom>
          <a:solidFill>
            <a:srgbClr val="163A5F"/>
          </a:solidFill>
          <a:ln w="12700">
            <a:solidFill>
              <a:srgbClr val="163A5F"/>
            </a:solidFill>
            <a:prstDash val="solid"/>
          </a:ln>
        </p:spPr>
        <p:txBody>
          <a:bodyPr/>
          <a:lstStyle/>
          <a:p>
            <a:endParaRPr lang="en-US"/>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4592" cy="6739128"/>
          </a:xfrm>
          <a:prstGeom prst="rect">
            <a:avLst/>
          </a:prstGeom>
          <a:solidFill>
            <a:srgbClr val="163A5F"/>
          </a:solidFill>
          <a:ln w="12700">
            <a:solidFill>
              <a:srgbClr val="163A5F"/>
            </a:solidFill>
            <a:prstDash val="solid"/>
          </a:ln>
        </p:spPr>
        <p:txBody>
          <a:bodyPr/>
          <a:lstStyle/>
          <a:p>
            <a:endParaRPr lang="en-US"/>
          </a:p>
        </p:txBody>
      </p:sp>
      <p:sp>
        <p:nvSpPr>
          <p:cNvPr id="3" name="Shape 1"/>
          <p:cNvSpPr/>
          <p:nvPr/>
        </p:nvSpPr>
        <p:spPr>
          <a:xfrm>
            <a:off x="164592" y="0"/>
            <a:ext cx="64008" cy="6739128"/>
          </a:xfrm>
          <a:prstGeom prst="rect">
            <a:avLst/>
          </a:prstGeom>
          <a:solidFill>
            <a:srgbClr val="5AB0A7"/>
          </a:solidFill>
          <a:ln w="12700">
            <a:solidFill>
              <a:srgbClr val="5AB0A7"/>
            </a:solidFill>
            <a:prstDash val="solid"/>
          </a:ln>
        </p:spPr>
        <p:txBody>
          <a:bodyPr/>
          <a:lstStyle/>
          <a:p>
            <a:endParaRPr lang="en-US"/>
          </a:p>
        </p:txBody>
      </p:sp>
      <p:sp>
        <p:nvSpPr>
          <p:cNvPr id="4" name="Text 2"/>
          <p:cNvSpPr txBox="1"/>
          <p:nvPr/>
        </p:nvSpPr>
        <p:spPr>
          <a:xfrm>
            <a:off x="1005840" y="1170432"/>
            <a:ext cx="8046720" cy="777240"/>
          </a:xfrm>
          <a:prstGeom prst="rect">
            <a:avLst/>
          </a:prstGeom>
          <a:noFill/>
          <a:ln/>
        </p:spPr>
        <p:txBody>
          <a:bodyPr wrap="square" lIns="0" tIns="0" rIns="0" bIns="0" rtlCol="0" anchor="ctr">
            <a:normAutofit/>
          </a:bodyPr>
          <a:lstStyle/>
          <a:p>
            <a:pPr marL="0" indent="0" algn="l">
              <a:buNone/>
            </a:pPr>
            <a:r>
              <a:rPr lang="en-US" sz="3400" b="1" dirty="0">
                <a:solidFill>
                  <a:srgbClr val="163A5F"/>
                </a:solidFill>
                <a:latin typeface="Aptos Display" pitchFamily="34" charset="0"/>
                <a:ea typeface="Aptos Display" pitchFamily="34" charset="-122"/>
                <a:cs typeface="Aptos Display" pitchFamily="34" charset="-120"/>
              </a:rPr>
              <a:t>GMETS Analysis</a:t>
            </a:r>
            <a:endParaRPr lang="en-US" sz="3400" dirty="0"/>
          </a:p>
        </p:txBody>
      </p:sp>
      <p:sp>
        <p:nvSpPr>
          <p:cNvPr id="5" name="Text 3"/>
          <p:cNvSpPr txBox="1"/>
          <p:nvPr/>
        </p:nvSpPr>
        <p:spPr>
          <a:xfrm>
            <a:off x="1005840" y="2039112"/>
            <a:ext cx="9601200" cy="384048"/>
          </a:xfrm>
          <a:prstGeom prst="rect">
            <a:avLst/>
          </a:prstGeom>
          <a:noFill/>
          <a:ln/>
        </p:spPr>
        <p:txBody>
          <a:bodyPr wrap="square" lIns="0" tIns="0" rIns="0" bIns="0" rtlCol="0" anchor="ctr">
            <a:normAutofit/>
          </a:bodyPr>
          <a:lstStyle/>
          <a:p>
            <a:pPr marL="0" indent="0" algn="l">
              <a:buNone/>
            </a:pPr>
            <a:r>
              <a:rPr lang="en-US" sz="1800" dirty="0">
                <a:solidFill>
                  <a:srgbClr val="1F2933"/>
                </a:solidFill>
                <a:latin typeface="Aptos" pitchFamily="34" charset="0"/>
                <a:ea typeface="Aptos" pitchFamily="34" charset="-122"/>
                <a:cs typeface="Aptos" pitchFamily="34" charset="-120"/>
              </a:rPr>
              <a:t>Grounded-theory / fixed-taxonomy analysis of narrative evaluations</a:t>
            </a:r>
            <a:endParaRPr lang="en-US" sz="1800" dirty="0"/>
          </a:p>
        </p:txBody>
      </p:sp>
      <p:sp>
        <p:nvSpPr>
          <p:cNvPr id="6" name="Text 4"/>
          <p:cNvSpPr txBox="1"/>
          <p:nvPr/>
        </p:nvSpPr>
        <p:spPr>
          <a:xfrm>
            <a:off x="1005840" y="2551176"/>
            <a:ext cx="9692640" cy="365760"/>
          </a:xfrm>
          <a:prstGeom prst="rect">
            <a:avLst/>
          </a:prstGeom>
          <a:noFill/>
          <a:ln/>
        </p:spPr>
        <p:txBody>
          <a:bodyPr wrap="square" lIns="0" tIns="0" rIns="0" bIns="0" rtlCol="0" anchor="ctr">
            <a:normAutofit/>
          </a:bodyPr>
          <a:lstStyle/>
          <a:p>
            <a:pPr marL="0" indent="0" algn="l">
              <a:buNone/>
            </a:pPr>
            <a:r>
              <a:rPr lang="en-US" sz="1350" dirty="0">
                <a:solidFill>
                  <a:srgbClr val="6D7781"/>
                </a:solidFill>
                <a:latin typeface="Aptos" pitchFamily="34" charset="0"/>
                <a:ea typeface="Aptos" pitchFamily="34" charset="-122"/>
                <a:cs typeface="Aptos" pitchFamily="34" charset="-120"/>
              </a:rPr>
              <a:t>Inputs, outputs, interpretation, key takeaways, action steps, and future analysis</a:t>
            </a:r>
            <a:endParaRPr lang="en-US" sz="1350" dirty="0"/>
          </a:p>
        </p:txBody>
      </p:sp>
      <p:sp>
        <p:nvSpPr>
          <p:cNvPr id="7" name="Shape 5"/>
          <p:cNvSpPr/>
          <p:nvPr/>
        </p:nvSpPr>
        <p:spPr>
          <a:xfrm>
            <a:off x="1005840" y="3886200"/>
            <a:ext cx="2743200" cy="822960"/>
          </a:xfrm>
          <a:prstGeom prst="roundRect">
            <a:avLst/>
          </a:prstGeom>
          <a:solidFill>
            <a:srgbClr val="214B70"/>
          </a:solidFill>
          <a:ln w="19050">
            <a:solidFill>
              <a:srgbClr val="5AB0A7"/>
            </a:solidFill>
            <a:prstDash val="solid"/>
          </a:ln>
        </p:spPr>
        <p:txBody>
          <a:bodyPr/>
          <a:lstStyle/>
          <a:p>
            <a:endParaRPr lang="en-US"/>
          </a:p>
        </p:txBody>
      </p:sp>
      <p:sp>
        <p:nvSpPr>
          <p:cNvPr id="8" name="Text 6"/>
          <p:cNvSpPr txBox="1"/>
          <p:nvPr/>
        </p:nvSpPr>
        <p:spPr>
          <a:xfrm>
            <a:off x="1188720" y="4005072"/>
            <a:ext cx="1143000" cy="310896"/>
          </a:xfrm>
          <a:prstGeom prst="rect">
            <a:avLst/>
          </a:prstGeom>
          <a:noFill/>
          <a:ln/>
        </p:spPr>
        <p:txBody>
          <a:bodyPr wrap="square" lIns="0" tIns="0" rIns="0" bIns="0" rtlCol="0" anchor="ctr">
            <a:normAutofit/>
          </a:bodyPr>
          <a:lstStyle/>
          <a:p>
            <a:pPr marL="0" indent="0" algn="l">
              <a:buNone/>
            </a:pPr>
            <a:r>
              <a:rPr lang="en-US" sz="2200" b="1" dirty="0">
                <a:solidFill>
                  <a:srgbClr val="FFFFFF"/>
                </a:solidFill>
                <a:latin typeface="Aptos" pitchFamily="34" charset="0"/>
                <a:ea typeface="Aptos" pitchFamily="34" charset="-122"/>
                <a:cs typeface="Aptos" pitchFamily="34" charset="-120"/>
              </a:rPr>
              <a:t>100,000</a:t>
            </a:r>
            <a:endParaRPr lang="en-US" sz="2200" dirty="0"/>
          </a:p>
        </p:txBody>
      </p:sp>
      <p:sp>
        <p:nvSpPr>
          <p:cNvPr id="9" name="Text 7"/>
          <p:cNvSpPr txBox="1"/>
          <p:nvPr/>
        </p:nvSpPr>
        <p:spPr>
          <a:xfrm>
            <a:off x="2322576" y="4059520"/>
            <a:ext cx="1325880" cy="228600"/>
          </a:xfrm>
          <a:prstGeom prst="rect">
            <a:avLst/>
          </a:prstGeom>
          <a:noFill/>
          <a:ln/>
        </p:spPr>
        <p:txBody>
          <a:bodyPr wrap="square" lIns="0" tIns="0" rIns="0" bIns="0" rtlCol="0" anchor="ctr">
            <a:normAutofit/>
          </a:bodyPr>
          <a:lstStyle/>
          <a:p>
            <a:pPr marL="0" indent="0" algn="l">
              <a:buNone/>
            </a:pPr>
            <a:r>
              <a:rPr lang="en-US" sz="1180" b="1" dirty="0">
                <a:solidFill>
                  <a:srgbClr val="FFFFFF"/>
                </a:solidFill>
                <a:latin typeface="Aptos" pitchFamily="34" charset="0"/>
                <a:ea typeface="Aptos" pitchFamily="34" charset="-122"/>
                <a:cs typeface="Aptos" pitchFamily="34" charset="-120"/>
              </a:rPr>
              <a:t>narrative rows</a:t>
            </a:r>
            <a:endParaRPr lang="en-US" sz="1180" dirty="0"/>
          </a:p>
        </p:txBody>
      </p:sp>
      <p:sp>
        <p:nvSpPr>
          <p:cNvPr id="10" name="Shape 8"/>
          <p:cNvSpPr/>
          <p:nvPr/>
        </p:nvSpPr>
        <p:spPr>
          <a:xfrm>
            <a:off x="4160520" y="3886200"/>
            <a:ext cx="2743200" cy="822960"/>
          </a:xfrm>
          <a:prstGeom prst="roundRect">
            <a:avLst/>
          </a:prstGeom>
          <a:solidFill>
            <a:srgbClr val="214B70"/>
          </a:solidFill>
          <a:ln w="19050">
            <a:solidFill>
              <a:srgbClr val="5AB0A7"/>
            </a:solidFill>
            <a:prstDash val="solid"/>
          </a:ln>
        </p:spPr>
        <p:txBody>
          <a:bodyPr/>
          <a:lstStyle/>
          <a:p>
            <a:endParaRPr lang="en-US"/>
          </a:p>
        </p:txBody>
      </p:sp>
      <p:sp>
        <p:nvSpPr>
          <p:cNvPr id="11" name="Text 9"/>
          <p:cNvSpPr txBox="1"/>
          <p:nvPr/>
        </p:nvSpPr>
        <p:spPr>
          <a:xfrm>
            <a:off x="4370832" y="4005072"/>
            <a:ext cx="1005840" cy="310896"/>
          </a:xfrm>
          <a:prstGeom prst="rect">
            <a:avLst/>
          </a:prstGeom>
          <a:noFill/>
          <a:ln/>
        </p:spPr>
        <p:txBody>
          <a:bodyPr wrap="square" lIns="0" tIns="0" rIns="0" bIns="0" rtlCol="0" anchor="ctr">
            <a:normAutofit/>
          </a:bodyPr>
          <a:lstStyle/>
          <a:p>
            <a:pPr marL="0" indent="0" algn="l">
              <a:buNone/>
            </a:pPr>
            <a:r>
              <a:rPr lang="en-US" sz="2200" b="1" dirty="0">
                <a:solidFill>
                  <a:srgbClr val="FFFFFF"/>
                </a:solidFill>
                <a:latin typeface="Aptos" pitchFamily="34" charset="0"/>
                <a:ea typeface="Aptos" pitchFamily="34" charset="-122"/>
                <a:cs typeface="Aptos" pitchFamily="34" charset="-120"/>
              </a:rPr>
              <a:t>1,888</a:t>
            </a:r>
            <a:endParaRPr lang="en-US" sz="2200" dirty="0"/>
          </a:p>
        </p:txBody>
      </p:sp>
      <p:sp>
        <p:nvSpPr>
          <p:cNvPr id="12" name="Text 10"/>
          <p:cNvSpPr txBox="1"/>
          <p:nvPr/>
        </p:nvSpPr>
        <p:spPr>
          <a:xfrm>
            <a:off x="5184648" y="4050792"/>
            <a:ext cx="1417320" cy="228600"/>
          </a:xfrm>
          <a:prstGeom prst="rect">
            <a:avLst/>
          </a:prstGeom>
          <a:noFill/>
          <a:ln/>
        </p:spPr>
        <p:txBody>
          <a:bodyPr wrap="square" lIns="0" tIns="0" rIns="0" bIns="0" rtlCol="0" anchor="ctr">
            <a:normAutofit/>
          </a:bodyPr>
          <a:lstStyle/>
          <a:p>
            <a:pPr marL="0" indent="0" algn="l">
              <a:buNone/>
            </a:pPr>
            <a:r>
              <a:rPr lang="en-US" sz="1180" b="1" dirty="0">
                <a:solidFill>
                  <a:srgbClr val="FFFFFF"/>
                </a:solidFill>
                <a:latin typeface="Aptos" pitchFamily="34" charset="0"/>
                <a:ea typeface="Aptos" pitchFamily="34" charset="-122"/>
                <a:cs typeface="Aptos" pitchFamily="34" charset="-120"/>
              </a:rPr>
              <a:t>evaluation events</a:t>
            </a:r>
            <a:endParaRPr lang="en-US" sz="1180" dirty="0"/>
          </a:p>
        </p:txBody>
      </p:sp>
      <p:sp>
        <p:nvSpPr>
          <p:cNvPr id="13" name="Shape 11"/>
          <p:cNvSpPr/>
          <p:nvPr/>
        </p:nvSpPr>
        <p:spPr>
          <a:xfrm>
            <a:off x="7315200" y="3886200"/>
            <a:ext cx="2743200" cy="822960"/>
          </a:xfrm>
          <a:prstGeom prst="roundRect">
            <a:avLst/>
          </a:prstGeom>
          <a:solidFill>
            <a:srgbClr val="214B70"/>
          </a:solidFill>
          <a:ln w="19050">
            <a:solidFill>
              <a:srgbClr val="5AB0A7"/>
            </a:solidFill>
            <a:prstDash val="solid"/>
          </a:ln>
        </p:spPr>
        <p:txBody>
          <a:bodyPr/>
          <a:lstStyle/>
          <a:p>
            <a:endParaRPr lang="en-US"/>
          </a:p>
        </p:txBody>
      </p:sp>
      <p:sp>
        <p:nvSpPr>
          <p:cNvPr id="14" name="Text 12"/>
          <p:cNvSpPr txBox="1"/>
          <p:nvPr/>
        </p:nvSpPr>
        <p:spPr>
          <a:xfrm>
            <a:off x="7534656" y="4005072"/>
            <a:ext cx="777240" cy="310896"/>
          </a:xfrm>
          <a:prstGeom prst="rect">
            <a:avLst/>
          </a:prstGeom>
          <a:noFill/>
          <a:ln/>
        </p:spPr>
        <p:txBody>
          <a:bodyPr wrap="square" lIns="0" tIns="0" rIns="0" bIns="0" rtlCol="0" anchor="ctr">
            <a:normAutofit/>
          </a:bodyPr>
          <a:lstStyle/>
          <a:p>
            <a:pPr marL="0" indent="0" algn="l">
              <a:buNone/>
            </a:pPr>
            <a:r>
              <a:rPr lang="en-US" sz="2200" b="1" dirty="0">
                <a:solidFill>
                  <a:srgbClr val="FFFFFF"/>
                </a:solidFill>
                <a:latin typeface="Aptos" pitchFamily="34" charset="0"/>
                <a:ea typeface="Aptos" pitchFamily="34" charset="-122"/>
                <a:cs typeface="Aptos" pitchFamily="34" charset="-120"/>
              </a:rPr>
              <a:t>253</a:t>
            </a:r>
            <a:endParaRPr lang="en-US" sz="2200" dirty="0"/>
          </a:p>
        </p:txBody>
      </p:sp>
      <p:sp>
        <p:nvSpPr>
          <p:cNvPr id="15" name="Text 13"/>
          <p:cNvSpPr txBox="1"/>
          <p:nvPr/>
        </p:nvSpPr>
        <p:spPr>
          <a:xfrm>
            <a:off x="8247888" y="4050792"/>
            <a:ext cx="1188720" cy="228600"/>
          </a:xfrm>
          <a:prstGeom prst="rect">
            <a:avLst/>
          </a:prstGeom>
          <a:noFill/>
          <a:ln/>
        </p:spPr>
        <p:txBody>
          <a:bodyPr wrap="square" lIns="0" tIns="0" rIns="0" bIns="0" rtlCol="0" anchor="ctr">
            <a:normAutofit/>
          </a:bodyPr>
          <a:lstStyle/>
          <a:p>
            <a:pPr marL="0" indent="0" algn="l">
              <a:buNone/>
            </a:pPr>
            <a:r>
              <a:rPr lang="en-US" sz="1180" b="1" dirty="0">
                <a:solidFill>
                  <a:srgbClr val="FFFFFF"/>
                </a:solidFill>
                <a:latin typeface="Aptos" pitchFamily="34" charset="0"/>
                <a:ea typeface="Aptos" pitchFamily="34" charset="-122"/>
                <a:cs typeface="Aptos" pitchFamily="34" charset="-120"/>
              </a:rPr>
              <a:t>programs</a:t>
            </a:r>
            <a:endParaRPr lang="en-US" sz="1180" dirty="0"/>
          </a:p>
        </p:txBody>
      </p:sp>
      <p:sp>
        <p:nvSpPr>
          <p:cNvPr id="16" name="Text 14"/>
          <p:cNvSpPr txBox="1"/>
          <p:nvPr/>
        </p:nvSpPr>
        <p:spPr>
          <a:xfrm>
            <a:off x="1005840" y="5486400"/>
            <a:ext cx="4572000" cy="320040"/>
          </a:xfrm>
          <a:prstGeom prst="rect">
            <a:avLst/>
          </a:prstGeom>
          <a:noFill/>
          <a:ln/>
        </p:spPr>
        <p:txBody>
          <a:bodyPr wrap="square" lIns="0" tIns="0" rIns="0" bIns="0" rtlCol="0" anchor="ctr">
            <a:normAutofit/>
          </a:bodyPr>
          <a:lstStyle/>
          <a:p>
            <a:pPr marL="0" indent="0" algn="l">
              <a:buNone/>
            </a:pPr>
            <a:r>
              <a:rPr lang="en-US" sz="1500" b="1" dirty="0">
                <a:solidFill>
                  <a:srgbClr val="1F2933"/>
                </a:solidFill>
                <a:latin typeface="Aptos" pitchFamily="34" charset="0"/>
                <a:ea typeface="Aptos" pitchFamily="34" charset="-122"/>
                <a:cs typeface="Aptos" pitchFamily="34" charset="-120"/>
              </a:rPr>
              <a:t>Rick Rejeleene</a:t>
            </a:r>
            <a:endParaRPr lang="en-US" sz="1500" dirty="0"/>
          </a:p>
        </p:txBody>
      </p:sp>
      <p:sp>
        <p:nvSpPr>
          <p:cNvPr id="17" name="Text 15"/>
          <p:cNvSpPr txBox="1"/>
          <p:nvPr/>
        </p:nvSpPr>
        <p:spPr>
          <a:xfrm>
            <a:off x="1005840" y="5833872"/>
            <a:ext cx="4572000" cy="256032"/>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October 2026</a:t>
            </a:r>
            <a:endParaRPr lang="en-US" sz="115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Executive summary</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What the 100,000-row narrative analysis says at a high level</a:t>
            </a:r>
            <a:endParaRPr lang="en-US" sz="1150" dirty="0"/>
          </a:p>
        </p:txBody>
      </p:sp>
      <p:sp>
        <p:nvSpPr>
          <p:cNvPr id="4" name="Shape 2"/>
          <p:cNvSpPr/>
          <p:nvPr/>
        </p:nvSpPr>
        <p:spPr>
          <a:xfrm>
            <a:off x="621792" y="1298448"/>
            <a:ext cx="5349240" cy="1261872"/>
          </a:xfrm>
          <a:prstGeom prst="roundRect">
            <a:avLst/>
          </a:prstGeom>
          <a:solidFill>
            <a:srgbClr val="EDF5FA"/>
          </a:solidFill>
          <a:ln w="12700">
            <a:solidFill>
              <a:srgbClr val="D7DEE6"/>
            </a:solidFill>
            <a:prstDash val="solid"/>
          </a:ln>
        </p:spPr>
        <p:txBody>
          <a:bodyPr/>
          <a:lstStyle/>
          <a:p>
            <a:endParaRPr lang="en-US"/>
          </a:p>
        </p:txBody>
      </p:sp>
      <p:sp>
        <p:nvSpPr>
          <p:cNvPr id="5" name="Shape 3"/>
          <p:cNvSpPr/>
          <p:nvPr/>
        </p:nvSpPr>
        <p:spPr>
          <a:xfrm>
            <a:off x="758952" y="1499616"/>
            <a:ext cx="438912" cy="438912"/>
          </a:xfrm>
          <a:prstGeom prst="ellipse">
            <a:avLst/>
          </a:prstGeom>
          <a:solidFill>
            <a:srgbClr val="2A6F9E"/>
          </a:solidFill>
          <a:ln w="12700">
            <a:solidFill>
              <a:srgbClr val="2A6F9E"/>
            </a:solidFill>
            <a:prstDash val="solid"/>
          </a:ln>
        </p:spPr>
        <p:txBody>
          <a:bodyPr/>
          <a:lstStyle/>
          <a:p>
            <a:endParaRPr lang="en-US"/>
          </a:p>
        </p:txBody>
      </p:sp>
      <p:sp>
        <p:nvSpPr>
          <p:cNvPr id="6" name="Text 4"/>
          <p:cNvSpPr txBox="1"/>
          <p:nvPr/>
        </p:nvSpPr>
        <p:spPr>
          <a:xfrm>
            <a:off x="758952" y="1499616"/>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7" name="Text 5"/>
          <p:cNvSpPr txBox="1"/>
          <p:nvPr/>
        </p:nvSpPr>
        <p:spPr>
          <a:xfrm>
            <a:off x="1335024" y="1444752"/>
            <a:ext cx="4389120" cy="256032"/>
          </a:xfrm>
          <a:prstGeom prst="rect">
            <a:avLst/>
          </a:prstGeom>
          <a:noFill/>
          <a:ln/>
        </p:spPr>
        <p:txBody>
          <a:bodyPr wrap="square" lIns="0" tIns="0" rIns="0" bIns="0" rtlCol="0" anchor="ctr">
            <a:normAutofit/>
          </a:bodyPr>
          <a:lstStyle/>
          <a:p>
            <a:pPr marL="0" indent="0" algn="l">
              <a:buNone/>
            </a:pPr>
            <a:r>
              <a:rPr lang="en-US" sz="1300" b="1" dirty="0">
                <a:solidFill>
                  <a:srgbClr val="1F2933"/>
                </a:solidFill>
                <a:latin typeface="Aptos" pitchFamily="34" charset="0"/>
                <a:ea typeface="Aptos" pitchFamily="34" charset="-122"/>
                <a:cs typeface="Aptos" pitchFamily="34" charset="-120"/>
              </a:rPr>
              <a:t>Feedback–supervision is the educational engine</a:t>
            </a:r>
            <a:endParaRPr lang="en-US" sz="1300" dirty="0"/>
          </a:p>
        </p:txBody>
      </p:sp>
      <p:sp>
        <p:nvSpPr>
          <p:cNvPr id="8" name="Text 6"/>
          <p:cNvSpPr txBox="1"/>
          <p:nvPr/>
        </p:nvSpPr>
        <p:spPr>
          <a:xfrm>
            <a:off x="1335024" y="1773936"/>
            <a:ext cx="4343400" cy="566928"/>
          </a:xfrm>
          <a:prstGeom prst="rect">
            <a:avLst/>
          </a:prstGeom>
          <a:noFill/>
          <a:ln/>
        </p:spPr>
        <p:txBody>
          <a:bodyPr wrap="square" lIns="0" tIns="0" rIns="0" bIns="0" rtlCol="0" anchor="t">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Faculty teaching, iterative coaching, direct supervision, reflection, and autonomy form the dominant learning pathway.</a:t>
            </a:r>
            <a:endParaRPr lang="en-US" sz="1010" dirty="0"/>
          </a:p>
        </p:txBody>
      </p:sp>
      <p:sp>
        <p:nvSpPr>
          <p:cNvPr id="9" name="Shape 7"/>
          <p:cNvSpPr/>
          <p:nvPr/>
        </p:nvSpPr>
        <p:spPr>
          <a:xfrm>
            <a:off x="6172200" y="1298448"/>
            <a:ext cx="5349240" cy="1261872"/>
          </a:xfrm>
          <a:prstGeom prst="roundRect">
            <a:avLst/>
          </a:prstGeom>
          <a:solidFill>
            <a:srgbClr val="EDF7F5"/>
          </a:solidFill>
          <a:ln w="12700">
            <a:solidFill>
              <a:srgbClr val="D7DEE6"/>
            </a:solidFill>
            <a:prstDash val="solid"/>
          </a:ln>
        </p:spPr>
        <p:txBody>
          <a:bodyPr/>
          <a:lstStyle/>
          <a:p>
            <a:endParaRPr lang="en-US"/>
          </a:p>
        </p:txBody>
      </p:sp>
      <p:sp>
        <p:nvSpPr>
          <p:cNvPr id="10" name="Shape 8"/>
          <p:cNvSpPr/>
          <p:nvPr/>
        </p:nvSpPr>
        <p:spPr>
          <a:xfrm>
            <a:off x="6309360" y="1499616"/>
            <a:ext cx="438912" cy="438912"/>
          </a:xfrm>
          <a:prstGeom prst="ellipse">
            <a:avLst/>
          </a:prstGeom>
          <a:solidFill>
            <a:srgbClr val="2B8C87"/>
          </a:solidFill>
          <a:ln w="12700">
            <a:solidFill>
              <a:srgbClr val="2B8C87"/>
            </a:solidFill>
            <a:prstDash val="solid"/>
          </a:ln>
        </p:spPr>
        <p:txBody>
          <a:bodyPr/>
          <a:lstStyle/>
          <a:p>
            <a:endParaRPr lang="en-US"/>
          </a:p>
        </p:txBody>
      </p:sp>
      <p:sp>
        <p:nvSpPr>
          <p:cNvPr id="11" name="Text 9"/>
          <p:cNvSpPr txBox="1"/>
          <p:nvPr/>
        </p:nvSpPr>
        <p:spPr>
          <a:xfrm>
            <a:off x="6309360" y="1499616"/>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2" name="Text 10"/>
          <p:cNvSpPr txBox="1"/>
          <p:nvPr/>
        </p:nvSpPr>
        <p:spPr>
          <a:xfrm>
            <a:off x="6885432" y="1444752"/>
            <a:ext cx="4389120" cy="256032"/>
          </a:xfrm>
          <a:prstGeom prst="rect">
            <a:avLst/>
          </a:prstGeom>
          <a:noFill/>
          <a:ln/>
        </p:spPr>
        <p:txBody>
          <a:bodyPr wrap="square" lIns="0" tIns="0" rIns="0" bIns="0" rtlCol="0" anchor="ctr">
            <a:normAutofit/>
          </a:bodyPr>
          <a:lstStyle/>
          <a:p>
            <a:pPr marL="0" indent="0" algn="l">
              <a:buNone/>
            </a:pPr>
            <a:r>
              <a:rPr lang="en-US" sz="1300" b="1" dirty="0">
                <a:solidFill>
                  <a:srgbClr val="1F2933"/>
                </a:solidFill>
                <a:latin typeface="Aptos" pitchFamily="34" charset="0"/>
                <a:ea typeface="Aptos" pitchFamily="34" charset="-122"/>
                <a:cs typeface="Aptos" pitchFamily="34" charset="-120"/>
              </a:rPr>
              <a:t>Psychological safety is core infrastructure</a:t>
            </a:r>
            <a:endParaRPr lang="en-US" sz="1300" dirty="0"/>
          </a:p>
        </p:txBody>
      </p:sp>
      <p:sp>
        <p:nvSpPr>
          <p:cNvPr id="13" name="Text 11"/>
          <p:cNvSpPr txBox="1"/>
          <p:nvPr/>
        </p:nvSpPr>
        <p:spPr>
          <a:xfrm>
            <a:off x="6885432" y="1773936"/>
            <a:ext cx="4343400" cy="566928"/>
          </a:xfrm>
          <a:prstGeom prst="rect">
            <a:avLst/>
          </a:prstGeom>
          <a:noFill/>
          <a:ln/>
        </p:spPr>
        <p:txBody>
          <a:bodyPr wrap="square" lIns="0" tIns="0" rIns="0" bIns="0" rtlCol="0" anchor="t">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Psychological safety and supervision availability are among the most pervasive explicit constructs in the evaluation ecosystem.</a:t>
            </a:r>
            <a:endParaRPr lang="en-US" sz="1010" dirty="0"/>
          </a:p>
        </p:txBody>
      </p:sp>
      <p:sp>
        <p:nvSpPr>
          <p:cNvPr id="14" name="Shape 12"/>
          <p:cNvSpPr/>
          <p:nvPr/>
        </p:nvSpPr>
        <p:spPr>
          <a:xfrm>
            <a:off x="621792" y="2944368"/>
            <a:ext cx="5349240" cy="1261872"/>
          </a:xfrm>
          <a:prstGeom prst="roundRect">
            <a:avLst/>
          </a:prstGeom>
          <a:solidFill>
            <a:srgbClr val="EDF5FA"/>
          </a:solidFill>
          <a:ln w="12700">
            <a:solidFill>
              <a:srgbClr val="D7DEE6"/>
            </a:solidFill>
            <a:prstDash val="solid"/>
          </a:ln>
        </p:spPr>
        <p:txBody>
          <a:bodyPr/>
          <a:lstStyle/>
          <a:p>
            <a:endParaRPr lang="en-US"/>
          </a:p>
        </p:txBody>
      </p:sp>
      <p:sp>
        <p:nvSpPr>
          <p:cNvPr id="15" name="Shape 13"/>
          <p:cNvSpPr/>
          <p:nvPr/>
        </p:nvSpPr>
        <p:spPr>
          <a:xfrm>
            <a:off x="758952" y="3145536"/>
            <a:ext cx="438912" cy="438912"/>
          </a:xfrm>
          <a:prstGeom prst="ellipse">
            <a:avLst/>
          </a:prstGeom>
          <a:solidFill>
            <a:srgbClr val="2A6F9E"/>
          </a:solidFill>
          <a:ln w="12700">
            <a:solidFill>
              <a:srgbClr val="2A6F9E"/>
            </a:solidFill>
            <a:prstDash val="solid"/>
          </a:ln>
        </p:spPr>
        <p:txBody>
          <a:bodyPr/>
          <a:lstStyle/>
          <a:p>
            <a:endParaRPr lang="en-US"/>
          </a:p>
        </p:txBody>
      </p:sp>
      <p:sp>
        <p:nvSpPr>
          <p:cNvPr id="16" name="Text 14"/>
          <p:cNvSpPr txBox="1"/>
          <p:nvPr/>
        </p:nvSpPr>
        <p:spPr>
          <a:xfrm>
            <a:off x="758952" y="3145536"/>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7" name="Text 15"/>
          <p:cNvSpPr txBox="1"/>
          <p:nvPr/>
        </p:nvSpPr>
        <p:spPr>
          <a:xfrm>
            <a:off x="1335024" y="3090672"/>
            <a:ext cx="4389120" cy="256032"/>
          </a:xfrm>
          <a:prstGeom prst="rect">
            <a:avLst/>
          </a:prstGeom>
          <a:noFill/>
          <a:ln/>
        </p:spPr>
        <p:txBody>
          <a:bodyPr wrap="square" lIns="0" tIns="0" rIns="0" bIns="0" rtlCol="0" anchor="ctr">
            <a:normAutofit/>
          </a:bodyPr>
          <a:lstStyle/>
          <a:p>
            <a:pPr marL="0" indent="0" algn="l">
              <a:buNone/>
            </a:pPr>
            <a:r>
              <a:rPr lang="en-US" sz="1300" b="1" dirty="0">
                <a:solidFill>
                  <a:srgbClr val="1F2933"/>
                </a:solidFill>
                <a:latin typeface="Aptos" pitchFamily="34" charset="0"/>
                <a:ea typeface="Aptos" pitchFamily="34" charset="-122"/>
                <a:cs typeface="Aptos" pitchFamily="34" charset="-120"/>
              </a:rPr>
              <a:t>Development is broader than technical skill</a:t>
            </a:r>
            <a:endParaRPr lang="en-US" sz="1300" dirty="0"/>
          </a:p>
        </p:txBody>
      </p:sp>
      <p:sp>
        <p:nvSpPr>
          <p:cNvPr id="18" name="Text 16"/>
          <p:cNvSpPr txBox="1"/>
          <p:nvPr/>
        </p:nvSpPr>
        <p:spPr>
          <a:xfrm>
            <a:off x="1335024" y="3419856"/>
            <a:ext cx="4343400" cy="566928"/>
          </a:xfrm>
          <a:prstGeom prst="rect">
            <a:avLst/>
          </a:prstGeom>
          <a:noFill/>
          <a:ln/>
        </p:spPr>
        <p:txBody>
          <a:bodyPr wrap="square" lIns="0" tIns="0" rIns="0" bIns="0" rtlCol="0" anchor="t">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Communication/teamwork, feedback receptivity, reasoning, and independent judgment dominate the developmental profile.</a:t>
            </a:r>
            <a:endParaRPr lang="en-US" sz="1010" dirty="0"/>
          </a:p>
        </p:txBody>
      </p:sp>
      <p:sp>
        <p:nvSpPr>
          <p:cNvPr id="19" name="Shape 17"/>
          <p:cNvSpPr/>
          <p:nvPr/>
        </p:nvSpPr>
        <p:spPr>
          <a:xfrm>
            <a:off x="6172200" y="2944368"/>
            <a:ext cx="5349240" cy="1261872"/>
          </a:xfrm>
          <a:prstGeom prst="roundRect">
            <a:avLst/>
          </a:prstGeom>
          <a:solidFill>
            <a:srgbClr val="EDF7F5"/>
          </a:solidFill>
          <a:ln w="12700">
            <a:solidFill>
              <a:srgbClr val="D7DEE6"/>
            </a:solidFill>
            <a:prstDash val="solid"/>
          </a:ln>
        </p:spPr>
        <p:txBody>
          <a:bodyPr/>
          <a:lstStyle/>
          <a:p>
            <a:endParaRPr lang="en-US"/>
          </a:p>
        </p:txBody>
      </p:sp>
      <p:sp>
        <p:nvSpPr>
          <p:cNvPr id="20" name="Shape 18"/>
          <p:cNvSpPr/>
          <p:nvPr/>
        </p:nvSpPr>
        <p:spPr>
          <a:xfrm>
            <a:off x="6309360" y="3145536"/>
            <a:ext cx="438912" cy="438912"/>
          </a:xfrm>
          <a:prstGeom prst="ellipse">
            <a:avLst/>
          </a:prstGeom>
          <a:solidFill>
            <a:srgbClr val="2B8C87"/>
          </a:solidFill>
          <a:ln w="12700">
            <a:solidFill>
              <a:srgbClr val="2B8C87"/>
            </a:solidFill>
            <a:prstDash val="solid"/>
          </a:ln>
        </p:spPr>
        <p:txBody>
          <a:bodyPr/>
          <a:lstStyle/>
          <a:p>
            <a:endParaRPr lang="en-US"/>
          </a:p>
        </p:txBody>
      </p:sp>
      <p:sp>
        <p:nvSpPr>
          <p:cNvPr id="21" name="Text 19"/>
          <p:cNvSpPr txBox="1"/>
          <p:nvPr/>
        </p:nvSpPr>
        <p:spPr>
          <a:xfrm>
            <a:off x="6309360" y="3145536"/>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2" name="Text 20"/>
          <p:cNvSpPr txBox="1"/>
          <p:nvPr/>
        </p:nvSpPr>
        <p:spPr>
          <a:xfrm>
            <a:off x="6885432" y="3090672"/>
            <a:ext cx="4389120" cy="256032"/>
          </a:xfrm>
          <a:prstGeom prst="rect">
            <a:avLst/>
          </a:prstGeom>
          <a:noFill/>
          <a:ln/>
        </p:spPr>
        <p:txBody>
          <a:bodyPr wrap="square" lIns="0" tIns="0" rIns="0" bIns="0" rtlCol="0" anchor="ctr">
            <a:normAutofit/>
          </a:bodyPr>
          <a:lstStyle/>
          <a:p>
            <a:pPr marL="0" indent="0" algn="l">
              <a:buNone/>
            </a:pPr>
            <a:r>
              <a:rPr lang="en-US" sz="1300" b="1" dirty="0">
                <a:solidFill>
                  <a:srgbClr val="1F2933"/>
                </a:solidFill>
                <a:latin typeface="Aptos" pitchFamily="34" charset="0"/>
                <a:ea typeface="Aptos" pitchFamily="34" charset="-122"/>
                <a:cs typeface="Aptos" pitchFamily="34" charset="-120"/>
              </a:rPr>
              <a:t>Narratives are overwhelmingly positive</a:t>
            </a:r>
            <a:endParaRPr lang="en-US" sz="1300" dirty="0"/>
          </a:p>
        </p:txBody>
      </p:sp>
      <p:sp>
        <p:nvSpPr>
          <p:cNvPr id="23" name="Text 21"/>
          <p:cNvSpPr txBox="1"/>
          <p:nvPr/>
        </p:nvSpPr>
        <p:spPr>
          <a:xfrm>
            <a:off x="6885432" y="3419856"/>
            <a:ext cx="4343400" cy="566928"/>
          </a:xfrm>
          <a:prstGeom prst="rect">
            <a:avLst/>
          </a:prstGeom>
          <a:noFill/>
          <a:ln/>
        </p:spPr>
        <p:txBody>
          <a:bodyPr wrap="square" lIns="0" tIns="0" rIns="0" bIns="0" rtlCol="0" anchor="t">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Positive performance signals dominate, creating a ceiling/imbalance problem and making rare concern cases disproportionately important.</a:t>
            </a:r>
            <a:endParaRPr lang="en-US" sz="1010" dirty="0"/>
          </a:p>
        </p:txBody>
      </p:sp>
      <p:sp>
        <p:nvSpPr>
          <p:cNvPr id="24" name="Shape 22"/>
          <p:cNvSpPr/>
          <p:nvPr/>
        </p:nvSpPr>
        <p:spPr>
          <a:xfrm>
            <a:off x="621792" y="4590288"/>
            <a:ext cx="5349240" cy="1261872"/>
          </a:xfrm>
          <a:prstGeom prst="roundRect">
            <a:avLst/>
          </a:prstGeom>
          <a:solidFill>
            <a:srgbClr val="EDF5FA"/>
          </a:solidFill>
          <a:ln w="12700">
            <a:solidFill>
              <a:srgbClr val="D7DEE6"/>
            </a:solidFill>
            <a:prstDash val="solid"/>
          </a:ln>
        </p:spPr>
        <p:txBody>
          <a:bodyPr/>
          <a:lstStyle/>
          <a:p>
            <a:endParaRPr lang="en-US"/>
          </a:p>
        </p:txBody>
      </p:sp>
      <p:sp>
        <p:nvSpPr>
          <p:cNvPr id="25" name="Shape 23"/>
          <p:cNvSpPr/>
          <p:nvPr/>
        </p:nvSpPr>
        <p:spPr>
          <a:xfrm>
            <a:off x="758952" y="4791456"/>
            <a:ext cx="438912" cy="438912"/>
          </a:xfrm>
          <a:prstGeom prst="ellipse">
            <a:avLst/>
          </a:prstGeom>
          <a:solidFill>
            <a:srgbClr val="2A6F9E"/>
          </a:solidFill>
          <a:ln w="12700">
            <a:solidFill>
              <a:srgbClr val="2A6F9E"/>
            </a:solidFill>
            <a:prstDash val="solid"/>
          </a:ln>
        </p:spPr>
        <p:txBody>
          <a:bodyPr/>
          <a:lstStyle/>
          <a:p>
            <a:endParaRPr lang="en-US"/>
          </a:p>
        </p:txBody>
      </p:sp>
      <p:sp>
        <p:nvSpPr>
          <p:cNvPr id="26" name="Text 24"/>
          <p:cNvSpPr txBox="1"/>
          <p:nvPr/>
        </p:nvSpPr>
        <p:spPr>
          <a:xfrm>
            <a:off x="758952" y="4791456"/>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27" name="Text 25"/>
          <p:cNvSpPr txBox="1"/>
          <p:nvPr/>
        </p:nvSpPr>
        <p:spPr>
          <a:xfrm>
            <a:off x="1335024" y="4736592"/>
            <a:ext cx="4389120" cy="256032"/>
          </a:xfrm>
          <a:prstGeom prst="rect">
            <a:avLst/>
          </a:prstGeom>
          <a:noFill/>
          <a:ln/>
        </p:spPr>
        <p:txBody>
          <a:bodyPr wrap="square" lIns="0" tIns="0" rIns="0" bIns="0" rtlCol="0" anchor="ctr">
            <a:normAutofit/>
          </a:bodyPr>
          <a:lstStyle/>
          <a:p>
            <a:pPr marL="0" indent="0" algn="l">
              <a:buNone/>
            </a:pPr>
            <a:r>
              <a:rPr lang="en-US" sz="1300" b="1" dirty="0">
                <a:solidFill>
                  <a:srgbClr val="1F2933"/>
                </a:solidFill>
                <a:latin typeface="Aptos" pitchFamily="34" charset="0"/>
                <a:ea typeface="Aptos" pitchFamily="34" charset="-122"/>
                <a:cs typeface="Aptos" pitchFamily="34" charset="-120"/>
              </a:rPr>
              <a:t>Lower-score narratives expose friction</a:t>
            </a:r>
            <a:endParaRPr lang="en-US" sz="1300" dirty="0"/>
          </a:p>
        </p:txBody>
      </p:sp>
      <p:sp>
        <p:nvSpPr>
          <p:cNvPr id="28" name="Text 26"/>
          <p:cNvSpPr txBox="1"/>
          <p:nvPr/>
        </p:nvSpPr>
        <p:spPr>
          <a:xfrm>
            <a:off x="1335024" y="5065776"/>
            <a:ext cx="4343400" cy="566928"/>
          </a:xfrm>
          <a:prstGeom prst="rect">
            <a:avLst/>
          </a:prstGeom>
          <a:noFill/>
          <a:ln/>
        </p:spPr>
        <p:txBody>
          <a:bodyPr wrap="square" lIns="0" tIns="0" rIns="0" bIns="0" rtlCol="0" anchor="t">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Workflow barriers, workload, wellbeing strain, assessment context, and other environment factors appear more often in low-score evaluations.</a:t>
            </a:r>
            <a:endParaRPr lang="en-US" sz="1010" dirty="0"/>
          </a:p>
        </p:txBody>
      </p:sp>
      <p:sp>
        <p:nvSpPr>
          <p:cNvPr id="29" name="Shape 27"/>
          <p:cNvSpPr/>
          <p:nvPr/>
        </p:nvSpPr>
        <p:spPr>
          <a:xfrm>
            <a:off x="6172200" y="4590288"/>
            <a:ext cx="5349240" cy="1261872"/>
          </a:xfrm>
          <a:prstGeom prst="roundRect">
            <a:avLst/>
          </a:prstGeom>
          <a:solidFill>
            <a:srgbClr val="EDF7F5"/>
          </a:solidFill>
          <a:ln w="12700">
            <a:solidFill>
              <a:srgbClr val="D7DEE6"/>
            </a:solidFill>
            <a:prstDash val="solid"/>
          </a:ln>
        </p:spPr>
        <p:txBody>
          <a:bodyPr/>
          <a:lstStyle/>
          <a:p>
            <a:endParaRPr lang="en-US"/>
          </a:p>
        </p:txBody>
      </p:sp>
      <p:sp>
        <p:nvSpPr>
          <p:cNvPr id="30" name="Shape 28"/>
          <p:cNvSpPr/>
          <p:nvPr/>
        </p:nvSpPr>
        <p:spPr>
          <a:xfrm>
            <a:off x="6309360" y="4791456"/>
            <a:ext cx="438912" cy="438912"/>
          </a:xfrm>
          <a:prstGeom prst="ellipse">
            <a:avLst/>
          </a:prstGeom>
          <a:solidFill>
            <a:srgbClr val="2B8C87"/>
          </a:solidFill>
          <a:ln w="12700">
            <a:solidFill>
              <a:srgbClr val="2B8C87"/>
            </a:solidFill>
            <a:prstDash val="solid"/>
          </a:ln>
        </p:spPr>
        <p:txBody>
          <a:bodyPr/>
          <a:lstStyle/>
          <a:p>
            <a:endParaRPr lang="en-US"/>
          </a:p>
        </p:txBody>
      </p:sp>
      <p:sp>
        <p:nvSpPr>
          <p:cNvPr id="31" name="Text 29"/>
          <p:cNvSpPr txBox="1"/>
          <p:nvPr/>
        </p:nvSpPr>
        <p:spPr>
          <a:xfrm>
            <a:off x="6309360" y="4791456"/>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32" name="Text 30"/>
          <p:cNvSpPr txBox="1"/>
          <p:nvPr/>
        </p:nvSpPr>
        <p:spPr>
          <a:xfrm>
            <a:off x="6885432" y="4736592"/>
            <a:ext cx="4389120" cy="256032"/>
          </a:xfrm>
          <a:prstGeom prst="rect">
            <a:avLst/>
          </a:prstGeom>
          <a:noFill/>
          <a:ln/>
        </p:spPr>
        <p:txBody>
          <a:bodyPr wrap="square" lIns="0" tIns="0" rIns="0" bIns="0" rtlCol="0" anchor="ctr">
            <a:normAutofit/>
          </a:bodyPr>
          <a:lstStyle/>
          <a:p>
            <a:pPr marL="0" indent="0" algn="l">
              <a:buNone/>
            </a:pPr>
            <a:r>
              <a:rPr lang="en-US" sz="1300" b="1" dirty="0">
                <a:solidFill>
                  <a:srgbClr val="1F2933"/>
                </a:solidFill>
                <a:latin typeface="Aptos" pitchFamily="34" charset="0"/>
                <a:ea typeface="Aptos" pitchFamily="34" charset="-122"/>
                <a:cs typeface="Aptos" pitchFamily="34" charset="-120"/>
              </a:rPr>
              <a:t>The taxonomy looks mature—but needs cleanup</a:t>
            </a:r>
            <a:endParaRPr lang="en-US" sz="1300" dirty="0"/>
          </a:p>
        </p:txBody>
      </p:sp>
      <p:sp>
        <p:nvSpPr>
          <p:cNvPr id="33" name="Text 31"/>
          <p:cNvSpPr txBox="1"/>
          <p:nvPr/>
        </p:nvSpPr>
        <p:spPr>
          <a:xfrm>
            <a:off x="6885432" y="5065776"/>
            <a:ext cx="4343400" cy="566928"/>
          </a:xfrm>
          <a:prstGeom prst="rect">
            <a:avLst/>
          </a:prstGeom>
          <a:noFill/>
          <a:ln/>
        </p:spPr>
        <p:txBody>
          <a:bodyPr wrap="square" lIns="0" tIns="0" rIns="0" bIns="0" rtlCol="0" anchor="t">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Only 0.43% of coded rows were flagged as taxonomy gaps, but NaN/duplicate gap labels and zero-confidence rows require audit.</a:t>
            </a:r>
            <a:endParaRPr lang="en-US" sz="1010" dirty="0"/>
          </a:p>
        </p:txBody>
      </p:sp>
      <p:sp>
        <p:nvSpPr>
          <p:cNvPr id="34"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Where the data came from</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Source system, eligibility rules, deterministic sampling, and study scale</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The analysis used a reproducible 100,000-row sample from 189,689 eligible deduplicated narrative responses, linked back to 1,888 evaluation events.</a:t>
            </a:r>
            <a:endParaRPr lang="en-US" sz="1110" dirty="0"/>
          </a:p>
        </p:txBody>
      </p:sp>
      <p:sp>
        <p:nvSpPr>
          <p:cNvPr id="7" name="Shape 5"/>
          <p:cNvSpPr/>
          <p:nvPr/>
        </p:nvSpPr>
        <p:spPr>
          <a:xfrm>
            <a:off x="685800" y="1874520"/>
            <a:ext cx="2011680" cy="1143000"/>
          </a:xfrm>
          <a:prstGeom prst="roundRect">
            <a:avLst/>
          </a:prstGeom>
          <a:solidFill>
            <a:srgbClr val="EDF5FA"/>
          </a:solidFill>
          <a:ln w="12700">
            <a:solidFill>
              <a:srgbClr val="D7DEE6"/>
            </a:solidFill>
            <a:prstDash val="solid"/>
          </a:ln>
        </p:spPr>
        <p:txBody>
          <a:bodyPr/>
          <a:lstStyle/>
          <a:p>
            <a:endParaRPr lang="en-US"/>
          </a:p>
        </p:txBody>
      </p:sp>
      <p:sp>
        <p:nvSpPr>
          <p:cNvPr id="8" name="Text 6"/>
          <p:cNvSpPr txBox="1"/>
          <p:nvPr/>
        </p:nvSpPr>
        <p:spPr>
          <a:xfrm>
            <a:off x="795528" y="1965960"/>
            <a:ext cx="1792224" cy="201168"/>
          </a:xfrm>
          <a:prstGeom prst="rect">
            <a:avLst/>
          </a:prstGeom>
          <a:noFill/>
          <a:ln/>
        </p:spPr>
        <p:txBody>
          <a:bodyPr wrap="square" lIns="0" tIns="0" rIns="0" bIns="0" rtlCol="0" anchor="ctr">
            <a:normAutofit/>
          </a:bodyPr>
          <a:lstStyle/>
          <a:p>
            <a:pPr marL="0" indent="0" algn="ctr">
              <a:buNone/>
            </a:pPr>
            <a:r>
              <a:rPr lang="en-US" sz="880" b="1" dirty="0">
                <a:solidFill>
                  <a:srgbClr val="163A5F"/>
                </a:solidFill>
                <a:latin typeface="Aptos" pitchFamily="34" charset="0"/>
                <a:ea typeface="Aptos" pitchFamily="34" charset="-122"/>
                <a:cs typeface="Aptos" pitchFamily="34" charset="-120"/>
              </a:rPr>
              <a:t>SOURCE TABLE</a:t>
            </a:r>
            <a:endParaRPr lang="en-US" sz="880" dirty="0"/>
          </a:p>
        </p:txBody>
      </p:sp>
      <p:sp>
        <p:nvSpPr>
          <p:cNvPr id="9" name="Text 7"/>
          <p:cNvSpPr txBox="1"/>
          <p:nvPr/>
        </p:nvSpPr>
        <p:spPr>
          <a:xfrm>
            <a:off x="813816" y="2221992"/>
            <a:ext cx="1755648" cy="704088"/>
          </a:xfrm>
          <a:prstGeom prst="rect">
            <a:avLst/>
          </a:prstGeom>
          <a:noFill/>
          <a:ln/>
        </p:spPr>
        <p:txBody>
          <a:bodyPr wrap="square" lIns="0" tIns="0" rIns="0" bIns="0" rtlCol="0" anchor="ctr">
            <a:normAutofit/>
          </a:bodyPr>
          <a:lstStyle/>
          <a:p>
            <a:pPr marL="0" indent="0" algn="ctr">
              <a:buNone/>
            </a:pPr>
            <a:r>
              <a:rPr lang="en-US" sz="930" dirty="0">
                <a:solidFill>
                  <a:srgbClr val="1F2933"/>
                </a:solidFill>
                <a:latin typeface="Aptos" pitchFamily="34" charset="0"/>
                <a:ea typeface="Aptos" pitchFamily="34" charset="-122"/>
                <a:cs typeface="Aptos" pitchFamily="34" charset="-120"/>
              </a:rPr>
              <a:t>INSTITUTES_GOLD_EDU_PRD</a:t>
            </a:r>
            <a:endParaRPr lang="en-US" sz="930" dirty="0"/>
          </a:p>
          <a:p>
            <a:pPr marL="0" indent="0" algn="ctr">
              <a:buNone/>
            </a:pPr>
            <a:r>
              <a:rPr lang="en-US" sz="930" dirty="0">
                <a:solidFill>
                  <a:srgbClr val="1F2933"/>
                </a:solidFill>
                <a:latin typeface="Aptos" pitchFamily="34" charset="0"/>
                <a:ea typeface="Aptos" pitchFamily="34" charset="-122"/>
                <a:cs typeface="Aptos" pitchFamily="34" charset="-120"/>
              </a:rPr>
              <a:t>.GMET_RESEARCH</a:t>
            </a:r>
            <a:endParaRPr lang="en-US" sz="930" dirty="0"/>
          </a:p>
          <a:p>
            <a:pPr marL="0" indent="0" algn="ctr">
              <a:buNone/>
            </a:pPr>
            <a:r>
              <a:rPr lang="en-US" sz="930" dirty="0">
                <a:solidFill>
                  <a:srgbClr val="1F2933"/>
                </a:solidFill>
                <a:latin typeface="Aptos" pitchFamily="34" charset="0"/>
                <a:ea typeface="Aptos" pitchFamily="34" charset="-122"/>
                <a:cs typeface="Aptos" pitchFamily="34" charset="-120"/>
              </a:rPr>
              <a:t>.GME_EVALS_RESEARCH</a:t>
            </a:r>
            <a:endParaRPr lang="en-US" sz="930" dirty="0"/>
          </a:p>
        </p:txBody>
      </p:sp>
      <p:sp>
        <p:nvSpPr>
          <p:cNvPr id="10" name="Shape 8"/>
          <p:cNvSpPr/>
          <p:nvPr/>
        </p:nvSpPr>
        <p:spPr>
          <a:xfrm>
            <a:off x="2752344" y="2276856"/>
            <a:ext cx="237744" cy="329184"/>
          </a:xfrm>
          <a:prstGeom prst="chevron">
            <a:avLst/>
          </a:prstGeom>
          <a:solidFill>
            <a:srgbClr val="A8B5C1"/>
          </a:solidFill>
          <a:ln w="12700">
            <a:solidFill>
              <a:srgbClr val="A8B5C1"/>
            </a:solidFill>
            <a:prstDash val="solid"/>
          </a:ln>
        </p:spPr>
        <p:txBody>
          <a:bodyPr/>
          <a:lstStyle/>
          <a:p>
            <a:endParaRPr lang="en-US"/>
          </a:p>
        </p:txBody>
      </p:sp>
      <p:sp>
        <p:nvSpPr>
          <p:cNvPr id="11" name="Shape 9"/>
          <p:cNvSpPr/>
          <p:nvPr/>
        </p:nvSpPr>
        <p:spPr>
          <a:xfrm>
            <a:off x="3081528" y="1874520"/>
            <a:ext cx="2011680" cy="1143000"/>
          </a:xfrm>
          <a:prstGeom prst="roundRect">
            <a:avLst/>
          </a:prstGeom>
          <a:solidFill>
            <a:srgbClr val="EDF5FA"/>
          </a:solidFill>
          <a:ln w="12700">
            <a:solidFill>
              <a:srgbClr val="D7DEE6"/>
            </a:solidFill>
            <a:prstDash val="solid"/>
          </a:ln>
        </p:spPr>
        <p:txBody>
          <a:bodyPr/>
          <a:lstStyle/>
          <a:p>
            <a:endParaRPr lang="en-US"/>
          </a:p>
        </p:txBody>
      </p:sp>
      <p:sp>
        <p:nvSpPr>
          <p:cNvPr id="12" name="Text 10"/>
          <p:cNvSpPr txBox="1"/>
          <p:nvPr/>
        </p:nvSpPr>
        <p:spPr>
          <a:xfrm>
            <a:off x="3191256" y="1965960"/>
            <a:ext cx="1792224" cy="201168"/>
          </a:xfrm>
          <a:prstGeom prst="rect">
            <a:avLst/>
          </a:prstGeom>
          <a:noFill/>
          <a:ln/>
        </p:spPr>
        <p:txBody>
          <a:bodyPr wrap="square" lIns="0" tIns="0" rIns="0" bIns="0" rtlCol="0" anchor="ctr">
            <a:normAutofit/>
          </a:bodyPr>
          <a:lstStyle/>
          <a:p>
            <a:pPr marL="0" indent="0" algn="ctr">
              <a:buNone/>
            </a:pPr>
            <a:r>
              <a:rPr lang="en-US" sz="880" b="1" dirty="0">
                <a:solidFill>
                  <a:srgbClr val="2A6F9E"/>
                </a:solidFill>
                <a:latin typeface="Aptos" pitchFamily="34" charset="0"/>
                <a:ea typeface="Aptos" pitchFamily="34" charset="-122"/>
                <a:cs typeface="Aptos" pitchFamily="34" charset="-120"/>
              </a:rPr>
              <a:t>ELIGIBILITY</a:t>
            </a:r>
            <a:endParaRPr lang="en-US" sz="880" dirty="0"/>
          </a:p>
        </p:txBody>
      </p:sp>
      <p:sp>
        <p:nvSpPr>
          <p:cNvPr id="13" name="Text 11"/>
          <p:cNvSpPr txBox="1"/>
          <p:nvPr/>
        </p:nvSpPr>
        <p:spPr>
          <a:xfrm>
            <a:off x="3209544" y="2221992"/>
            <a:ext cx="1755648" cy="704088"/>
          </a:xfrm>
          <a:prstGeom prst="rect">
            <a:avLst/>
          </a:prstGeom>
          <a:noFill/>
          <a:ln/>
        </p:spPr>
        <p:txBody>
          <a:bodyPr wrap="square" lIns="0" tIns="0" rIns="0" bIns="0" rtlCol="0" anchor="ctr">
            <a:normAutofit/>
          </a:bodyPr>
          <a:lstStyle/>
          <a:p>
            <a:pPr marL="0" indent="0" algn="ctr">
              <a:buNone/>
            </a:pPr>
            <a:r>
              <a:rPr lang="en-US" sz="930" dirty="0">
                <a:solidFill>
                  <a:srgbClr val="1F2933"/>
                </a:solidFill>
                <a:latin typeface="Aptos" pitchFamily="34" charset="0"/>
                <a:ea typeface="Aptos" pitchFamily="34" charset="-122"/>
                <a:cs typeface="Aptos" pitchFamily="34" charset="-120"/>
              </a:rPr>
              <a:t>Non-null event ID</a:t>
            </a:r>
            <a:endParaRPr lang="en-US" sz="930" dirty="0"/>
          </a:p>
          <a:p>
            <a:pPr marL="0" indent="0" algn="ctr">
              <a:buNone/>
            </a:pPr>
            <a:r>
              <a:rPr lang="en-US" sz="930" dirty="0">
                <a:solidFill>
                  <a:srgbClr val="1F2933"/>
                </a:solidFill>
                <a:latin typeface="Aptos" pitchFamily="34" charset="0"/>
                <a:ea typeface="Aptos" pitchFamily="34" charset="-122"/>
                <a:cs typeface="Aptos" pitchFamily="34" charset="-120"/>
              </a:rPr>
              <a:t>Question present</a:t>
            </a:r>
            <a:endParaRPr lang="en-US" sz="930" dirty="0"/>
          </a:p>
          <a:p>
            <a:pPr marL="0" indent="0" algn="ctr">
              <a:buNone/>
            </a:pPr>
            <a:r>
              <a:rPr lang="en-US" sz="930" dirty="0">
                <a:solidFill>
                  <a:srgbClr val="1F2933"/>
                </a:solidFill>
                <a:latin typeface="Aptos" pitchFamily="34" charset="0"/>
                <a:ea typeface="Aptos" pitchFamily="34" charset="-122"/>
                <a:cs typeface="Aptos" pitchFamily="34" charset="-120"/>
              </a:rPr>
              <a:t>Text ≥ 20 characters</a:t>
            </a:r>
            <a:endParaRPr lang="en-US" sz="930" dirty="0"/>
          </a:p>
          <a:p>
            <a:pPr marL="0" indent="0" algn="ctr">
              <a:buNone/>
            </a:pPr>
            <a:r>
              <a:rPr lang="en-US" sz="930" dirty="0">
                <a:solidFill>
                  <a:srgbClr val="1F2933"/>
                </a:solidFill>
                <a:latin typeface="Aptos" pitchFamily="34" charset="0"/>
                <a:ea typeface="Aptos" pitchFamily="34" charset="-122"/>
                <a:cs typeface="Aptos" pitchFamily="34" charset="-120"/>
              </a:rPr>
              <a:t>Trivial/placeholder text removed</a:t>
            </a:r>
            <a:endParaRPr lang="en-US" sz="930" dirty="0"/>
          </a:p>
        </p:txBody>
      </p:sp>
      <p:sp>
        <p:nvSpPr>
          <p:cNvPr id="14" name="Shape 12"/>
          <p:cNvSpPr/>
          <p:nvPr/>
        </p:nvSpPr>
        <p:spPr>
          <a:xfrm>
            <a:off x="5148072" y="2276856"/>
            <a:ext cx="237744" cy="329184"/>
          </a:xfrm>
          <a:prstGeom prst="chevron">
            <a:avLst/>
          </a:prstGeom>
          <a:solidFill>
            <a:srgbClr val="A8B5C1"/>
          </a:solidFill>
          <a:ln w="12700">
            <a:solidFill>
              <a:srgbClr val="A8B5C1"/>
            </a:solidFill>
            <a:prstDash val="solid"/>
          </a:ln>
        </p:spPr>
        <p:txBody>
          <a:bodyPr/>
          <a:lstStyle/>
          <a:p>
            <a:endParaRPr lang="en-US"/>
          </a:p>
        </p:txBody>
      </p:sp>
      <p:sp>
        <p:nvSpPr>
          <p:cNvPr id="15" name="Shape 13"/>
          <p:cNvSpPr/>
          <p:nvPr/>
        </p:nvSpPr>
        <p:spPr>
          <a:xfrm>
            <a:off x="5477256" y="1874520"/>
            <a:ext cx="2011680" cy="1143000"/>
          </a:xfrm>
          <a:prstGeom prst="roundRect">
            <a:avLst/>
          </a:prstGeom>
          <a:solidFill>
            <a:srgbClr val="EDF7F5"/>
          </a:solidFill>
          <a:ln w="12700">
            <a:solidFill>
              <a:srgbClr val="D7DEE6"/>
            </a:solidFill>
            <a:prstDash val="solid"/>
          </a:ln>
        </p:spPr>
        <p:txBody>
          <a:bodyPr/>
          <a:lstStyle/>
          <a:p>
            <a:endParaRPr lang="en-US"/>
          </a:p>
        </p:txBody>
      </p:sp>
      <p:sp>
        <p:nvSpPr>
          <p:cNvPr id="16" name="Text 14"/>
          <p:cNvSpPr txBox="1"/>
          <p:nvPr/>
        </p:nvSpPr>
        <p:spPr>
          <a:xfrm>
            <a:off x="5586984" y="1965960"/>
            <a:ext cx="1792224" cy="201168"/>
          </a:xfrm>
          <a:prstGeom prst="rect">
            <a:avLst/>
          </a:prstGeom>
          <a:noFill/>
          <a:ln/>
        </p:spPr>
        <p:txBody>
          <a:bodyPr wrap="square" lIns="0" tIns="0" rIns="0" bIns="0" rtlCol="0" anchor="ctr">
            <a:normAutofit/>
          </a:bodyPr>
          <a:lstStyle/>
          <a:p>
            <a:pPr marL="0" indent="0" algn="ctr">
              <a:buNone/>
            </a:pPr>
            <a:r>
              <a:rPr lang="en-US" sz="880" b="1" dirty="0">
                <a:solidFill>
                  <a:srgbClr val="2B8C87"/>
                </a:solidFill>
                <a:latin typeface="Aptos" pitchFamily="34" charset="0"/>
                <a:ea typeface="Aptos" pitchFamily="34" charset="-122"/>
                <a:cs typeface="Aptos" pitchFamily="34" charset="-120"/>
              </a:rPr>
              <a:t>DEDUPLICATION</a:t>
            </a:r>
            <a:endParaRPr lang="en-US" sz="880" dirty="0"/>
          </a:p>
        </p:txBody>
      </p:sp>
      <p:sp>
        <p:nvSpPr>
          <p:cNvPr id="17" name="Text 15"/>
          <p:cNvSpPr txBox="1"/>
          <p:nvPr/>
        </p:nvSpPr>
        <p:spPr>
          <a:xfrm>
            <a:off x="5605272" y="2221992"/>
            <a:ext cx="1755648" cy="704088"/>
          </a:xfrm>
          <a:prstGeom prst="rect">
            <a:avLst/>
          </a:prstGeom>
          <a:noFill/>
          <a:ln/>
        </p:spPr>
        <p:txBody>
          <a:bodyPr wrap="square" lIns="0" tIns="0" rIns="0" bIns="0" rtlCol="0" anchor="ctr">
            <a:normAutofit/>
          </a:bodyPr>
          <a:lstStyle/>
          <a:p>
            <a:pPr marL="0" indent="0" algn="ctr">
              <a:buNone/>
            </a:pPr>
            <a:r>
              <a:rPr lang="en-US" sz="930" dirty="0">
                <a:solidFill>
                  <a:srgbClr val="1F2933"/>
                </a:solidFill>
                <a:latin typeface="Aptos" pitchFamily="34" charset="0"/>
                <a:ea typeface="Aptos" pitchFamily="34" charset="-122"/>
                <a:cs typeface="Aptos" pitchFamily="34" charset="-120"/>
              </a:rPr>
              <a:t>Deduplicate by event + item + question + response</a:t>
            </a:r>
            <a:endParaRPr lang="en-US" sz="930" dirty="0"/>
          </a:p>
          <a:p>
            <a:pPr marL="0" indent="0" algn="ctr">
              <a:buNone/>
            </a:pPr>
            <a:r>
              <a:rPr lang="en-US" sz="930" dirty="0">
                <a:solidFill>
                  <a:srgbClr val="1F2933"/>
                </a:solidFill>
                <a:latin typeface="Aptos" pitchFamily="34" charset="0"/>
                <a:ea typeface="Aptos" pitchFamily="34" charset="-122"/>
                <a:cs typeface="Aptos" pitchFamily="34" charset="-120"/>
              </a:rPr>
              <a:t>Keep most recent record</a:t>
            </a:r>
            <a:endParaRPr lang="en-US" sz="930" dirty="0"/>
          </a:p>
        </p:txBody>
      </p:sp>
      <p:sp>
        <p:nvSpPr>
          <p:cNvPr id="18" name="Shape 16"/>
          <p:cNvSpPr/>
          <p:nvPr/>
        </p:nvSpPr>
        <p:spPr>
          <a:xfrm>
            <a:off x="7543800" y="2276856"/>
            <a:ext cx="237744" cy="329184"/>
          </a:xfrm>
          <a:prstGeom prst="chevron">
            <a:avLst/>
          </a:prstGeom>
          <a:solidFill>
            <a:srgbClr val="A8B5C1"/>
          </a:solidFill>
          <a:ln w="12700">
            <a:solidFill>
              <a:srgbClr val="A8B5C1"/>
            </a:solidFill>
            <a:prstDash val="solid"/>
          </a:ln>
        </p:spPr>
        <p:txBody>
          <a:bodyPr/>
          <a:lstStyle/>
          <a:p>
            <a:endParaRPr lang="en-US"/>
          </a:p>
        </p:txBody>
      </p:sp>
      <p:sp>
        <p:nvSpPr>
          <p:cNvPr id="19" name="Shape 17"/>
          <p:cNvSpPr/>
          <p:nvPr/>
        </p:nvSpPr>
        <p:spPr>
          <a:xfrm>
            <a:off x="7872984" y="1874520"/>
            <a:ext cx="2011680" cy="1143000"/>
          </a:xfrm>
          <a:prstGeom prst="roundRect">
            <a:avLst/>
          </a:prstGeom>
          <a:solidFill>
            <a:srgbClr val="FBF5E9"/>
          </a:solidFill>
          <a:ln w="12700">
            <a:solidFill>
              <a:srgbClr val="D7DEE6"/>
            </a:solidFill>
            <a:prstDash val="solid"/>
          </a:ln>
        </p:spPr>
        <p:txBody>
          <a:bodyPr/>
          <a:lstStyle/>
          <a:p>
            <a:endParaRPr lang="en-US"/>
          </a:p>
        </p:txBody>
      </p:sp>
      <p:sp>
        <p:nvSpPr>
          <p:cNvPr id="20" name="Text 18"/>
          <p:cNvSpPr txBox="1"/>
          <p:nvPr/>
        </p:nvSpPr>
        <p:spPr>
          <a:xfrm>
            <a:off x="7982712" y="1965960"/>
            <a:ext cx="1792224" cy="201168"/>
          </a:xfrm>
          <a:prstGeom prst="rect">
            <a:avLst/>
          </a:prstGeom>
          <a:noFill/>
          <a:ln/>
        </p:spPr>
        <p:txBody>
          <a:bodyPr wrap="square" lIns="0" tIns="0" rIns="0" bIns="0" rtlCol="0" anchor="ctr">
            <a:normAutofit/>
          </a:bodyPr>
          <a:lstStyle/>
          <a:p>
            <a:pPr marL="0" indent="0" algn="ctr">
              <a:buNone/>
            </a:pPr>
            <a:r>
              <a:rPr lang="en-US" sz="880" b="1" dirty="0">
                <a:solidFill>
                  <a:srgbClr val="D49A35"/>
                </a:solidFill>
                <a:latin typeface="Aptos" pitchFamily="34" charset="0"/>
                <a:ea typeface="Aptos" pitchFamily="34" charset="-122"/>
                <a:cs typeface="Aptos" pitchFamily="34" charset="-120"/>
              </a:rPr>
              <a:t>DETERMINISTIC SAMPLE</a:t>
            </a:r>
            <a:endParaRPr lang="en-US" sz="880" dirty="0"/>
          </a:p>
        </p:txBody>
      </p:sp>
      <p:sp>
        <p:nvSpPr>
          <p:cNvPr id="21" name="Text 19"/>
          <p:cNvSpPr txBox="1"/>
          <p:nvPr/>
        </p:nvSpPr>
        <p:spPr>
          <a:xfrm>
            <a:off x="8001000" y="2221992"/>
            <a:ext cx="1755648" cy="704088"/>
          </a:xfrm>
          <a:prstGeom prst="rect">
            <a:avLst/>
          </a:prstGeom>
          <a:noFill/>
          <a:ln/>
        </p:spPr>
        <p:txBody>
          <a:bodyPr wrap="square" lIns="0" tIns="0" rIns="0" bIns="0" rtlCol="0" anchor="ctr">
            <a:normAutofit/>
          </a:bodyPr>
          <a:lstStyle/>
          <a:p>
            <a:pPr marL="0" indent="0" algn="ctr">
              <a:buNone/>
            </a:pPr>
            <a:r>
              <a:rPr lang="en-US" sz="930" dirty="0">
                <a:solidFill>
                  <a:srgbClr val="1F2933"/>
                </a:solidFill>
                <a:latin typeface="Aptos" pitchFamily="34" charset="0"/>
                <a:ea typeface="Aptos" pitchFamily="34" charset="-122"/>
                <a:cs typeface="Aptos" pitchFamily="34" charset="-120"/>
              </a:rPr>
              <a:t>Hash-based sample seed</a:t>
            </a:r>
            <a:endParaRPr lang="en-US" sz="930" dirty="0"/>
          </a:p>
          <a:p>
            <a:pPr marL="0" indent="0" algn="ctr">
              <a:buNone/>
            </a:pPr>
            <a:r>
              <a:rPr lang="en-US" sz="930" dirty="0">
                <a:solidFill>
                  <a:srgbClr val="1F2933"/>
                </a:solidFill>
                <a:latin typeface="Aptos" pitchFamily="34" charset="0"/>
                <a:ea typeface="Aptos" pitchFamily="34" charset="-122"/>
                <a:cs typeface="Aptos" pitchFamily="34" charset="-120"/>
              </a:rPr>
              <a:t>GMETS_100K_NARRATIVE_ROWS_V1</a:t>
            </a:r>
            <a:endParaRPr lang="en-US" sz="930" dirty="0"/>
          </a:p>
          <a:p>
            <a:pPr marL="0" indent="0" algn="ctr">
              <a:buNone/>
            </a:pPr>
            <a:r>
              <a:rPr lang="en-US" sz="930" dirty="0">
                <a:solidFill>
                  <a:srgbClr val="1F2933"/>
                </a:solidFill>
                <a:latin typeface="Aptos" pitchFamily="34" charset="0"/>
                <a:ea typeface="Aptos" pitchFamily="34" charset="-122"/>
                <a:cs typeface="Aptos" pitchFamily="34" charset="-120"/>
              </a:rPr>
              <a:t>100,000 rows selected</a:t>
            </a:r>
            <a:endParaRPr lang="en-US" sz="930" dirty="0"/>
          </a:p>
        </p:txBody>
      </p:sp>
      <p:sp>
        <p:nvSpPr>
          <p:cNvPr id="22" name="Shape 20"/>
          <p:cNvSpPr/>
          <p:nvPr/>
        </p:nvSpPr>
        <p:spPr>
          <a:xfrm>
            <a:off x="9939528" y="2276856"/>
            <a:ext cx="237744" cy="329184"/>
          </a:xfrm>
          <a:prstGeom prst="chevron">
            <a:avLst/>
          </a:prstGeom>
          <a:solidFill>
            <a:srgbClr val="A8B5C1"/>
          </a:solidFill>
          <a:ln w="12700">
            <a:solidFill>
              <a:srgbClr val="A8B5C1"/>
            </a:solidFill>
            <a:prstDash val="solid"/>
          </a:ln>
        </p:spPr>
        <p:txBody>
          <a:bodyPr/>
          <a:lstStyle/>
          <a:p>
            <a:endParaRPr lang="en-US"/>
          </a:p>
        </p:txBody>
      </p:sp>
      <p:sp>
        <p:nvSpPr>
          <p:cNvPr id="23" name="Shape 21"/>
          <p:cNvSpPr/>
          <p:nvPr/>
        </p:nvSpPr>
        <p:spPr>
          <a:xfrm>
            <a:off x="10158984" y="1865376"/>
            <a:ext cx="2011680" cy="1143000"/>
          </a:xfrm>
          <a:prstGeom prst="roundRect">
            <a:avLst/>
          </a:prstGeom>
          <a:solidFill>
            <a:srgbClr val="F9EFEF"/>
          </a:solidFill>
          <a:ln w="12700">
            <a:solidFill>
              <a:srgbClr val="D7DEE6"/>
            </a:solidFill>
            <a:prstDash val="solid"/>
          </a:ln>
        </p:spPr>
        <p:txBody>
          <a:bodyPr/>
          <a:lstStyle/>
          <a:p>
            <a:endParaRPr lang="en-US"/>
          </a:p>
        </p:txBody>
      </p:sp>
      <p:sp>
        <p:nvSpPr>
          <p:cNvPr id="24" name="Text 22"/>
          <p:cNvSpPr txBox="1"/>
          <p:nvPr/>
        </p:nvSpPr>
        <p:spPr>
          <a:xfrm>
            <a:off x="10378440" y="1965960"/>
            <a:ext cx="1792224" cy="201168"/>
          </a:xfrm>
          <a:prstGeom prst="rect">
            <a:avLst/>
          </a:prstGeom>
          <a:noFill/>
          <a:ln/>
        </p:spPr>
        <p:txBody>
          <a:bodyPr wrap="square" lIns="0" tIns="0" rIns="0" bIns="0" rtlCol="0" anchor="ctr">
            <a:normAutofit/>
          </a:bodyPr>
          <a:lstStyle/>
          <a:p>
            <a:pPr marL="0" indent="0" algn="ctr">
              <a:buNone/>
            </a:pPr>
            <a:r>
              <a:rPr lang="en-US" sz="880" b="1" dirty="0">
                <a:solidFill>
                  <a:srgbClr val="B64A4A"/>
                </a:solidFill>
                <a:latin typeface="Aptos" pitchFamily="34" charset="0"/>
                <a:ea typeface="Aptos" pitchFamily="34" charset="-122"/>
                <a:cs typeface="Aptos" pitchFamily="34" charset="-120"/>
              </a:rPr>
              <a:t>LINKED EVENT DATA</a:t>
            </a:r>
            <a:endParaRPr lang="en-US" sz="880" dirty="0"/>
          </a:p>
        </p:txBody>
      </p:sp>
      <p:sp>
        <p:nvSpPr>
          <p:cNvPr id="25" name="Text 23"/>
          <p:cNvSpPr txBox="1"/>
          <p:nvPr/>
        </p:nvSpPr>
        <p:spPr>
          <a:xfrm>
            <a:off x="10396728" y="2221992"/>
            <a:ext cx="1755648" cy="704088"/>
          </a:xfrm>
          <a:prstGeom prst="rect">
            <a:avLst/>
          </a:prstGeom>
          <a:noFill/>
          <a:ln/>
        </p:spPr>
        <p:txBody>
          <a:bodyPr wrap="square" lIns="0" tIns="0" rIns="0" bIns="0" rtlCol="0" anchor="ctr">
            <a:normAutofit/>
          </a:bodyPr>
          <a:lstStyle/>
          <a:p>
            <a:pPr marL="0" indent="0" algn="ctr">
              <a:buNone/>
            </a:pPr>
            <a:r>
              <a:rPr lang="en-US" sz="930" dirty="0">
                <a:solidFill>
                  <a:srgbClr val="1F2933"/>
                </a:solidFill>
                <a:latin typeface="Aptos" pitchFamily="34" charset="0"/>
                <a:ea typeface="Aptos" pitchFamily="34" charset="-122"/>
                <a:cs typeface="Aptos" pitchFamily="34" charset="-120"/>
              </a:rPr>
              <a:t>Structured score + date/year + trainee/evaluator + program + evaluation type</a:t>
            </a:r>
            <a:endParaRPr lang="en-US" sz="930" dirty="0"/>
          </a:p>
        </p:txBody>
      </p:sp>
      <p:sp>
        <p:nvSpPr>
          <p:cNvPr id="26" name="Shape 24"/>
          <p:cNvSpPr/>
          <p:nvPr/>
        </p:nvSpPr>
        <p:spPr>
          <a:xfrm>
            <a:off x="822960" y="3858768"/>
            <a:ext cx="3383280" cy="713232"/>
          </a:xfrm>
          <a:prstGeom prst="roundRect">
            <a:avLst/>
          </a:prstGeom>
          <a:solidFill>
            <a:srgbClr val="F4F7F9"/>
          </a:solidFill>
          <a:ln w="12700">
            <a:solidFill>
              <a:srgbClr val="D7DEE6"/>
            </a:solidFill>
            <a:prstDash val="solid"/>
          </a:ln>
        </p:spPr>
        <p:txBody>
          <a:bodyPr/>
          <a:lstStyle/>
          <a:p>
            <a:endParaRPr lang="en-US"/>
          </a:p>
        </p:txBody>
      </p:sp>
      <p:sp>
        <p:nvSpPr>
          <p:cNvPr id="27" name="Text 25"/>
          <p:cNvSpPr txBox="1"/>
          <p:nvPr/>
        </p:nvSpPr>
        <p:spPr>
          <a:xfrm>
            <a:off x="969264" y="3968496"/>
            <a:ext cx="868680" cy="256032"/>
          </a:xfrm>
          <a:prstGeom prst="rect">
            <a:avLst/>
          </a:prstGeom>
          <a:noFill/>
          <a:ln/>
        </p:spPr>
        <p:txBody>
          <a:bodyPr wrap="square" lIns="0" tIns="0" rIns="0" bIns="0" rtlCol="0" anchor="ctr">
            <a:normAutofit/>
          </a:bodyPr>
          <a:lstStyle/>
          <a:p>
            <a:pPr marL="0" indent="0" algn="l">
              <a:buNone/>
            </a:pPr>
            <a:r>
              <a:rPr lang="en-US" sz="1700" b="1" dirty="0">
                <a:solidFill>
                  <a:srgbClr val="163A5F"/>
                </a:solidFill>
                <a:latin typeface="Aptos" pitchFamily="34" charset="0"/>
                <a:ea typeface="Aptos" pitchFamily="34" charset="-122"/>
                <a:cs typeface="Aptos" pitchFamily="34" charset="-120"/>
              </a:rPr>
              <a:t>189,689</a:t>
            </a:r>
            <a:endParaRPr lang="en-US" sz="1700" dirty="0"/>
          </a:p>
        </p:txBody>
      </p:sp>
      <p:sp>
        <p:nvSpPr>
          <p:cNvPr id="28" name="Text 26"/>
          <p:cNvSpPr txBox="1"/>
          <p:nvPr/>
        </p:nvSpPr>
        <p:spPr>
          <a:xfrm>
            <a:off x="1810512" y="3959352"/>
            <a:ext cx="2240280" cy="384048"/>
          </a:xfrm>
          <a:prstGeom prst="rect">
            <a:avLst/>
          </a:prstGeom>
          <a:noFill/>
          <a:ln/>
        </p:spPr>
        <p:txBody>
          <a:bodyPr wrap="square" lIns="0" tIns="0" rIns="0" bIns="0" rtlCol="0" anchor="ctr">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eligible deduplicated narratives</a:t>
            </a:r>
            <a:endParaRPr lang="en-US" sz="1010" dirty="0"/>
          </a:p>
        </p:txBody>
      </p:sp>
      <p:sp>
        <p:nvSpPr>
          <p:cNvPr id="29" name="Shape 27"/>
          <p:cNvSpPr/>
          <p:nvPr/>
        </p:nvSpPr>
        <p:spPr>
          <a:xfrm>
            <a:off x="4572000" y="3858768"/>
            <a:ext cx="3383280" cy="713232"/>
          </a:xfrm>
          <a:prstGeom prst="roundRect">
            <a:avLst/>
          </a:prstGeom>
          <a:solidFill>
            <a:srgbClr val="EDF7F5"/>
          </a:solidFill>
          <a:ln w="12700">
            <a:solidFill>
              <a:srgbClr val="D7DEE6"/>
            </a:solidFill>
            <a:prstDash val="solid"/>
          </a:ln>
        </p:spPr>
        <p:txBody>
          <a:bodyPr/>
          <a:lstStyle/>
          <a:p>
            <a:endParaRPr lang="en-US"/>
          </a:p>
        </p:txBody>
      </p:sp>
      <p:sp>
        <p:nvSpPr>
          <p:cNvPr id="30" name="Text 28"/>
          <p:cNvSpPr txBox="1"/>
          <p:nvPr/>
        </p:nvSpPr>
        <p:spPr>
          <a:xfrm>
            <a:off x="4718304" y="3968496"/>
            <a:ext cx="868680" cy="256032"/>
          </a:xfrm>
          <a:prstGeom prst="rect">
            <a:avLst/>
          </a:prstGeom>
          <a:noFill/>
          <a:ln/>
        </p:spPr>
        <p:txBody>
          <a:bodyPr wrap="square" lIns="0" tIns="0" rIns="0" bIns="0" rtlCol="0" anchor="ctr">
            <a:normAutofit/>
          </a:bodyPr>
          <a:lstStyle/>
          <a:p>
            <a:pPr marL="0" indent="0" algn="l">
              <a:buNone/>
            </a:pPr>
            <a:r>
              <a:rPr lang="en-US" sz="1700" b="1" dirty="0">
                <a:solidFill>
                  <a:srgbClr val="2B8C87"/>
                </a:solidFill>
                <a:latin typeface="Aptos" pitchFamily="34" charset="0"/>
                <a:ea typeface="Aptos" pitchFamily="34" charset="-122"/>
                <a:cs typeface="Aptos" pitchFamily="34" charset="-120"/>
              </a:rPr>
              <a:t>100,000</a:t>
            </a:r>
            <a:endParaRPr lang="en-US" sz="1700" dirty="0"/>
          </a:p>
        </p:txBody>
      </p:sp>
      <p:sp>
        <p:nvSpPr>
          <p:cNvPr id="31" name="Text 29"/>
          <p:cNvSpPr txBox="1"/>
          <p:nvPr/>
        </p:nvSpPr>
        <p:spPr>
          <a:xfrm>
            <a:off x="5559552" y="3959352"/>
            <a:ext cx="2240280" cy="384048"/>
          </a:xfrm>
          <a:prstGeom prst="rect">
            <a:avLst/>
          </a:prstGeom>
          <a:noFill/>
          <a:ln/>
        </p:spPr>
        <p:txBody>
          <a:bodyPr wrap="square" lIns="0" tIns="0" rIns="0" bIns="0" rtlCol="0" anchor="ctr">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rows classified</a:t>
            </a:r>
            <a:endParaRPr lang="en-US" sz="1010" dirty="0"/>
          </a:p>
        </p:txBody>
      </p:sp>
      <p:sp>
        <p:nvSpPr>
          <p:cNvPr id="32" name="Shape 30"/>
          <p:cNvSpPr/>
          <p:nvPr/>
        </p:nvSpPr>
        <p:spPr>
          <a:xfrm>
            <a:off x="8321040" y="3858768"/>
            <a:ext cx="3383280" cy="713232"/>
          </a:xfrm>
          <a:prstGeom prst="roundRect">
            <a:avLst/>
          </a:prstGeom>
          <a:solidFill>
            <a:srgbClr val="F4F7F9"/>
          </a:solidFill>
          <a:ln w="12700">
            <a:solidFill>
              <a:srgbClr val="D7DEE6"/>
            </a:solidFill>
            <a:prstDash val="solid"/>
          </a:ln>
        </p:spPr>
        <p:txBody>
          <a:bodyPr/>
          <a:lstStyle/>
          <a:p>
            <a:endParaRPr lang="en-US"/>
          </a:p>
        </p:txBody>
      </p:sp>
      <p:sp>
        <p:nvSpPr>
          <p:cNvPr id="33" name="Text 31"/>
          <p:cNvSpPr txBox="1"/>
          <p:nvPr/>
        </p:nvSpPr>
        <p:spPr>
          <a:xfrm>
            <a:off x="8467344" y="3968496"/>
            <a:ext cx="868680" cy="256032"/>
          </a:xfrm>
          <a:prstGeom prst="rect">
            <a:avLst/>
          </a:prstGeom>
          <a:noFill/>
          <a:ln/>
        </p:spPr>
        <p:txBody>
          <a:bodyPr wrap="square" lIns="0" tIns="0" rIns="0" bIns="0" rtlCol="0" anchor="ctr">
            <a:normAutofit/>
          </a:bodyPr>
          <a:lstStyle/>
          <a:p>
            <a:pPr marL="0" indent="0" algn="l">
              <a:buNone/>
            </a:pPr>
            <a:r>
              <a:rPr lang="en-US" sz="1700" b="1" dirty="0">
                <a:solidFill>
                  <a:srgbClr val="163A5F"/>
                </a:solidFill>
                <a:latin typeface="Aptos" pitchFamily="34" charset="0"/>
                <a:ea typeface="Aptos" pitchFamily="34" charset="-122"/>
                <a:cs typeface="Aptos" pitchFamily="34" charset="-120"/>
              </a:rPr>
              <a:t>1,888</a:t>
            </a:r>
            <a:endParaRPr lang="en-US" sz="1700" dirty="0"/>
          </a:p>
        </p:txBody>
      </p:sp>
      <p:sp>
        <p:nvSpPr>
          <p:cNvPr id="34" name="Text 32"/>
          <p:cNvSpPr txBox="1"/>
          <p:nvPr/>
        </p:nvSpPr>
        <p:spPr>
          <a:xfrm>
            <a:off x="9308592" y="3959352"/>
            <a:ext cx="2240280" cy="384048"/>
          </a:xfrm>
          <a:prstGeom prst="rect">
            <a:avLst/>
          </a:prstGeom>
          <a:noFill/>
          <a:ln/>
        </p:spPr>
        <p:txBody>
          <a:bodyPr wrap="square" lIns="0" tIns="0" rIns="0" bIns="0" rtlCol="0" anchor="ctr">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unique evaluation events</a:t>
            </a:r>
            <a:endParaRPr lang="en-US" sz="1010" dirty="0"/>
          </a:p>
        </p:txBody>
      </p:sp>
      <p:sp>
        <p:nvSpPr>
          <p:cNvPr id="35" name="Shape 33"/>
          <p:cNvSpPr/>
          <p:nvPr/>
        </p:nvSpPr>
        <p:spPr>
          <a:xfrm>
            <a:off x="822960" y="4791456"/>
            <a:ext cx="3383280" cy="713232"/>
          </a:xfrm>
          <a:prstGeom prst="roundRect">
            <a:avLst/>
          </a:prstGeom>
          <a:solidFill>
            <a:srgbClr val="F4F7F9"/>
          </a:solidFill>
          <a:ln w="12700">
            <a:solidFill>
              <a:srgbClr val="D7DEE6"/>
            </a:solidFill>
            <a:prstDash val="solid"/>
          </a:ln>
        </p:spPr>
        <p:txBody>
          <a:bodyPr/>
          <a:lstStyle/>
          <a:p>
            <a:endParaRPr lang="en-US"/>
          </a:p>
        </p:txBody>
      </p:sp>
      <p:sp>
        <p:nvSpPr>
          <p:cNvPr id="36" name="Text 34"/>
          <p:cNvSpPr txBox="1"/>
          <p:nvPr/>
        </p:nvSpPr>
        <p:spPr>
          <a:xfrm>
            <a:off x="969264" y="4901184"/>
            <a:ext cx="868680" cy="256032"/>
          </a:xfrm>
          <a:prstGeom prst="rect">
            <a:avLst/>
          </a:prstGeom>
          <a:noFill/>
          <a:ln/>
        </p:spPr>
        <p:txBody>
          <a:bodyPr wrap="square" lIns="0" tIns="0" rIns="0" bIns="0" rtlCol="0" anchor="ctr">
            <a:normAutofit/>
          </a:bodyPr>
          <a:lstStyle/>
          <a:p>
            <a:pPr marL="0" indent="0" algn="l">
              <a:buNone/>
            </a:pPr>
            <a:r>
              <a:rPr lang="en-US" sz="1700" b="1" dirty="0">
                <a:solidFill>
                  <a:srgbClr val="163A5F"/>
                </a:solidFill>
                <a:latin typeface="Aptos" pitchFamily="34" charset="0"/>
                <a:ea typeface="Aptos" pitchFamily="34" charset="-122"/>
                <a:cs typeface="Aptos" pitchFamily="34" charset="-120"/>
              </a:rPr>
              <a:t>253</a:t>
            </a:r>
            <a:endParaRPr lang="en-US" sz="1700" dirty="0"/>
          </a:p>
        </p:txBody>
      </p:sp>
      <p:sp>
        <p:nvSpPr>
          <p:cNvPr id="37" name="Text 35"/>
          <p:cNvSpPr txBox="1"/>
          <p:nvPr/>
        </p:nvSpPr>
        <p:spPr>
          <a:xfrm>
            <a:off x="1810512" y="4892040"/>
            <a:ext cx="2240280" cy="384048"/>
          </a:xfrm>
          <a:prstGeom prst="rect">
            <a:avLst/>
          </a:prstGeom>
          <a:noFill/>
          <a:ln/>
        </p:spPr>
        <p:txBody>
          <a:bodyPr wrap="square" lIns="0" tIns="0" rIns="0" bIns="0" rtlCol="0" anchor="ctr">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programs</a:t>
            </a:r>
            <a:endParaRPr lang="en-US" sz="1010" dirty="0"/>
          </a:p>
        </p:txBody>
      </p:sp>
      <p:sp>
        <p:nvSpPr>
          <p:cNvPr id="38" name="Shape 36"/>
          <p:cNvSpPr/>
          <p:nvPr/>
        </p:nvSpPr>
        <p:spPr>
          <a:xfrm>
            <a:off x="4572000" y="4791456"/>
            <a:ext cx="3383280" cy="713232"/>
          </a:xfrm>
          <a:prstGeom prst="roundRect">
            <a:avLst/>
          </a:prstGeom>
          <a:solidFill>
            <a:srgbClr val="EDF7F5"/>
          </a:solidFill>
          <a:ln w="12700">
            <a:solidFill>
              <a:srgbClr val="D7DEE6"/>
            </a:solidFill>
            <a:prstDash val="solid"/>
          </a:ln>
        </p:spPr>
        <p:txBody>
          <a:bodyPr/>
          <a:lstStyle/>
          <a:p>
            <a:endParaRPr lang="en-US"/>
          </a:p>
        </p:txBody>
      </p:sp>
      <p:sp>
        <p:nvSpPr>
          <p:cNvPr id="39" name="Text 37"/>
          <p:cNvSpPr txBox="1"/>
          <p:nvPr/>
        </p:nvSpPr>
        <p:spPr>
          <a:xfrm>
            <a:off x="4718304" y="4901184"/>
            <a:ext cx="868680" cy="256032"/>
          </a:xfrm>
          <a:prstGeom prst="rect">
            <a:avLst/>
          </a:prstGeom>
          <a:noFill/>
          <a:ln/>
        </p:spPr>
        <p:txBody>
          <a:bodyPr wrap="square" lIns="0" tIns="0" rIns="0" bIns="0" rtlCol="0" anchor="ctr">
            <a:normAutofit/>
          </a:bodyPr>
          <a:lstStyle/>
          <a:p>
            <a:pPr marL="0" indent="0" algn="l">
              <a:buNone/>
            </a:pPr>
            <a:r>
              <a:rPr lang="en-US" sz="1700" b="1" dirty="0">
                <a:solidFill>
                  <a:srgbClr val="2B8C87"/>
                </a:solidFill>
                <a:latin typeface="Aptos" pitchFamily="34" charset="0"/>
                <a:ea typeface="Aptos" pitchFamily="34" charset="-122"/>
                <a:cs typeface="Aptos" pitchFamily="34" charset="-120"/>
              </a:rPr>
              <a:t>18</a:t>
            </a:r>
            <a:endParaRPr lang="en-US" sz="1700" dirty="0"/>
          </a:p>
        </p:txBody>
      </p:sp>
      <p:sp>
        <p:nvSpPr>
          <p:cNvPr id="40" name="Text 38"/>
          <p:cNvSpPr txBox="1"/>
          <p:nvPr/>
        </p:nvSpPr>
        <p:spPr>
          <a:xfrm>
            <a:off x="5559552" y="4892040"/>
            <a:ext cx="2240280" cy="384048"/>
          </a:xfrm>
          <a:prstGeom prst="rect">
            <a:avLst/>
          </a:prstGeom>
          <a:noFill/>
          <a:ln/>
        </p:spPr>
        <p:txBody>
          <a:bodyPr wrap="square" lIns="0" tIns="0" rIns="0" bIns="0" rtlCol="0" anchor="ctr">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evaluation types</a:t>
            </a:r>
            <a:endParaRPr lang="en-US" sz="1010" dirty="0"/>
          </a:p>
        </p:txBody>
      </p:sp>
      <p:sp>
        <p:nvSpPr>
          <p:cNvPr id="41" name="Shape 39"/>
          <p:cNvSpPr/>
          <p:nvPr/>
        </p:nvSpPr>
        <p:spPr>
          <a:xfrm>
            <a:off x="8321040" y="4791456"/>
            <a:ext cx="3383280" cy="713232"/>
          </a:xfrm>
          <a:prstGeom prst="roundRect">
            <a:avLst/>
          </a:prstGeom>
          <a:solidFill>
            <a:srgbClr val="F4F7F9"/>
          </a:solidFill>
          <a:ln w="12700">
            <a:solidFill>
              <a:srgbClr val="D7DEE6"/>
            </a:solidFill>
            <a:prstDash val="solid"/>
          </a:ln>
        </p:spPr>
        <p:txBody>
          <a:bodyPr/>
          <a:lstStyle/>
          <a:p>
            <a:endParaRPr lang="en-US"/>
          </a:p>
        </p:txBody>
      </p:sp>
      <p:sp>
        <p:nvSpPr>
          <p:cNvPr id="42" name="Text 40"/>
          <p:cNvSpPr txBox="1"/>
          <p:nvPr/>
        </p:nvSpPr>
        <p:spPr>
          <a:xfrm>
            <a:off x="8467344" y="4901184"/>
            <a:ext cx="868680" cy="256032"/>
          </a:xfrm>
          <a:prstGeom prst="rect">
            <a:avLst/>
          </a:prstGeom>
          <a:noFill/>
          <a:ln/>
        </p:spPr>
        <p:txBody>
          <a:bodyPr wrap="square" lIns="0" tIns="0" rIns="0" bIns="0" rtlCol="0" anchor="ctr">
            <a:normAutofit/>
          </a:bodyPr>
          <a:lstStyle/>
          <a:p>
            <a:pPr marL="0" indent="0" algn="l">
              <a:buNone/>
            </a:pPr>
            <a:r>
              <a:rPr lang="en-US" sz="1700" b="1" dirty="0">
                <a:solidFill>
                  <a:srgbClr val="163A5F"/>
                </a:solidFill>
                <a:latin typeface="Aptos" pitchFamily="34" charset="0"/>
                <a:ea typeface="Aptos" pitchFamily="34" charset="-122"/>
                <a:cs typeface="Aptos" pitchFamily="34" charset="-120"/>
              </a:rPr>
              <a:t>176</a:t>
            </a:r>
            <a:endParaRPr lang="en-US" sz="1700" dirty="0"/>
          </a:p>
        </p:txBody>
      </p:sp>
      <p:sp>
        <p:nvSpPr>
          <p:cNvPr id="43" name="Text 41"/>
          <p:cNvSpPr txBox="1"/>
          <p:nvPr/>
        </p:nvSpPr>
        <p:spPr>
          <a:xfrm>
            <a:off x="9308592" y="4892040"/>
            <a:ext cx="2240280" cy="384048"/>
          </a:xfrm>
          <a:prstGeom prst="rect">
            <a:avLst/>
          </a:prstGeom>
          <a:noFill/>
          <a:ln/>
        </p:spPr>
        <p:txBody>
          <a:bodyPr wrap="square" lIns="0" tIns="0" rIns="0" bIns="0" rtlCol="0" anchor="ctr">
            <a:normAutofit/>
          </a:bodyPr>
          <a:lstStyle/>
          <a:p>
            <a:pPr marL="0" indent="0" algn="l">
              <a:buNone/>
            </a:pPr>
            <a:r>
              <a:rPr lang="en-US" sz="1010" dirty="0">
                <a:solidFill>
                  <a:srgbClr val="1F2933"/>
                </a:solidFill>
                <a:latin typeface="Aptos" pitchFamily="34" charset="0"/>
                <a:ea typeface="Aptos" pitchFamily="34" charset="-122"/>
                <a:cs typeface="Aptos" pitchFamily="34" charset="-120"/>
              </a:rPr>
              <a:t>mean response characters</a:t>
            </a:r>
            <a:endParaRPr lang="en-US" sz="1010" dirty="0"/>
          </a:p>
        </p:txBody>
      </p:sp>
      <p:sp>
        <p:nvSpPr>
          <p:cNvPr id="44" name="Text 42"/>
          <p:cNvSpPr txBox="1"/>
          <p:nvPr/>
        </p:nvSpPr>
        <p:spPr>
          <a:xfrm>
            <a:off x="822960" y="5824728"/>
            <a:ext cx="10698480" cy="256032"/>
          </a:xfrm>
          <a:prstGeom prst="rect">
            <a:avLst/>
          </a:prstGeom>
          <a:noFill/>
          <a:ln/>
        </p:spPr>
        <p:txBody>
          <a:bodyPr wrap="square" lIns="0" tIns="0" rIns="0" bIns="0" rtlCol="0" anchor="ctr">
            <a:normAutofit/>
          </a:bodyPr>
          <a:lstStyle/>
          <a:p>
            <a:pPr marL="0" indent="0" algn="ctr">
              <a:buNone/>
            </a:pPr>
            <a:r>
              <a:rPr lang="en-US" sz="980" i="1" dirty="0">
                <a:solidFill>
                  <a:srgbClr val="6D7781"/>
                </a:solidFill>
                <a:latin typeface="Aptos" pitchFamily="34" charset="0"/>
                <a:ea typeface="Aptos" pitchFamily="34" charset="-122"/>
                <a:cs typeface="Aptos" pitchFamily="34" charset="-120"/>
              </a:rPr>
              <a:t>Important: raw narrative text was used for coding inside Snowflake but was not included in the final ZIP export.</a:t>
            </a:r>
            <a:endParaRPr lang="en-US" sz="980" dirty="0"/>
          </a:p>
        </p:txBody>
      </p:sp>
      <p:sp>
        <p:nvSpPr>
          <p:cNvPr id="4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Input definitions</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Exactly what was fed into the analysis and what each field represents</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The qualitative coding unit is one deduplicated question + free-text response; the quantitative inference unit is the evaluation event identified by EVALUATION_ID_HASH.</a:t>
            </a:r>
            <a:endParaRPr lang="en-US" sz="1110" dirty="0"/>
          </a:p>
        </p:txBody>
      </p:sp>
      <p:sp>
        <p:nvSpPr>
          <p:cNvPr id="7" name="Shape 5"/>
          <p:cNvSpPr/>
          <p:nvPr/>
        </p:nvSpPr>
        <p:spPr>
          <a:xfrm>
            <a:off x="594360" y="1719072"/>
            <a:ext cx="5394960" cy="566928"/>
          </a:xfrm>
          <a:prstGeom prst="roundRect">
            <a:avLst/>
          </a:prstGeom>
          <a:solidFill>
            <a:srgbClr val="FFFFFF"/>
          </a:solidFill>
          <a:ln w="10160">
            <a:solidFill>
              <a:srgbClr val="D7DEE6"/>
            </a:solidFill>
            <a:prstDash val="solid"/>
          </a:ln>
        </p:spPr>
        <p:txBody>
          <a:bodyPr/>
          <a:lstStyle/>
          <a:p>
            <a:endParaRPr lang="en-US"/>
          </a:p>
        </p:txBody>
      </p:sp>
      <p:sp>
        <p:nvSpPr>
          <p:cNvPr id="8" name="Text 6"/>
          <p:cNvSpPr txBox="1"/>
          <p:nvPr/>
        </p:nvSpPr>
        <p:spPr>
          <a:xfrm>
            <a:off x="704088" y="1792224"/>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A6F9E"/>
                </a:solidFill>
                <a:latin typeface="Aptos" pitchFamily="34" charset="0"/>
                <a:ea typeface="Aptos" pitchFamily="34" charset="-122"/>
                <a:cs typeface="Aptos" pitchFamily="34" charset="-120"/>
              </a:rPr>
              <a:t>Narrative row</a:t>
            </a:r>
            <a:endParaRPr lang="en-US" sz="970" dirty="0"/>
          </a:p>
        </p:txBody>
      </p:sp>
      <p:sp>
        <p:nvSpPr>
          <p:cNvPr id="9" name="Text 7"/>
          <p:cNvSpPr txBox="1"/>
          <p:nvPr/>
        </p:nvSpPr>
        <p:spPr>
          <a:xfrm>
            <a:off x="2331720" y="1773936"/>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One deduplicated QUESTION + TEXT_RESPONSE record attached to an evaluation event. This is the unit the LLM codes.</a:t>
            </a:r>
            <a:endParaRPr lang="en-US" sz="890" dirty="0"/>
          </a:p>
        </p:txBody>
      </p:sp>
      <p:sp>
        <p:nvSpPr>
          <p:cNvPr id="10" name="Shape 8"/>
          <p:cNvSpPr/>
          <p:nvPr/>
        </p:nvSpPr>
        <p:spPr>
          <a:xfrm>
            <a:off x="594360" y="2395728"/>
            <a:ext cx="5394960" cy="566928"/>
          </a:xfrm>
          <a:prstGeom prst="roundRect">
            <a:avLst/>
          </a:prstGeom>
          <a:solidFill>
            <a:srgbClr val="F4F7F9"/>
          </a:solidFill>
          <a:ln w="10160">
            <a:solidFill>
              <a:srgbClr val="D7DEE6"/>
            </a:solidFill>
            <a:prstDash val="solid"/>
          </a:ln>
        </p:spPr>
        <p:txBody>
          <a:bodyPr/>
          <a:lstStyle/>
          <a:p>
            <a:endParaRPr lang="en-US"/>
          </a:p>
        </p:txBody>
      </p:sp>
      <p:sp>
        <p:nvSpPr>
          <p:cNvPr id="11" name="Text 9"/>
          <p:cNvSpPr txBox="1"/>
          <p:nvPr/>
        </p:nvSpPr>
        <p:spPr>
          <a:xfrm>
            <a:off x="704088" y="2468880"/>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B8C87"/>
                </a:solidFill>
                <a:latin typeface="Aptos" pitchFamily="34" charset="0"/>
                <a:ea typeface="Aptos" pitchFamily="34" charset="-122"/>
                <a:cs typeface="Aptos" pitchFamily="34" charset="-120"/>
              </a:rPr>
              <a:t>QUESTION</a:t>
            </a:r>
            <a:endParaRPr lang="en-US" sz="970" dirty="0"/>
          </a:p>
        </p:txBody>
      </p:sp>
      <p:sp>
        <p:nvSpPr>
          <p:cNvPr id="12" name="Text 10"/>
          <p:cNvSpPr txBox="1"/>
          <p:nvPr/>
        </p:nvSpPr>
        <p:spPr>
          <a:xfrm>
            <a:off x="2331720" y="2450592"/>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The prompt or item the evaluator/respondent was answering. It gives context for interpreting the free-text response.</a:t>
            </a:r>
            <a:endParaRPr lang="en-US" sz="890" dirty="0"/>
          </a:p>
        </p:txBody>
      </p:sp>
      <p:sp>
        <p:nvSpPr>
          <p:cNvPr id="13" name="Shape 11"/>
          <p:cNvSpPr/>
          <p:nvPr/>
        </p:nvSpPr>
        <p:spPr>
          <a:xfrm>
            <a:off x="594360" y="3072384"/>
            <a:ext cx="5394960" cy="566928"/>
          </a:xfrm>
          <a:prstGeom prst="roundRect">
            <a:avLst/>
          </a:prstGeom>
          <a:solidFill>
            <a:srgbClr val="FFFFFF"/>
          </a:solidFill>
          <a:ln w="10160">
            <a:solidFill>
              <a:srgbClr val="D7DEE6"/>
            </a:solidFill>
            <a:prstDash val="solid"/>
          </a:ln>
        </p:spPr>
        <p:txBody>
          <a:bodyPr/>
          <a:lstStyle/>
          <a:p>
            <a:endParaRPr lang="en-US"/>
          </a:p>
        </p:txBody>
      </p:sp>
      <p:sp>
        <p:nvSpPr>
          <p:cNvPr id="14" name="Text 12"/>
          <p:cNvSpPr txBox="1"/>
          <p:nvPr/>
        </p:nvSpPr>
        <p:spPr>
          <a:xfrm>
            <a:off x="704088" y="3145536"/>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A6F9E"/>
                </a:solidFill>
                <a:latin typeface="Aptos" pitchFamily="34" charset="0"/>
                <a:ea typeface="Aptos" pitchFamily="34" charset="-122"/>
                <a:cs typeface="Aptos" pitchFamily="34" charset="-120"/>
              </a:rPr>
              <a:t>TEXT_RESPONSE</a:t>
            </a:r>
            <a:endParaRPr lang="en-US" sz="970" dirty="0"/>
          </a:p>
        </p:txBody>
      </p:sp>
      <p:sp>
        <p:nvSpPr>
          <p:cNvPr id="15" name="Text 13"/>
          <p:cNvSpPr txBox="1"/>
          <p:nvPr/>
        </p:nvSpPr>
        <p:spPr>
          <a:xfrm>
            <a:off x="2331720" y="3127248"/>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The free-text narrative itself. This is the primary qualitative evidence. Responses were truncated only for model-input limits.</a:t>
            </a:r>
            <a:endParaRPr lang="en-US" sz="890" dirty="0"/>
          </a:p>
        </p:txBody>
      </p:sp>
      <p:sp>
        <p:nvSpPr>
          <p:cNvPr id="16" name="Shape 14"/>
          <p:cNvSpPr/>
          <p:nvPr/>
        </p:nvSpPr>
        <p:spPr>
          <a:xfrm>
            <a:off x="594360" y="3749040"/>
            <a:ext cx="5394960" cy="566928"/>
          </a:xfrm>
          <a:prstGeom prst="roundRect">
            <a:avLst/>
          </a:prstGeom>
          <a:solidFill>
            <a:srgbClr val="F4F7F9"/>
          </a:solidFill>
          <a:ln w="10160">
            <a:solidFill>
              <a:srgbClr val="D7DEE6"/>
            </a:solidFill>
            <a:prstDash val="solid"/>
          </a:ln>
        </p:spPr>
        <p:txBody>
          <a:bodyPr/>
          <a:lstStyle/>
          <a:p>
            <a:endParaRPr lang="en-US"/>
          </a:p>
        </p:txBody>
      </p:sp>
      <p:sp>
        <p:nvSpPr>
          <p:cNvPr id="17" name="Text 15"/>
          <p:cNvSpPr txBox="1"/>
          <p:nvPr/>
        </p:nvSpPr>
        <p:spPr>
          <a:xfrm>
            <a:off x="704088" y="3822192"/>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B8C87"/>
                </a:solidFill>
                <a:latin typeface="Aptos" pitchFamily="34" charset="0"/>
                <a:ea typeface="Aptos" pitchFamily="34" charset="-122"/>
                <a:cs typeface="Aptos" pitchFamily="34" charset="-120"/>
              </a:rPr>
              <a:t>EVALUATION_ID_HASH</a:t>
            </a:r>
            <a:endParaRPr lang="en-US" sz="970" dirty="0"/>
          </a:p>
        </p:txBody>
      </p:sp>
      <p:sp>
        <p:nvSpPr>
          <p:cNvPr id="18" name="Text 16"/>
          <p:cNvSpPr txBox="1"/>
          <p:nvPr/>
        </p:nvSpPr>
        <p:spPr>
          <a:xfrm>
            <a:off x="2331720" y="3803904"/>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A de-identified event identifier used to group many narrative rows that belong to the same evaluation event.</a:t>
            </a:r>
            <a:endParaRPr lang="en-US" sz="890" dirty="0"/>
          </a:p>
        </p:txBody>
      </p:sp>
      <p:sp>
        <p:nvSpPr>
          <p:cNvPr id="19" name="Shape 17"/>
          <p:cNvSpPr/>
          <p:nvPr/>
        </p:nvSpPr>
        <p:spPr>
          <a:xfrm>
            <a:off x="594360" y="4425696"/>
            <a:ext cx="5394960" cy="566928"/>
          </a:xfrm>
          <a:prstGeom prst="roundRect">
            <a:avLst/>
          </a:prstGeom>
          <a:solidFill>
            <a:srgbClr val="FFFFFF"/>
          </a:solidFill>
          <a:ln w="10160">
            <a:solidFill>
              <a:srgbClr val="D7DEE6"/>
            </a:solidFill>
            <a:prstDash val="solid"/>
          </a:ln>
        </p:spPr>
        <p:txBody>
          <a:bodyPr/>
          <a:lstStyle/>
          <a:p>
            <a:endParaRPr lang="en-US"/>
          </a:p>
        </p:txBody>
      </p:sp>
      <p:sp>
        <p:nvSpPr>
          <p:cNvPr id="20" name="Text 18"/>
          <p:cNvSpPr txBox="1"/>
          <p:nvPr/>
        </p:nvSpPr>
        <p:spPr>
          <a:xfrm>
            <a:off x="704088" y="4498848"/>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A6F9E"/>
                </a:solidFill>
                <a:latin typeface="Aptos" pitchFamily="34" charset="0"/>
                <a:ea typeface="Aptos" pitchFamily="34" charset="-122"/>
                <a:cs typeface="Aptos" pitchFamily="34" charset="-120"/>
              </a:rPr>
              <a:t>ITEM_ORDER</a:t>
            </a:r>
            <a:endParaRPr lang="en-US" sz="970" dirty="0"/>
          </a:p>
        </p:txBody>
      </p:sp>
      <p:sp>
        <p:nvSpPr>
          <p:cNvPr id="21" name="Text 19"/>
          <p:cNvSpPr txBox="1"/>
          <p:nvPr/>
        </p:nvSpPr>
        <p:spPr>
          <a:xfrm>
            <a:off x="2331720" y="4480560"/>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The position/order of the question within an evaluation instrument; used in deduplication and row identity.</a:t>
            </a:r>
            <a:endParaRPr lang="en-US" sz="890" dirty="0"/>
          </a:p>
        </p:txBody>
      </p:sp>
      <p:sp>
        <p:nvSpPr>
          <p:cNvPr id="22" name="Shape 20"/>
          <p:cNvSpPr/>
          <p:nvPr/>
        </p:nvSpPr>
        <p:spPr>
          <a:xfrm>
            <a:off x="6199632" y="1719072"/>
            <a:ext cx="5394960" cy="566928"/>
          </a:xfrm>
          <a:prstGeom prst="roundRect">
            <a:avLst/>
          </a:prstGeom>
          <a:solidFill>
            <a:srgbClr val="FFFFFF"/>
          </a:solidFill>
          <a:ln w="10160">
            <a:solidFill>
              <a:srgbClr val="D7DEE6"/>
            </a:solidFill>
            <a:prstDash val="solid"/>
          </a:ln>
        </p:spPr>
        <p:txBody>
          <a:bodyPr/>
          <a:lstStyle/>
          <a:p>
            <a:endParaRPr lang="en-US"/>
          </a:p>
        </p:txBody>
      </p:sp>
      <p:sp>
        <p:nvSpPr>
          <p:cNvPr id="23" name="Text 21"/>
          <p:cNvSpPr txBox="1"/>
          <p:nvPr/>
        </p:nvSpPr>
        <p:spPr>
          <a:xfrm>
            <a:off x="6309360" y="1792224"/>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A6F9E"/>
                </a:solidFill>
                <a:latin typeface="Aptos" pitchFamily="34" charset="0"/>
                <a:ea typeface="Aptos" pitchFamily="34" charset="-122"/>
                <a:cs typeface="Aptos" pitchFamily="34" charset="-120"/>
              </a:rPr>
              <a:t>Structured performance score</a:t>
            </a:r>
            <a:endParaRPr lang="en-US" sz="970" dirty="0"/>
          </a:p>
        </p:txBody>
      </p:sp>
      <p:sp>
        <p:nvSpPr>
          <p:cNvPr id="24" name="Text 22"/>
          <p:cNvSpPr txBox="1"/>
          <p:nvPr/>
        </p:nvSpPr>
        <p:spPr>
          <a:xfrm>
            <a:off x="7936992" y="1773936"/>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Average OPTION_VALUE_SCALED within each evaluation event. Used for high-vs-low quartiles, continuous score associations, and longitudinal change.</a:t>
            </a:r>
            <a:endParaRPr lang="en-US" sz="890" dirty="0"/>
          </a:p>
        </p:txBody>
      </p:sp>
      <p:sp>
        <p:nvSpPr>
          <p:cNvPr id="25" name="Shape 23"/>
          <p:cNvSpPr/>
          <p:nvPr/>
        </p:nvSpPr>
        <p:spPr>
          <a:xfrm>
            <a:off x="6199632" y="2395728"/>
            <a:ext cx="5394960" cy="566928"/>
          </a:xfrm>
          <a:prstGeom prst="roundRect">
            <a:avLst/>
          </a:prstGeom>
          <a:solidFill>
            <a:srgbClr val="F4F7F9"/>
          </a:solidFill>
          <a:ln w="10160">
            <a:solidFill>
              <a:srgbClr val="D7DEE6"/>
            </a:solidFill>
            <a:prstDash val="solid"/>
          </a:ln>
        </p:spPr>
        <p:txBody>
          <a:bodyPr/>
          <a:lstStyle/>
          <a:p>
            <a:endParaRPr lang="en-US"/>
          </a:p>
        </p:txBody>
      </p:sp>
      <p:sp>
        <p:nvSpPr>
          <p:cNvPr id="26" name="Text 24"/>
          <p:cNvSpPr txBox="1"/>
          <p:nvPr/>
        </p:nvSpPr>
        <p:spPr>
          <a:xfrm>
            <a:off x="6309360" y="2468880"/>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B8C87"/>
                </a:solidFill>
                <a:latin typeface="Aptos" pitchFamily="34" charset="0"/>
                <a:ea typeface="Aptos" pitchFamily="34" charset="-122"/>
                <a:cs typeface="Aptos" pitchFamily="34" charset="-120"/>
              </a:rPr>
              <a:t>EVALUATED_DATE / YEAR</a:t>
            </a:r>
            <a:endParaRPr lang="en-US" sz="970" dirty="0"/>
          </a:p>
        </p:txBody>
      </p:sp>
      <p:sp>
        <p:nvSpPr>
          <p:cNvPr id="27" name="Text 25"/>
          <p:cNvSpPr txBox="1"/>
          <p:nvPr/>
        </p:nvSpPr>
        <p:spPr>
          <a:xfrm>
            <a:off x="7936992" y="2450592"/>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When the evaluation occurred. Used for descriptive calendar-time trends and first-to-last comparisons.</a:t>
            </a:r>
            <a:endParaRPr lang="en-US" sz="890" dirty="0"/>
          </a:p>
        </p:txBody>
      </p:sp>
      <p:sp>
        <p:nvSpPr>
          <p:cNvPr id="28" name="Shape 26"/>
          <p:cNvSpPr/>
          <p:nvPr/>
        </p:nvSpPr>
        <p:spPr>
          <a:xfrm>
            <a:off x="6199632" y="3072384"/>
            <a:ext cx="5394960" cy="566928"/>
          </a:xfrm>
          <a:prstGeom prst="roundRect">
            <a:avLst/>
          </a:prstGeom>
          <a:solidFill>
            <a:srgbClr val="FFFFFF"/>
          </a:solidFill>
          <a:ln w="10160">
            <a:solidFill>
              <a:srgbClr val="D7DEE6"/>
            </a:solidFill>
            <a:prstDash val="solid"/>
          </a:ln>
        </p:spPr>
        <p:txBody>
          <a:bodyPr/>
          <a:lstStyle/>
          <a:p>
            <a:endParaRPr lang="en-US"/>
          </a:p>
        </p:txBody>
      </p:sp>
      <p:sp>
        <p:nvSpPr>
          <p:cNvPr id="29" name="Text 27"/>
          <p:cNvSpPr txBox="1"/>
          <p:nvPr/>
        </p:nvSpPr>
        <p:spPr>
          <a:xfrm>
            <a:off x="6309360" y="3145536"/>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A6F9E"/>
                </a:solidFill>
                <a:latin typeface="Aptos" pitchFamily="34" charset="0"/>
                <a:ea typeface="Aptos" pitchFamily="34" charset="-122"/>
                <a:cs typeface="Aptos" pitchFamily="34" charset="-120"/>
              </a:rPr>
              <a:t>EVALUATION_TYPE</a:t>
            </a:r>
            <a:endParaRPr lang="en-US" sz="970" dirty="0"/>
          </a:p>
        </p:txBody>
      </p:sp>
      <p:sp>
        <p:nvSpPr>
          <p:cNvPr id="30" name="Text 28"/>
          <p:cNvSpPr txBox="1"/>
          <p:nvPr/>
        </p:nvSpPr>
        <p:spPr>
          <a:xfrm>
            <a:off x="7936992" y="3127248"/>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Who is evaluating whom / what instrument type was used. Used to compare feedback specificity and actionability.</a:t>
            </a:r>
            <a:endParaRPr lang="en-US" sz="890" dirty="0"/>
          </a:p>
        </p:txBody>
      </p:sp>
      <p:sp>
        <p:nvSpPr>
          <p:cNvPr id="31" name="Shape 29"/>
          <p:cNvSpPr/>
          <p:nvPr/>
        </p:nvSpPr>
        <p:spPr>
          <a:xfrm>
            <a:off x="6199632" y="3749040"/>
            <a:ext cx="5394960" cy="566928"/>
          </a:xfrm>
          <a:prstGeom prst="roundRect">
            <a:avLst/>
          </a:prstGeom>
          <a:solidFill>
            <a:srgbClr val="F4F7F9"/>
          </a:solidFill>
          <a:ln w="10160">
            <a:solidFill>
              <a:srgbClr val="D7DEE6"/>
            </a:solidFill>
            <a:prstDash val="solid"/>
          </a:ln>
        </p:spPr>
        <p:txBody>
          <a:bodyPr/>
          <a:lstStyle/>
          <a:p>
            <a:endParaRPr lang="en-US"/>
          </a:p>
        </p:txBody>
      </p:sp>
      <p:sp>
        <p:nvSpPr>
          <p:cNvPr id="32" name="Text 30"/>
          <p:cNvSpPr txBox="1"/>
          <p:nvPr/>
        </p:nvSpPr>
        <p:spPr>
          <a:xfrm>
            <a:off x="6309360" y="3822192"/>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B8C87"/>
                </a:solidFill>
                <a:latin typeface="Aptos" pitchFamily="34" charset="0"/>
                <a:ea typeface="Aptos" pitchFamily="34" charset="-122"/>
                <a:cs typeface="Aptos" pitchFamily="34" charset="-120"/>
              </a:rPr>
              <a:t>PROGRAM / department / institute / market</a:t>
            </a:r>
            <a:endParaRPr lang="en-US" sz="970" dirty="0"/>
          </a:p>
        </p:txBody>
      </p:sp>
      <p:sp>
        <p:nvSpPr>
          <p:cNvPr id="33" name="Text 31"/>
          <p:cNvSpPr txBox="1"/>
          <p:nvPr/>
        </p:nvSpPr>
        <p:spPr>
          <a:xfrm>
            <a:off x="7936992" y="3803904"/>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Organizational context used for subgroup analyses and future adjustment for clustering.</a:t>
            </a:r>
            <a:endParaRPr lang="en-US" sz="890" dirty="0"/>
          </a:p>
        </p:txBody>
      </p:sp>
      <p:sp>
        <p:nvSpPr>
          <p:cNvPr id="34" name="Shape 32"/>
          <p:cNvSpPr/>
          <p:nvPr/>
        </p:nvSpPr>
        <p:spPr>
          <a:xfrm>
            <a:off x="6199632" y="4425696"/>
            <a:ext cx="5394960" cy="566928"/>
          </a:xfrm>
          <a:prstGeom prst="roundRect">
            <a:avLst/>
          </a:prstGeom>
          <a:solidFill>
            <a:srgbClr val="FFFFFF"/>
          </a:solidFill>
          <a:ln w="10160">
            <a:solidFill>
              <a:srgbClr val="D7DEE6"/>
            </a:solidFill>
            <a:prstDash val="solid"/>
          </a:ln>
        </p:spPr>
        <p:txBody>
          <a:bodyPr/>
          <a:lstStyle/>
          <a:p>
            <a:endParaRPr lang="en-US"/>
          </a:p>
        </p:txBody>
      </p:sp>
      <p:sp>
        <p:nvSpPr>
          <p:cNvPr id="35" name="Text 33"/>
          <p:cNvSpPr txBox="1"/>
          <p:nvPr/>
        </p:nvSpPr>
        <p:spPr>
          <a:xfrm>
            <a:off x="6309360" y="4498848"/>
            <a:ext cx="1600200" cy="201168"/>
          </a:xfrm>
          <a:prstGeom prst="rect">
            <a:avLst/>
          </a:prstGeom>
          <a:noFill/>
          <a:ln/>
        </p:spPr>
        <p:txBody>
          <a:bodyPr wrap="square" lIns="0" tIns="0" rIns="0" bIns="0" rtlCol="0" anchor="ctr">
            <a:normAutofit/>
          </a:bodyPr>
          <a:lstStyle/>
          <a:p>
            <a:pPr marL="0" indent="0" algn="l">
              <a:buNone/>
            </a:pPr>
            <a:r>
              <a:rPr lang="en-US" sz="970" b="1" dirty="0">
                <a:solidFill>
                  <a:srgbClr val="2A6F9E"/>
                </a:solidFill>
                <a:latin typeface="Aptos" pitchFamily="34" charset="0"/>
                <a:ea typeface="Aptos" pitchFamily="34" charset="-122"/>
                <a:cs typeface="Aptos" pitchFamily="34" charset="-120"/>
              </a:rPr>
              <a:t>TRAINEE_ID / EVALUATOR_ID</a:t>
            </a:r>
            <a:endParaRPr lang="en-US" sz="970" dirty="0"/>
          </a:p>
        </p:txBody>
      </p:sp>
      <p:sp>
        <p:nvSpPr>
          <p:cNvPr id="36" name="Text 34"/>
          <p:cNvSpPr txBox="1"/>
          <p:nvPr/>
        </p:nvSpPr>
        <p:spPr>
          <a:xfrm>
            <a:off x="7936992" y="4480560"/>
            <a:ext cx="3511296" cy="411480"/>
          </a:xfrm>
          <a:prstGeom prst="rect">
            <a:avLst/>
          </a:prstGeom>
          <a:noFill/>
          <a:ln/>
        </p:spPr>
        <p:txBody>
          <a:bodyPr wrap="square" lIns="0" tIns="0" rIns="0" bIns="0" rtlCol="0" anchor="t">
            <a:normAutofit/>
          </a:bodyPr>
          <a:lstStyle/>
          <a:p>
            <a:pPr marL="0" indent="0" algn="l">
              <a:buNone/>
            </a:pPr>
            <a:r>
              <a:rPr lang="en-US" sz="890" dirty="0">
                <a:solidFill>
                  <a:srgbClr val="1F2933"/>
                </a:solidFill>
                <a:latin typeface="Aptos" pitchFamily="34" charset="0"/>
                <a:ea typeface="Aptos" pitchFamily="34" charset="-122"/>
                <a:cs typeface="Aptos" pitchFamily="34" charset="-120"/>
              </a:rPr>
              <a:t>De-identified person identifiers used to study repeated evaluatees and evaluator-level behavior without exposing names.</a:t>
            </a:r>
            <a:endParaRPr lang="en-US" sz="890" dirty="0"/>
          </a:p>
        </p:txBody>
      </p:sp>
      <p:sp>
        <p:nvSpPr>
          <p:cNvPr id="37" name="Shape 35"/>
          <p:cNvSpPr/>
          <p:nvPr/>
        </p:nvSpPr>
        <p:spPr>
          <a:xfrm>
            <a:off x="621792" y="5440680"/>
            <a:ext cx="10972800" cy="658368"/>
          </a:xfrm>
          <a:prstGeom prst="roundRect">
            <a:avLst/>
          </a:prstGeom>
          <a:solidFill>
            <a:srgbClr val="FBF5E9"/>
          </a:solidFill>
          <a:ln w="12700">
            <a:solidFill>
              <a:srgbClr val="D7DEE6"/>
            </a:solidFill>
            <a:prstDash val="solid"/>
          </a:ln>
        </p:spPr>
        <p:txBody>
          <a:bodyPr/>
          <a:lstStyle/>
          <a:p>
            <a:endParaRPr lang="en-US"/>
          </a:p>
        </p:txBody>
      </p:sp>
      <p:sp>
        <p:nvSpPr>
          <p:cNvPr id="38" name="Text 36"/>
          <p:cNvSpPr txBox="1"/>
          <p:nvPr/>
        </p:nvSpPr>
        <p:spPr>
          <a:xfrm>
            <a:off x="777240" y="5559552"/>
            <a:ext cx="1188720" cy="201168"/>
          </a:xfrm>
          <a:prstGeom prst="rect">
            <a:avLst/>
          </a:prstGeom>
          <a:noFill/>
          <a:ln/>
        </p:spPr>
        <p:txBody>
          <a:bodyPr wrap="square" lIns="0" tIns="0" rIns="0" bIns="0" rtlCol="0" anchor="ctr">
            <a:normAutofit/>
          </a:bodyPr>
          <a:lstStyle/>
          <a:p>
            <a:pPr marL="0" indent="0" algn="l">
              <a:buNone/>
            </a:pPr>
            <a:r>
              <a:rPr lang="en-US" sz="900" b="1" dirty="0">
                <a:solidFill>
                  <a:srgbClr val="D49A35"/>
                </a:solidFill>
                <a:latin typeface="Aptos" pitchFamily="34" charset="0"/>
                <a:ea typeface="Aptos" pitchFamily="34" charset="-122"/>
                <a:cs typeface="Aptos" pitchFamily="34" charset="-120"/>
              </a:rPr>
              <a:t>Why this matters</a:t>
            </a:r>
            <a:endParaRPr lang="en-US" sz="900" dirty="0"/>
          </a:p>
        </p:txBody>
      </p:sp>
      <p:sp>
        <p:nvSpPr>
          <p:cNvPr id="39" name="Text 37"/>
          <p:cNvSpPr txBox="1"/>
          <p:nvPr/>
        </p:nvSpPr>
        <p:spPr>
          <a:xfrm>
            <a:off x="1828800" y="5513832"/>
            <a:ext cx="9464040" cy="365760"/>
          </a:xfrm>
          <a:prstGeom prst="rect">
            <a:avLst/>
          </a:prstGeom>
          <a:noFill/>
          <a:ln/>
        </p:spPr>
        <p:txBody>
          <a:bodyPr wrap="square" lIns="0" tIns="0" rIns="0" bIns="0" rtlCol="0" anchor="ctr">
            <a:normAutofit/>
          </a:bodyPr>
          <a:lstStyle/>
          <a:p>
            <a:pPr marL="0" indent="0" algn="l">
              <a:buNone/>
            </a:pPr>
            <a:r>
              <a:rPr lang="en-US" sz="970" dirty="0">
                <a:solidFill>
                  <a:srgbClr val="1F2933"/>
                </a:solidFill>
                <a:latin typeface="Aptos" pitchFamily="34" charset="0"/>
                <a:ea typeface="Aptos" pitchFamily="34" charset="-122"/>
                <a:cs typeface="Aptos" pitchFamily="34" charset="-120"/>
              </a:rPr>
              <a:t>A single evaluation event can contain dozens of narrative rows. Therefore, “100,000 narratives” describes qualitative depth, while “1,888 evaluation events” is the independent unit used for prevalence and score-based inference.</a:t>
            </a:r>
            <a:endParaRPr lang="en-US" sz="970" dirty="0"/>
          </a:p>
        </p:txBody>
      </p:sp>
      <p:sp>
        <p:nvSpPr>
          <p:cNvPr id="40"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What the LLM coded from each narrative</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Definitions of the row-level outputs and how the taxonomy was informed</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GPT-5 nano applied a fixed taxonomy created in an earlier inductive discovery phase; this 100K run tests prevalence, gaps, negative cases, subgroup patterns, and theoretical integration at scale.</a:t>
            </a:r>
            <a:endParaRPr lang="en-US" sz="1110" dirty="0"/>
          </a:p>
        </p:txBody>
      </p:sp>
      <p:sp>
        <p:nvSpPr>
          <p:cNvPr id="7" name="Shape 5"/>
          <p:cNvSpPr/>
          <p:nvPr/>
        </p:nvSpPr>
        <p:spPr>
          <a:xfrm>
            <a:off x="594360" y="1691640"/>
            <a:ext cx="3182112" cy="4343400"/>
          </a:xfrm>
          <a:prstGeom prst="roundRect">
            <a:avLst/>
          </a:prstGeom>
          <a:solidFill>
            <a:srgbClr val="EDF5FA"/>
          </a:solidFill>
          <a:ln w="12700">
            <a:solidFill>
              <a:srgbClr val="D7DEE6"/>
            </a:solidFill>
            <a:prstDash val="solid"/>
          </a:ln>
        </p:spPr>
        <p:txBody>
          <a:bodyPr/>
          <a:lstStyle/>
          <a:p>
            <a:endParaRPr lang="en-US"/>
          </a:p>
        </p:txBody>
      </p:sp>
      <p:sp>
        <p:nvSpPr>
          <p:cNvPr id="8" name="Text 6"/>
          <p:cNvSpPr txBox="1"/>
          <p:nvPr/>
        </p:nvSpPr>
        <p:spPr>
          <a:xfrm>
            <a:off x="740664" y="1847088"/>
            <a:ext cx="2889504" cy="219456"/>
          </a:xfrm>
          <a:prstGeom prst="rect">
            <a:avLst/>
          </a:prstGeom>
          <a:noFill/>
          <a:ln/>
        </p:spPr>
        <p:txBody>
          <a:bodyPr wrap="square" lIns="0" tIns="0" rIns="0" bIns="0" rtlCol="0" anchor="ctr">
            <a:normAutofit/>
          </a:bodyPr>
          <a:lstStyle/>
          <a:p>
            <a:pPr marL="0" indent="0" algn="ctr">
              <a:buNone/>
            </a:pPr>
            <a:r>
              <a:rPr lang="en-US" sz="900" b="1" dirty="0">
                <a:solidFill>
                  <a:srgbClr val="2A6F9E"/>
                </a:solidFill>
                <a:latin typeface="Aptos" pitchFamily="34" charset="0"/>
                <a:ea typeface="Aptos" pitchFamily="34" charset="-122"/>
                <a:cs typeface="Aptos" pitchFamily="34" charset="-120"/>
              </a:rPr>
              <a:t>CORE MULTI-LABEL CODES</a:t>
            </a:r>
            <a:endParaRPr lang="en-US" sz="900" dirty="0"/>
          </a:p>
        </p:txBody>
      </p:sp>
      <p:sp>
        <p:nvSpPr>
          <p:cNvPr id="9" name="Text 7"/>
          <p:cNvSpPr txBox="1"/>
          <p:nvPr/>
        </p:nvSpPr>
        <p:spPr>
          <a:xfrm>
            <a:off x="777240" y="2212848"/>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Environment</a:t>
            </a:r>
            <a:endParaRPr lang="en-US" sz="1020" dirty="0"/>
          </a:p>
        </p:txBody>
      </p:sp>
      <p:sp>
        <p:nvSpPr>
          <p:cNvPr id="10" name="Text 8"/>
          <p:cNvSpPr txBox="1"/>
          <p:nvPr/>
        </p:nvSpPr>
        <p:spPr>
          <a:xfrm>
            <a:off x="777240" y="2459736"/>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What part of the learning environment is being described (e.g., teaching, supervision, workload, psychological safety).</a:t>
            </a:r>
            <a:endParaRPr lang="en-US" sz="915" dirty="0"/>
          </a:p>
        </p:txBody>
      </p:sp>
      <p:sp>
        <p:nvSpPr>
          <p:cNvPr id="11" name="Text 9"/>
          <p:cNvSpPr txBox="1"/>
          <p:nvPr/>
        </p:nvSpPr>
        <p:spPr>
          <a:xfrm>
            <a:off x="777240" y="3291840"/>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Mechanism</a:t>
            </a:r>
            <a:endParaRPr lang="en-US" sz="1020" dirty="0"/>
          </a:p>
        </p:txBody>
      </p:sp>
      <p:sp>
        <p:nvSpPr>
          <p:cNvPr id="12" name="Text 10"/>
          <p:cNvSpPr txBox="1"/>
          <p:nvPr/>
        </p:nvSpPr>
        <p:spPr>
          <a:xfrm>
            <a:off x="777240" y="3538728"/>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How learning/development is described as happening (e.g., coaching, scaffolding, reflection, autonomy).</a:t>
            </a:r>
            <a:endParaRPr lang="en-US" sz="915" dirty="0"/>
          </a:p>
        </p:txBody>
      </p:sp>
      <p:sp>
        <p:nvSpPr>
          <p:cNvPr id="13" name="Text 11"/>
          <p:cNvSpPr txBox="1"/>
          <p:nvPr/>
        </p:nvSpPr>
        <p:spPr>
          <a:xfrm>
            <a:off x="777240" y="4370832"/>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Development</a:t>
            </a:r>
            <a:endParaRPr lang="en-US" sz="1020" dirty="0"/>
          </a:p>
        </p:txBody>
      </p:sp>
      <p:sp>
        <p:nvSpPr>
          <p:cNvPr id="14" name="Text 12"/>
          <p:cNvSpPr txBox="1"/>
          <p:nvPr/>
        </p:nvSpPr>
        <p:spPr>
          <a:xfrm>
            <a:off x="777240" y="4617720"/>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What trainee development is described (e.g., reasoning, teamwork, autonomy, identity).</a:t>
            </a:r>
            <a:endParaRPr lang="en-US" sz="915" dirty="0"/>
          </a:p>
        </p:txBody>
      </p:sp>
      <p:sp>
        <p:nvSpPr>
          <p:cNvPr id="15" name="Shape 13"/>
          <p:cNvSpPr/>
          <p:nvPr/>
        </p:nvSpPr>
        <p:spPr>
          <a:xfrm>
            <a:off x="4087368" y="1691640"/>
            <a:ext cx="3182112" cy="4343400"/>
          </a:xfrm>
          <a:prstGeom prst="roundRect">
            <a:avLst/>
          </a:prstGeom>
          <a:solidFill>
            <a:srgbClr val="EDF7F5"/>
          </a:solidFill>
          <a:ln w="12700">
            <a:solidFill>
              <a:srgbClr val="D7DEE6"/>
            </a:solidFill>
            <a:prstDash val="solid"/>
          </a:ln>
        </p:spPr>
        <p:txBody>
          <a:bodyPr/>
          <a:lstStyle/>
          <a:p>
            <a:endParaRPr lang="en-US"/>
          </a:p>
        </p:txBody>
      </p:sp>
      <p:sp>
        <p:nvSpPr>
          <p:cNvPr id="16" name="Text 14"/>
          <p:cNvSpPr txBox="1"/>
          <p:nvPr/>
        </p:nvSpPr>
        <p:spPr>
          <a:xfrm>
            <a:off x="4233672" y="1847088"/>
            <a:ext cx="2889504" cy="219456"/>
          </a:xfrm>
          <a:prstGeom prst="rect">
            <a:avLst/>
          </a:prstGeom>
          <a:noFill/>
          <a:ln/>
        </p:spPr>
        <p:txBody>
          <a:bodyPr wrap="square" lIns="0" tIns="0" rIns="0" bIns="0" rtlCol="0" anchor="ctr">
            <a:normAutofit/>
          </a:bodyPr>
          <a:lstStyle/>
          <a:p>
            <a:pPr marL="0" indent="0" algn="ctr">
              <a:buNone/>
            </a:pPr>
            <a:r>
              <a:rPr lang="en-US" sz="900" b="1" dirty="0">
                <a:solidFill>
                  <a:srgbClr val="2B8C87"/>
                </a:solidFill>
                <a:latin typeface="Aptos" pitchFamily="34" charset="0"/>
                <a:ea typeface="Aptos" pitchFamily="34" charset="-122"/>
                <a:cs typeface="Aptos" pitchFamily="34" charset="-120"/>
              </a:rPr>
              <a:t>EVALUATION / QUALITY SIGNALS</a:t>
            </a:r>
            <a:endParaRPr lang="en-US" sz="900" dirty="0"/>
          </a:p>
        </p:txBody>
      </p:sp>
      <p:sp>
        <p:nvSpPr>
          <p:cNvPr id="17" name="Text 15"/>
          <p:cNvSpPr txBox="1"/>
          <p:nvPr/>
        </p:nvSpPr>
        <p:spPr>
          <a:xfrm>
            <a:off x="4270248" y="2212848"/>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Performance signal</a:t>
            </a:r>
            <a:endParaRPr lang="en-US" sz="1020" dirty="0"/>
          </a:p>
        </p:txBody>
      </p:sp>
      <p:sp>
        <p:nvSpPr>
          <p:cNvPr id="18" name="Text 16"/>
          <p:cNvSpPr txBox="1"/>
          <p:nvPr/>
        </p:nvSpPr>
        <p:spPr>
          <a:xfrm>
            <a:off x="4270248" y="2459736"/>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positive, mixed, concern, or neutral_non_evaluative.</a:t>
            </a:r>
            <a:endParaRPr lang="en-US" sz="915" dirty="0"/>
          </a:p>
        </p:txBody>
      </p:sp>
      <p:sp>
        <p:nvSpPr>
          <p:cNvPr id="19" name="Text 17"/>
          <p:cNvSpPr txBox="1"/>
          <p:nvPr/>
        </p:nvSpPr>
        <p:spPr>
          <a:xfrm>
            <a:off x="4270248" y="3081528"/>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Specificity (1–5)</a:t>
            </a:r>
            <a:endParaRPr lang="en-US" sz="1020" dirty="0"/>
          </a:p>
        </p:txBody>
      </p:sp>
      <p:sp>
        <p:nvSpPr>
          <p:cNvPr id="20" name="Text 18"/>
          <p:cNvSpPr txBox="1"/>
          <p:nvPr/>
        </p:nvSpPr>
        <p:spPr>
          <a:xfrm>
            <a:off x="4270248" y="3328416"/>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How concrete and behavior-specific the feedback is.</a:t>
            </a:r>
            <a:endParaRPr lang="en-US" sz="915" dirty="0"/>
          </a:p>
        </p:txBody>
      </p:sp>
      <p:sp>
        <p:nvSpPr>
          <p:cNvPr id="21" name="Text 19"/>
          <p:cNvSpPr txBox="1"/>
          <p:nvPr/>
        </p:nvSpPr>
        <p:spPr>
          <a:xfrm>
            <a:off x="4270248" y="3950208"/>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Actionability (1–5)</a:t>
            </a:r>
            <a:endParaRPr lang="en-US" sz="1020" dirty="0"/>
          </a:p>
        </p:txBody>
      </p:sp>
      <p:sp>
        <p:nvSpPr>
          <p:cNvPr id="22" name="Text 20"/>
          <p:cNvSpPr txBox="1"/>
          <p:nvPr/>
        </p:nvSpPr>
        <p:spPr>
          <a:xfrm>
            <a:off x="4270248" y="4197096"/>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How clearly the feedback suggests an improvement or next step.</a:t>
            </a:r>
            <a:endParaRPr lang="en-US" sz="915" dirty="0"/>
          </a:p>
        </p:txBody>
      </p:sp>
      <p:sp>
        <p:nvSpPr>
          <p:cNvPr id="23" name="Text 21"/>
          <p:cNvSpPr txBox="1"/>
          <p:nvPr/>
        </p:nvSpPr>
        <p:spPr>
          <a:xfrm>
            <a:off x="4270248" y="4818888"/>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Confidence (0–100)</a:t>
            </a:r>
            <a:endParaRPr lang="en-US" sz="1020" dirty="0"/>
          </a:p>
        </p:txBody>
      </p:sp>
      <p:sp>
        <p:nvSpPr>
          <p:cNvPr id="24" name="Text 22"/>
          <p:cNvSpPr txBox="1"/>
          <p:nvPr/>
        </p:nvSpPr>
        <p:spPr>
          <a:xfrm>
            <a:off x="4270248" y="5065776"/>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The model’s self-reported confidence in its classification; not a calibrated probability.</a:t>
            </a:r>
            <a:endParaRPr lang="en-US" sz="915" dirty="0"/>
          </a:p>
        </p:txBody>
      </p:sp>
      <p:sp>
        <p:nvSpPr>
          <p:cNvPr id="25" name="Shape 23"/>
          <p:cNvSpPr/>
          <p:nvPr/>
        </p:nvSpPr>
        <p:spPr>
          <a:xfrm>
            <a:off x="7580376" y="1691640"/>
            <a:ext cx="3182112" cy="4343400"/>
          </a:xfrm>
          <a:prstGeom prst="roundRect">
            <a:avLst/>
          </a:prstGeom>
          <a:solidFill>
            <a:srgbClr val="FBF5E9"/>
          </a:solidFill>
          <a:ln w="12700">
            <a:solidFill>
              <a:srgbClr val="D7DEE6"/>
            </a:solidFill>
            <a:prstDash val="solid"/>
          </a:ln>
        </p:spPr>
        <p:txBody>
          <a:bodyPr/>
          <a:lstStyle/>
          <a:p>
            <a:endParaRPr lang="en-US"/>
          </a:p>
        </p:txBody>
      </p:sp>
      <p:sp>
        <p:nvSpPr>
          <p:cNvPr id="26" name="Text 24"/>
          <p:cNvSpPr txBox="1"/>
          <p:nvPr/>
        </p:nvSpPr>
        <p:spPr>
          <a:xfrm>
            <a:off x="7726680" y="1847088"/>
            <a:ext cx="2889504" cy="219456"/>
          </a:xfrm>
          <a:prstGeom prst="rect">
            <a:avLst/>
          </a:prstGeom>
          <a:noFill/>
          <a:ln/>
        </p:spPr>
        <p:txBody>
          <a:bodyPr wrap="square" lIns="0" tIns="0" rIns="0" bIns="0" rtlCol="0" anchor="ctr">
            <a:normAutofit/>
          </a:bodyPr>
          <a:lstStyle/>
          <a:p>
            <a:pPr marL="0" indent="0" algn="ctr">
              <a:buNone/>
            </a:pPr>
            <a:r>
              <a:rPr lang="en-US" sz="900" b="1" dirty="0">
                <a:solidFill>
                  <a:srgbClr val="D49A35"/>
                </a:solidFill>
                <a:latin typeface="Aptos" pitchFamily="34" charset="0"/>
                <a:ea typeface="Aptos" pitchFamily="34" charset="-122"/>
                <a:cs typeface="Aptos" pitchFamily="34" charset="-120"/>
              </a:rPr>
              <a:t>AUDIT / SENSITIZING OUTPUTS</a:t>
            </a:r>
            <a:endParaRPr lang="en-US" sz="900" dirty="0"/>
          </a:p>
        </p:txBody>
      </p:sp>
      <p:sp>
        <p:nvSpPr>
          <p:cNvPr id="27" name="Text 25"/>
          <p:cNvSpPr txBox="1"/>
          <p:nvPr/>
        </p:nvSpPr>
        <p:spPr>
          <a:xfrm>
            <a:off x="7763256" y="2212848"/>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Sensitizing constructs</a:t>
            </a:r>
            <a:endParaRPr lang="en-US" sz="1020" dirty="0"/>
          </a:p>
        </p:txBody>
      </p:sp>
      <p:sp>
        <p:nvSpPr>
          <p:cNvPr id="28" name="Text 26"/>
          <p:cNvSpPr txBox="1"/>
          <p:nvPr/>
        </p:nvSpPr>
        <p:spPr>
          <a:xfrm>
            <a:off x="7763256" y="2459736"/>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Explicit presence of psychological safety, supervision availability, workload/fatigue, burnout, discrimination, handoff failure, error disclosure, serious patient outcome.</a:t>
            </a:r>
            <a:endParaRPr lang="en-US" sz="915" dirty="0"/>
          </a:p>
        </p:txBody>
      </p:sp>
      <p:sp>
        <p:nvSpPr>
          <p:cNvPr id="29" name="Text 27"/>
          <p:cNvSpPr txBox="1"/>
          <p:nvPr/>
        </p:nvSpPr>
        <p:spPr>
          <a:xfrm>
            <a:off x="7763256" y="3291840"/>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Taxonomy-gap flag</a:t>
            </a:r>
            <a:endParaRPr lang="en-US" sz="1020" dirty="0"/>
          </a:p>
        </p:txBody>
      </p:sp>
      <p:sp>
        <p:nvSpPr>
          <p:cNvPr id="30" name="Text 28"/>
          <p:cNvSpPr txBox="1"/>
          <p:nvPr/>
        </p:nvSpPr>
        <p:spPr>
          <a:xfrm>
            <a:off x="7763256" y="3538728"/>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Marks an important concept that is poorly represented by the current codebook.</a:t>
            </a:r>
            <a:endParaRPr lang="en-US" sz="915" dirty="0"/>
          </a:p>
        </p:txBody>
      </p:sp>
      <p:sp>
        <p:nvSpPr>
          <p:cNvPr id="31" name="Text 29"/>
          <p:cNvSpPr txBox="1"/>
          <p:nvPr/>
        </p:nvSpPr>
        <p:spPr>
          <a:xfrm>
            <a:off x="7763256" y="4370832"/>
            <a:ext cx="2761488" cy="201168"/>
          </a:xfrm>
          <a:prstGeom prst="rect">
            <a:avLst/>
          </a:prstGeom>
          <a:noFill/>
          <a:ln/>
        </p:spPr>
        <p:txBody>
          <a:bodyPr wrap="square" lIns="0" tIns="0" rIns="0" bIns="0" rtlCol="0" anchor="ctr">
            <a:normAutofit/>
          </a:bodyPr>
          <a:lstStyle/>
          <a:p>
            <a:pPr marL="0" indent="0" algn="l">
              <a:buNone/>
            </a:pPr>
            <a:r>
              <a:rPr lang="en-US" sz="1020" b="1" dirty="0">
                <a:solidFill>
                  <a:srgbClr val="1F2933"/>
                </a:solidFill>
                <a:latin typeface="Aptos" pitchFamily="34" charset="0"/>
                <a:ea typeface="Aptos" pitchFamily="34" charset="-122"/>
                <a:cs typeface="Aptos" pitchFamily="34" charset="-120"/>
              </a:rPr>
              <a:t>Negative-case flag</a:t>
            </a:r>
            <a:endParaRPr lang="en-US" sz="1020" dirty="0"/>
          </a:p>
        </p:txBody>
      </p:sp>
      <p:sp>
        <p:nvSpPr>
          <p:cNvPr id="32" name="Text 30"/>
          <p:cNvSpPr txBox="1"/>
          <p:nvPr/>
        </p:nvSpPr>
        <p:spPr>
          <a:xfrm>
            <a:off x="7763256" y="4617720"/>
            <a:ext cx="2770632" cy="594360"/>
          </a:xfrm>
          <a:prstGeom prst="rect">
            <a:avLst/>
          </a:prstGeom>
          <a:noFill/>
          <a:ln/>
        </p:spPr>
        <p:txBody>
          <a:bodyPr wrap="square" lIns="0" tIns="0" rIns="0" bIns="0" rtlCol="0" anchor="t">
            <a:normAutofit/>
          </a:bodyPr>
          <a:lstStyle/>
          <a:p>
            <a:pPr marL="0" indent="0" algn="l">
              <a:buNone/>
            </a:pPr>
            <a:r>
              <a:rPr lang="en-US" sz="915" dirty="0">
                <a:solidFill>
                  <a:srgbClr val="1F2933"/>
                </a:solidFill>
                <a:latin typeface="Aptos" pitchFamily="34" charset="0"/>
                <a:ea typeface="Aptos" pitchFamily="34" charset="-122"/>
                <a:cs typeface="Aptos" pitchFamily="34" charset="-120"/>
              </a:rPr>
              <a:t>Marks a distinctly adverse or contradictory case relative to the dominant supportive pattern.</a:t>
            </a:r>
            <a:endParaRPr lang="en-US" sz="915" dirty="0"/>
          </a:p>
        </p:txBody>
      </p:sp>
      <p:sp>
        <p:nvSpPr>
          <p:cNvPr id="33" name="Text 31"/>
          <p:cNvSpPr txBox="1"/>
          <p:nvPr/>
        </p:nvSpPr>
        <p:spPr>
          <a:xfrm>
            <a:off x="713232" y="6190488"/>
            <a:ext cx="10789920" cy="274320"/>
          </a:xfrm>
          <a:prstGeom prst="rect">
            <a:avLst/>
          </a:prstGeom>
          <a:noFill/>
          <a:ln/>
        </p:spPr>
        <p:txBody>
          <a:bodyPr wrap="square" lIns="0" tIns="0" rIns="0" bIns="0" rtlCol="0" anchor="ctr">
            <a:normAutofit/>
          </a:bodyPr>
          <a:lstStyle/>
          <a:p>
            <a:pPr marL="0" indent="0" algn="ctr">
              <a:buNone/>
            </a:pPr>
            <a:r>
              <a:rPr lang="en-US" sz="950" i="1" dirty="0">
                <a:solidFill>
                  <a:srgbClr val="6D7781"/>
                </a:solidFill>
                <a:latin typeface="Aptos" pitchFamily="34" charset="0"/>
                <a:ea typeface="Aptos" pitchFamily="34" charset="-122"/>
                <a:cs typeface="Aptos" pitchFamily="34" charset="-120"/>
              </a:rPr>
              <a:t>Final synthesis model: claude-sonnet-5 (with GPT-5 nano fallback) received aggregate tables—not raw narratives—to generate interpretation, recommendations, action steps, and non-obvious findings.</a:t>
            </a:r>
            <a:endParaRPr lang="en-US" sz="950" dirty="0"/>
          </a:p>
        </p:txBody>
      </p:sp>
      <p:sp>
        <p:nvSpPr>
          <p:cNvPr id="34"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How row-level codes became event-level results</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Aggregation rules and the reading rules needed to interpret every chart correctly</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The 100,000 coded rows were consolidated into 1,888 evaluation events before prevalence, co-occurrence, score-association, and longitudinal inference.</a:t>
            </a:r>
            <a:endParaRPr lang="en-US" sz="1110" dirty="0"/>
          </a:p>
        </p:txBody>
      </p:sp>
      <p:sp>
        <p:nvSpPr>
          <p:cNvPr id="7" name="Shape 5"/>
          <p:cNvSpPr/>
          <p:nvPr/>
        </p:nvSpPr>
        <p:spPr>
          <a:xfrm>
            <a:off x="594360" y="1828800"/>
            <a:ext cx="2514600" cy="1874520"/>
          </a:xfrm>
          <a:prstGeom prst="roundRect">
            <a:avLst/>
          </a:prstGeom>
          <a:solidFill>
            <a:srgbClr val="EDF5FA"/>
          </a:solidFill>
          <a:ln w="12700">
            <a:solidFill>
              <a:srgbClr val="D7DEE6"/>
            </a:solidFill>
            <a:prstDash val="solid"/>
          </a:ln>
        </p:spPr>
        <p:txBody>
          <a:bodyPr/>
          <a:lstStyle/>
          <a:p>
            <a:endParaRPr lang="en-US"/>
          </a:p>
        </p:txBody>
      </p:sp>
      <p:sp>
        <p:nvSpPr>
          <p:cNvPr id="8" name="Shape 6"/>
          <p:cNvSpPr/>
          <p:nvPr/>
        </p:nvSpPr>
        <p:spPr>
          <a:xfrm>
            <a:off x="722376" y="1975104"/>
            <a:ext cx="402336" cy="402336"/>
          </a:xfrm>
          <a:prstGeom prst="ellipse">
            <a:avLst/>
          </a:prstGeom>
          <a:solidFill>
            <a:srgbClr val="2A6F9E"/>
          </a:solidFill>
          <a:ln w="12700">
            <a:solidFill>
              <a:srgbClr val="2A6F9E"/>
            </a:solidFill>
            <a:prstDash val="solid"/>
          </a:ln>
        </p:spPr>
        <p:txBody>
          <a:bodyPr/>
          <a:lstStyle/>
          <a:p>
            <a:endParaRPr lang="en-US"/>
          </a:p>
        </p:txBody>
      </p:sp>
      <p:sp>
        <p:nvSpPr>
          <p:cNvPr id="9" name="Text 7"/>
          <p:cNvSpPr txBox="1"/>
          <p:nvPr/>
        </p:nvSpPr>
        <p:spPr>
          <a:xfrm>
            <a:off x="722376" y="1975104"/>
            <a:ext cx="402336" cy="402336"/>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10" name="Text 8"/>
          <p:cNvSpPr txBox="1"/>
          <p:nvPr/>
        </p:nvSpPr>
        <p:spPr>
          <a:xfrm>
            <a:off x="1234440" y="1984248"/>
            <a:ext cx="1645920" cy="228600"/>
          </a:xfrm>
          <a:prstGeom prst="rect">
            <a:avLst/>
          </a:prstGeom>
          <a:noFill/>
          <a:ln/>
        </p:spPr>
        <p:txBody>
          <a:bodyPr wrap="square" lIns="0" tIns="0" rIns="0" bIns="0" rtlCol="0" anchor="ctr">
            <a:normAutofit/>
          </a:bodyPr>
          <a:lstStyle/>
          <a:p>
            <a:pPr marL="0" indent="0" algn="l">
              <a:buNone/>
            </a:pPr>
            <a:r>
              <a:rPr lang="en-US" sz="930" b="1" dirty="0">
                <a:solidFill>
                  <a:srgbClr val="1F2933"/>
                </a:solidFill>
                <a:latin typeface="Aptos" pitchFamily="34" charset="0"/>
                <a:ea typeface="Aptos" pitchFamily="34" charset="-122"/>
                <a:cs typeface="Aptos" pitchFamily="34" charset="-120"/>
              </a:rPr>
              <a:t>ROW CODING</a:t>
            </a:r>
            <a:endParaRPr lang="en-US" sz="930" dirty="0"/>
          </a:p>
        </p:txBody>
      </p:sp>
      <p:sp>
        <p:nvSpPr>
          <p:cNvPr id="11" name="Text 9"/>
          <p:cNvSpPr txBox="1"/>
          <p:nvPr/>
        </p:nvSpPr>
        <p:spPr>
          <a:xfrm>
            <a:off x="777240" y="2487168"/>
            <a:ext cx="2148840" cy="896112"/>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Each narrative row receives multi-label environment, mechanism, development, performance, quality, and audit outputs.</a:t>
            </a:r>
            <a:endParaRPr lang="en-US" sz="930" dirty="0"/>
          </a:p>
        </p:txBody>
      </p:sp>
      <p:sp>
        <p:nvSpPr>
          <p:cNvPr id="12" name="Shape 10"/>
          <p:cNvSpPr/>
          <p:nvPr/>
        </p:nvSpPr>
        <p:spPr>
          <a:xfrm>
            <a:off x="3474720" y="1828800"/>
            <a:ext cx="2514600" cy="1874520"/>
          </a:xfrm>
          <a:prstGeom prst="roundRect">
            <a:avLst/>
          </a:prstGeom>
          <a:solidFill>
            <a:srgbClr val="EDF7F5"/>
          </a:solidFill>
          <a:ln w="12700">
            <a:solidFill>
              <a:srgbClr val="D7DEE6"/>
            </a:solidFill>
            <a:prstDash val="solid"/>
          </a:ln>
        </p:spPr>
        <p:txBody>
          <a:bodyPr/>
          <a:lstStyle/>
          <a:p>
            <a:endParaRPr lang="en-US"/>
          </a:p>
        </p:txBody>
      </p:sp>
      <p:sp>
        <p:nvSpPr>
          <p:cNvPr id="13" name="Shape 11"/>
          <p:cNvSpPr/>
          <p:nvPr/>
        </p:nvSpPr>
        <p:spPr>
          <a:xfrm>
            <a:off x="3602736" y="1975104"/>
            <a:ext cx="402336" cy="402336"/>
          </a:xfrm>
          <a:prstGeom prst="ellipse">
            <a:avLst/>
          </a:prstGeom>
          <a:solidFill>
            <a:srgbClr val="2B8C87"/>
          </a:solidFill>
          <a:ln w="12700">
            <a:solidFill>
              <a:srgbClr val="2B8C87"/>
            </a:solidFill>
            <a:prstDash val="solid"/>
          </a:ln>
        </p:spPr>
        <p:txBody>
          <a:bodyPr/>
          <a:lstStyle/>
          <a:p>
            <a:endParaRPr lang="en-US"/>
          </a:p>
        </p:txBody>
      </p:sp>
      <p:sp>
        <p:nvSpPr>
          <p:cNvPr id="14" name="Text 12"/>
          <p:cNvSpPr txBox="1"/>
          <p:nvPr/>
        </p:nvSpPr>
        <p:spPr>
          <a:xfrm>
            <a:off x="3602736" y="1975104"/>
            <a:ext cx="402336" cy="402336"/>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15" name="Text 13"/>
          <p:cNvSpPr txBox="1"/>
          <p:nvPr/>
        </p:nvSpPr>
        <p:spPr>
          <a:xfrm>
            <a:off x="4114800" y="1984248"/>
            <a:ext cx="1645920" cy="228600"/>
          </a:xfrm>
          <a:prstGeom prst="rect">
            <a:avLst/>
          </a:prstGeom>
          <a:noFill/>
          <a:ln/>
        </p:spPr>
        <p:txBody>
          <a:bodyPr wrap="square" lIns="0" tIns="0" rIns="0" bIns="0" rtlCol="0" anchor="ctr">
            <a:normAutofit/>
          </a:bodyPr>
          <a:lstStyle/>
          <a:p>
            <a:pPr marL="0" indent="0" algn="l">
              <a:buNone/>
            </a:pPr>
            <a:r>
              <a:rPr lang="en-US" sz="930" b="1" dirty="0">
                <a:solidFill>
                  <a:srgbClr val="1F2933"/>
                </a:solidFill>
                <a:latin typeface="Aptos" pitchFamily="34" charset="0"/>
                <a:ea typeface="Aptos" pitchFamily="34" charset="-122"/>
                <a:cs typeface="Aptos" pitchFamily="34" charset="-120"/>
              </a:rPr>
              <a:t>EVENT AGGREGATION</a:t>
            </a:r>
            <a:endParaRPr lang="en-US" sz="930" dirty="0"/>
          </a:p>
        </p:txBody>
      </p:sp>
      <p:sp>
        <p:nvSpPr>
          <p:cNvPr id="16" name="Text 14"/>
          <p:cNvSpPr txBox="1"/>
          <p:nvPr/>
        </p:nvSpPr>
        <p:spPr>
          <a:xfrm>
            <a:off x="3657600" y="2487168"/>
            <a:ext cx="2148840" cy="896112"/>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Rows sharing the same EVALUATION_ID_HASH are combined; codes are unioned and event-level means/flags are calculated.</a:t>
            </a:r>
            <a:endParaRPr lang="en-US" sz="930" dirty="0"/>
          </a:p>
        </p:txBody>
      </p:sp>
      <p:sp>
        <p:nvSpPr>
          <p:cNvPr id="17" name="Shape 15"/>
          <p:cNvSpPr/>
          <p:nvPr/>
        </p:nvSpPr>
        <p:spPr>
          <a:xfrm>
            <a:off x="6355080" y="1828800"/>
            <a:ext cx="2514600" cy="1874520"/>
          </a:xfrm>
          <a:prstGeom prst="roundRect">
            <a:avLst/>
          </a:prstGeom>
          <a:solidFill>
            <a:srgbClr val="EDF5FA"/>
          </a:solidFill>
          <a:ln w="12700">
            <a:solidFill>
              <a:srgbClr val="D7DEE6"/>
            </a:solidFill>
            <a:prstDash val="solid"/>
          </a:ln>
        </p:spPr>
        <p:txBody>
          <a:bodyPr/>
          <a:lstStyle/>
          <a:p>
            <a:endParaRPr lang="en-US"/>
          </a:p>
        </p:txBody>
      </p:sp>
      <p:sp>
        <p:nvSpPr>
          <p:cNvPr id="18" name="Shape 16"/>
          <p:cNvSpPr/>
          <p:nvPr/>
        </p:nvSpPr>
        <p:spPr>
          <a:xfrm>
            <a:off x="6483096" y="1975104"/>
            <a:ext cx="402336" cy="402336"/>
          </a:xfrm>
          <a:prstGeom prst="ellipse">
            <a:avLst/>
          </a:prstGeom>
          <a:solidFill>
            <a:srgbClr val="2A6F9E"/>
          </a:solidFill>
          <a:ln w="12700">
            <a:solidFill>
              <a:srgbClr val="2A6F9E"/>
            </a:solidFill>
            <a:prstDash val="solid"/>
          </a:ln>
        </p:spPr>
        <p:txBody>
          <a:bodyPr/>
          <a:lstStyle/>
          <a:p>
            <a:endParaRPr lang="en-US"/>
          </a:p>
        </p:txBody>
      </p:sp>
      <p:sp>
        <p:nvSpPr>
          <p:cNvPr id="19" name="Text 17"/>
          <p:cNvSpPr txBox="1"/>
          <p:nvPr/>
        </p:nvSpPr>
        <p:spPr>
          <a:xfrm>
            <a:off x="6483096" y="1975104"/>
            <a:ext cx="402336" cy="402336"/>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20" name="Text 18"/>
          <p:cNvSpPr txBox="1"/>
          <p:nvPr/>
        </p:nvSpPr>
        <p:spPr>
          <a:xfrm>
            <a:off x="6995160" y="1984248"/>
            <a:ext cx="1645920" cy="228600"/>
          </a:xfrm>
          <a:prstGeom prst="rect">
            <a:avLst/>
          </a:prstGeom>
          <a:noFill/>
          <a:ln/>
        </p:spPr>
        <p:txBody>
          <a:bodyPr wrap="square" lIns="0" tIns="0" rIns="0" bIns="0" rtlCol="0" anchor="ctr">
            <a:normAutofit/>
          </a:bodyPr>
          <a:lstStyle/>
          <a:p>
            <a:pPr marL="0" indent="0" algn="l">
              <a:buNone/>
            </a:pPr>
            <a:r>
              <a:rPr lang="en-US" sz="930" b="1" dirty="0">
                <a:solidFill>
                  <a:srgbClr val="1F2933"/>
                </a:solidFill>
                <a:latin typeface="Aptos" pitchFamily="34" charset="0"/>
                <a:ea typeface="Aptos" pitchFamily="34" charset="-122"/>
                <a:cs typeface="Aptos" pitchFamily="34" charset="-120"/>
              </a:rPr>
              <a:t>EVENT-LEVEL ANALYSIS</a:t>
            </a:r>
            <a:endParaRPr lang="en-US" sz="930" dirty="0"/>
          </a:p>
        </p:txBody>
      </p:sp>
      <p:sp>
        <p:nvSpPr>
          <p:cNvPr id="21" name="Text 19"/>
          <p:cNvSpPr txBox="1"/>
          <p:nvPr/>
        </p:nvSpPr>
        <p:spPr>
          <a:xfrm>
            <a:off x="6537960" y="2487168"/>
            <a:ext cx="2148840" cy="896112"/>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Prevalence, co-occurrence, quartile odds ratios, temporal trends, subgroup summaries, and structured-score comparisons are computed.</a:t>
            </a:r>
            <a:endParaRPr lang="en-US" sz="930" dirty="0"/>
          </a:p>
        </p:txBody>
      </p:sp>
      <p:sp>
        <p:nvSpPr>
          <p:cNvPr id="22" name="Shape 20"/>
          <p:cNvSpPr/>
          <p:nvPr/>
        </p:nvSpPr>
        <p:spPr>
          <a:xfrm>
            <a:off x="9235440" y="1828800"/>
            <a:ext cx="2514600" cy="1874520"/>
          </a:xfrm>
          <a:prstGeom prst="roundRect">
            <a:avLst/>
          </a:prstGeom>
          <a:solidFill>
            <a:srgbClr val="EDF7F5"/>
          </a:solidFill>
          <a:ln w="12700">
            <a:solidFill>
              <a:srgbClr val="D7DEE6"/>
            </a:solidFill>
            <a:prstDash val="solid"/>
          </a:ln>
        </p:spPr>
        <p:txBody>
          <a:bodyPr/>
          <a:lstStyle/>
          <a:p>
            <a:endParaRPr lang="en-US"/>
          </a:p>
        </p:txBody>
      </p:sp>
      <p:sp>
        <p:nvSpPr>
          <p:cNvPr id="23" name="Shape 21"/>
          <p:cNvSpPr/>
          <p:nvPr/>
        </p:nvSpPr>
        <p:spPr>
          <a:xfrm>
            <a:off x="9363456" y="1975104"/>
            <a:ext cx="402336" cy="402336"/>
          </a:xfrm>
          <a:prstGeom prst="ellipse">
            <a:avLst/>
          </a:prstGeom>
          <a:solidFill>
            <a:srgbClr val="2B8C87"/>
          </a:solidFill>
          <a:ln w="12700">
            <a:solidFill>
              <a:srgbClr val="2B8C87"/>
            </a:solidFill>
            <a:prstDash val="solid"/>
          </a:ln>
        </p:spPr>
        <p:txBody>
          <a:bodyPr/>
          <a:lstStyle/>
          <a:p>
            <a:endParaRPr lang="en-US"/>
          </a:p>
        </p:txBody>
      </p:sp>
      <p:sp>
        <p:nvSpPr>
          <p:cNvPr id="24" name="Text 22"/>
          <p:cNvSpPr txBox="1"/>
          <p:nvPr/>
        </p:nvSpPr>
        <p:spPr>
          <a:xfrm>
            <a:off x="9363456" y="1975104"/>
            <a:ext cx="402336" cy="402336"/>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4</a:t>
            </a:r>
            <a:endParaRPr lang="en-US" sz="1050" dirty="0"/>
          </a:p>
        </p:txBody>
      </p:sp>
      <p:sp>
        <p:nvSpPr>
          <p:cNvPr id="25" name="Text 23"/>
          <p:cNvSpPr txBox="1"/>
          <p:nvPr/>
        </p:nvSpPr>
        <p:spPr>
          <a:xfrm>
            <a:off x="9875520" y="1984248"/>
            <a:ext cx="1645920" cy="228600"/>
          </a:xfrm>
          <a:prstGeom prst="rect">
            <a:avLst/>
          </a:prstGeom>
          <a:noFill/>
          <a:ln/>
        </p:spPr>
        <p:txBody>
          <a:bodyPr wrap="square" lIns="0" tIns="0" rIns="0" bIns="0" rtlCol="0" anchor="ctr">
            <a:normAutofit/>
          </a:bodyPr>
          <a:lstStyle/>
          <a:p>
            <a:pPr marL="0" indent="0" algn="l">
              <a:buNone/>
            </a:pPr>
            <a:r>
              <a:rPr lang="en-US" sz="930" b="1" dirty="0">
                <a:solidFill>
                  <a:srgbClr val="1F2933"/>
                </a:solidFill>
                <a:latin typeface="Aptos" pitchFamily="34" charset="0"/>
                <a:ea typeface="Aptos" pitchFamily="34" charset="-122"/>
                <a:cs typeface="Aptos" pitchFamily="34" charset="-120"/>
              </a:rPr>
              <a:t>LLM SYNTHESIS</a:t>
            </a:r>
            <a:endParaRPr lang="en-US" sz="930" dirty="0"/>
          </a:p>
        </p:txBody>
      </p:sp>
      <p:sp>
        <p:nvSpPr>
          <p:cNvPr id="26" name="Text 24"/>
          <p:cNvSpPr txBox="1"/>
          <p:nvPr/>
        </p:nvSpPr>
        <p:spPr>
          <a:xfrm>
            <a:off x="9418320" y="2487168"/>
            <a:ext cx="2148840" cy="896112"/>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Claude Sonnet 5 interprets aggregate tables, identifies cross-chart patterns, non-obvious findings, recommendations, and action steps.</a:t>
            </a:r>
            <a:endParaRPr lang="en-US" sz="930" dirty="0"/>
          </a:p>
        </p:txBody>
      </p:sp>
      <p:sp>
        <p:nvSpPr>
          <p:cNvPr id="27" name="Shape 25"/>
          <p:cNvSpPr/>
          <p:nvPr/>
        </p:nvSpPr>
        <p:spPr>
          <a:xfrm>
            <a:off x="731520" y="4160520"/>
            <a:ext cx="3383280" cy="1417320"/>
          </a:xfrm>
          <a:prstGeom prst="roundRect">
            <a:avLst>
              <a:gd name="adj" fmla="val 2581"/>
            </a:avLst>
          </a:prstGeom>
          <a:solidFill>
            <a:srgbClr val="EDF5FA"/>
          </a:solidFill>
          <a:ln w="12700">
            <a:solidFill>
              <a:srgbClr val="D7DEE6"/>
            </a:solidFill>
            <a:prstDash val="solid"/>
          </a:ln>
        </p:spPr>
        <p:txBody>
          <a:bodyPr/>
          <a:lstStyle/>
          <a:p>
            <a:endParaRPr lang="en-US"/>
          </a:p>
        </p:txBody>
      </p:sp>
      <p:sp>
        <p:nvSpPr>
          <p:cNvPr id="28" name="Shape 26"/>
          <p:cNvSpPr/>
          <p:nvPr/>
        </p:nvSpPr>
        <p:spPr>
          <a:xfrm>
            <a:off x="731520" y="4160520"/>
            <a:ext cx="54864" cy="1417320"/>
          </a:xfrm>
          <a:prstGeom prst="rect">
            <a:avLst/>
          </a:prstGeom>
          <a:solidFill>
            <a:srgbClr val="2A6F9E"/>
          </a:solidFill>
          <a:ln w="12700">
            <a:solidFill>
              <a:srgbClr val="2A6F9E"/>
            </a:solidFill>
            <a:prstDash val="solid"/>
          </a:ln>
        </p:spPr>
        <p:txBody>
          <a:bodyPr/>
          <a:lstStyle/>
          <a:p>
            <a:endParaRPr lang="en-US"/>
          </a:p>
        </p:txBody>
      </p:sp>
      <p:sp>
        <p:nvSpPr>
          <p:cNvPr id="29" name="Text 27"/>
          <p:cNvSpPr txBox="1"/>
          <p:nvPr/>
        </p:nvSpPr>
        <p:spPr>
          <a:xfrm>
            <a:off x="877824" y="4251960"/>
            <a:ext cx="312724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MULTI-LABEL OUTPUT</a:t>
            </a:r>
            <a:endParaRPr lang="en-US" sz="860" dirty="0"/>
          </a:p>
        </p:txBody>
      </p:sp>
      <p:sp>
        <p:nvSpPr>
          <p:cNvPr id="30" name="Text 28"/>
          <p:cNvSpPr txBox="1"/>
          <p:nvPr/>
        </p:nvSpPr>
        <p:spPr>
          <a:xfrm>
            <a:off x="877824" y="4471416"/>
            <a:ext cx="3127248" cy="10332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One event can contain many categories; prevalence percentages therefore do not sum to 100%.</a:t>
            </a:r>
            <a:endParaRPr lang="en-US" sz="960" dirty="0"/>
          </a:p>
        </p:txBody>
      </p:sp>
      <p:sp>
        <p:nvSpPr>
          <p:cNvPr id="31" name="Shape 29"/>
          <p:cNvSpPr/>
          <p:nvPr/>
        </p:nvSpPr>
        <p:spPr>
          <a:xfrm>
            <a:off x="4407408" y="4160520"/>
            <a:ext cx="3383280" cy="1417320"/>
          </a:xfrm>
          <a:prstGeom prst="roundRect">
            <a:avLst>
              <a:gd name="adj" fmla="val 2581"/>
            </a:avLst>
          </a:prstGeom>
          <a:solidFill>
            <a:srgbClr val="FBF5E9"/>
          </a:solidFill>
          <a:ln w="12700">
            <a:solidFill>
              <a:srgbClr val="D7DEE6"/>
            </a:solidFill>
            <a:prstDash val="solid"/>
          </a:ln>
        </p:spPr>
        <p:txBody>
          <a:bodyPr/>
          <a:lstStyle/>
          <a:p>
            <a:endParaRPr lang="en-US"/>
          </a:p>
        </p:txBody>
      </p:sp>
      <p:sp>
        <p:nvSpPr>
          <p:cNvPr id="32" name="Shape 30"/>
          <p:cNvSpPr/>
          <p:nvPr/>
        </p:nvSpPr>
        <p:spPr>
          <a:xfrm>
            <a:off x="4407408" y="4160520"/>
            <a:ext cx="54864" cy="1417320"/>
          </a:xfrm>
          <a:prstGeom prst="rect">
            <a:avLst/>
          </a:prstGeom>
          <a:solidFill>
            <a:srgbClr val="D49A35"/>
          </a:solidFill>
          <a:ln w="12700">
            <a:solidFill>
              <a:srgbClr val="D49A35"/>
            </a:solidFill>
            <a:prstDash val="solid"/>
          </a:ln>
        </p:spPr>
        <p:txBody>
          <a:bodyPr/>
          <a:lstStyle/>
          <a:p>
            <a:endParaRPr lang="en-US"/>
          </a:p>
        </p:txBody>
      </p:sp>
      <p:sp>
        <p:nvSpPr>
          <p:cNvPr id="33" name="Text 31"/>
          <p:cNvSpPr txBox="1"/>
          <p:nvPr/>
        </p:nvSpPr>
        <p:spPr>
          <a:xfrm>
            <a:off x="4553712" y="4251960"/>
            <a:ext cx="312724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ASSOCIATION ≠ CAUSATION</a:t>
            </a:r>
            <a:endParaRPr lang="en-US" sz="860" dirty="0"/>
          </a:p>
        </p:txBody>
      </p:sp>
      <p:sp>
        <p:nvSpPr>
          <p:cNvPr id="34" name="Text 32"/>
          <p:cNvSpPr txBox="1"/>
          <p:nvPr/>
        </p:nvSpPr>
        <p:spPr>
          <a:xfrm>
            <a:off x="4553712" y="4471416"/>
            <a:ext cx="3127248" cy="10332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Odds ratios show whether themes are more common in high- vs low-score events. They do not show that a theme caused the score.</a:t>
            </a:r>
            <a:endParaRPr lang="en-US" sz="960" dirty="0"/>
          </a:p>
        </p:txBody>
      </p:sp>
      <p:sp>
        <p:nvSpPr>
          <p:cNvPr id="35" name="Shape 33"/>
          <p:cNvSpPr/>
          <p:nvPr/>
        </p:nvSpPr>
        <p:spPr>
          <a:xfrm>
            <a:off x="8083296" y="4160520"/>
            <a:ext cx="3383280" cy="1417320"/>
          </a:xfrm>
          <a:prstGeom prst="roundRect">
            <a:avLst>
              <a:gd name="adj" fmla="val 2581"/>
            </a:avLst>
          </a:prstGeom>
          <a:solidFill>
            <a:srgbClr val="F9EFEF"/>
          </a:solidFill>
          <a:ln w="12700">
            <a:solidFill>
              <a:srgbClr val="D7DEE6"/>
            </a:solidFill>
            <a:prstDash val="solid"/>
          </a:ln>
        </p:spPr>
        <p:txBody>
          <a:bodyPr/>
          <a:lstStyle/>
          <a:p>
            <a:endParaRPr lang="en-US"/>
          </a:p>
        </p:txBody>
      </p:sp>
      <p:sp>
        <p:nvSpPr>
          <p:cNvPr id="36" name="Shape 34"/>
          <p:cNvSpPr/>
          <p:nvPr/>
        </p:nvSpPr>
        <p:spPr>
          <a:xfrm>
            <a:off x="8083296" y="4160520"/>
            <a:ext cx="54864" cy="1417320"/>
          </a:xfrm>
          <a:prstGeom prst="rect">
            <a:avLst/>
          </a:prstGeom>
          <a:solidFill>
            <a:srgbClr val="B64A4A"/>
          </a:solidFill>
          <a:ln w="12700">
            <a:solidFill>
              <a:srgbClr val="B64A4A"/>
            </a:solidFill>
            <a:prstDash val="solid"/>
          </a:ln>
        </p:spPr>
        <p:txBody>
          <a:bodyPr/>
          <a:lstStyle/>
          <a:p>
            <a:endParaRPr lang="en-US"/>
          </a:p>
        </p:txBody>
      </p:sp>
      <p:sp>
        <p:nvSpPr>
          <p:cNvPr id="37" name="Text 35"/>
          <p:cNvSpPr txBox="1"/>
          <p:nvPr/>
        </p:nvSpPr>
        <p:spPr>
          <a:xfrm>
            <a:off x="8229600" y="4251960"/>
            <a:ext cx="3127248" cy="201168"/>
          </a:xfrm>
          <a:prstGeom prst="rect">
            <a:avLst/>
          </a:prstGeom>
          <a:noFill/>
          <a:ln/>
        </p:spPr>
        <p:txBody>
          <a:bodyPr wrap="square" lIns="0" tIns="0" rIns="0" bIns="0" rtlCol="0" anchor="ctr">
            <a:normAutofit/>
          </a:bodyPr>
          <a:lstStyle/>
          <a:p>
            <a:pPr marL="0" indent="0" algn="l">
              <a:buNone/>
            </a:pPr>
            <a:r>
              <a:rPr lang="en-US" sz="860" b="1" dirty="0">
                <a:solidFill>
                  <a:srgbClr val="B64A4A"/>
                </a:solidFill>
                <a:latin typeface="Aptos" pitchFamily="34" charset="0"/>
                <a:ea typeface="Aptos" pitchFamily="34" charset="-122"/>
                <a:cs typeface="Aptos" pitchFamily="34" charset="-120"/>
              </a:rPr>
              <a:t>EVENT-LEVEL SATURATION</a:t>
            </a:r>
            <a:endParaRPr lang="en-US" sz="860" dirty="0"/>
          </a:p>
        </p:txBody>
      </p:sp>
      <p:sp>
        <p:nvSpPr>
          <p:cNvPr id="38" name="Text 36"/>
          <p:cNvSpPr txBox="1"/>
          <p:nvPr/>
        </p:nvSpPr>
        <p:spPr>
          <a:xfrm>
            <a:off x="8229600" y="4471416"/>
            <a:ext cx="3127248" cy="10332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Because each event contains many rows, a category only has to appear once to count as “present.” Add row-level prevalence for publication-quality interpretation.</a:t>
            </a:r>
            <a:endParaRPr lang="en-US" sz="960" dirty="0"/>
          </a:p>
        </p:txBody>
      </p:sp>
      <p:sp>
        <p:nvSpPr>
          <p:cNvPr id="39" name="Text 37"/>
          <p:cNvSpPr txBox="1"/>
          <p:nvPr/>
        </p:nvSpPr>
        <p:spPr>
          <a:xfrm>
            <a:off x="1143000" y="5870448"/>
            <a:ext cx="9875520" cy="274320"/>
          </a:xfrm>
          <a:prstGeom prst="rect">
            <a:avLst/>
          </a:prstGeom>
          <a:noFill/>
          <a:ln/>
        </p:spPr>
        <p:txBody>
          <a:bodyPr wrap="square" lIns="0" tIns="0" rIns="0" bIns="0" rtlCol="0" anchor="ctr">
            <a:normAutofit/>
          </a:bodyPr>
          <a:lstStyle/>
          <a:p>
            <a:pPr marL="0" indent="0" algn="ctr">
              <a:buNone/>
            </a:pPr>
            <a:r>
              <a:rPr lang="en-US" sz="1100" b="1" dirty="0">
                <a:solidFill>
                  <a:srgbClr val="163A5F"/>
                </a:solidFill>
                <a:latin typeface="Aptos" pitchFamily="34" charset="0"/>
                <a:ea typeface="Aptos" pitchFamily="34" charset="-122"/>
                <a:cs typeface="Aptos" pitchFamily="34" charset="-120"/>
              </a:rPr>
              <a:t>Core methodological principle: qualitative depth = 100,000 coded narratives; statistical independence = 1,888 evaluation events.</a:t>
            </a:r>
            <a:endParaRPr lang="en-US" sz="1100" dirty="0"/>
          </a:p>
        </p:txBody>
      </p:sp>
      <p:sp>
        <p:nvSpPr>
          <p:cNvPr id="40"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Learning-environment prevalence</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What features of the learning environment appear somewhere within each evaluation event?</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Faculty teaching/feedback is nearly universal; psychological safety, teaching infrastructure, workload, wellbeing, supervision, and assessment also appear in most events.</a:t>
            </a:r>
            <a:endParaRPr lang="en-US" sz="1110" dirty="0"/>
          </a:p>
        </p:txBody>
      </p:sp>
      <p:pic>
        <p:nvPicPr>
          <p:cNvPr id="7" name="Image 0" descr="/mnt/data/01_environment_prevalence(3).png"/>
          <p:cNvPicPr>
            <a:picLocks noChangeAspect="1"/>
          </p:cNvPicPr>
          <p:nvPr/>
        </p:nvPicPr>
        <p:blipFill>
          <a:blip r:embed="rId3"/>
          <a:stretch>
            <a:fillRect/>
          </a:stretch>
        </p:blipFill>
        <p:spPr>
          <a:xfrm>
            <a:off x="457200" y="1806034"/>
            <a:ext cx="8549640" cy="4516948"/>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All 1,888 evaluation events after row-level environment codes were aggregated.</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Percent of evaluation events containing at least one row assigned to each environment category.</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Longer bars mean a theme appears in more events. Because an event contains many rows and labels are multi-label, high prevalence does not mean every comment discussed that theme. “No explicit feature” can coexist at event level with explicit themes because different rows within the same event can differ.</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Developmental-outcome prevalence</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What kinds of trainee development are most often described?</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Communication/teamwork, feedback receptivity, clinical reasoning, and autonomy are the dominant developmental outcomes—more visible than scholarship or procedural competence.</a:t>
            </a:r>
            <a:endParaRPr lang="en-US" sz="1110" dirty="0"/>
          </a:p>
        </p:txBody>
      </p:sp>
      <p:pic>
        <p:nvPicPr>
          <p:cNvPr id="7" name="Image 0" descr="/mnt/data/02_development_prevalence(2).png"/>
          <p:cNvPicPr>
            <a:picLocks noChangeAspect="1"/>
          </p:cNvPicPr>
          <p:nvPr/>
        </p:nvPicPr>
        <p:blipFill>
          <a:blip r:embed="rId3"/>
          <a:stretch>
            <a:fillRect/>
          </a:stretch>
        </p:blipFill>
        <p:spPr>
          <a:xfrm>
            <a:off x="457200" y="1891614"/>
            <a:ext cx="8549640" cy="4345789"/>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Evaluation events with row-level developmental codes aggregated across all narratives in the event.</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Percent of events in which each developmental outcome was described at least once.</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This shows what kinds of development are described in the evaluation corpus. It does not prove that the coded environment caused the developmental outcome. The prominence of communication, reflection/self-directed learning, reasoning, and autonomy suggests that the evaluation system captures broad professional development, not only technical skill.</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Learning and development mechanisms</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How is learning described as happening?</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Iterative feedback/coaching and direct supervision/scaffolding are the dominant mechanisms, followed by reflection, structured teaching, autonomy, and repeated clinical exposure.</a:t>
            </a:r>
            <a:endParaRPr lang="en-US" sz="1110" dirty="0"/>
          </a:p>
        </p:txBody>
      </p:sp>
      <p:pic>
        <p:nvPicPr>
          <p:cNvPr id="7" name="Image 0" descr="/mnt/data/03_mechanism_prevalence(2).png"/>
          <p:cNvPicPr>
            <a:picLocks noChangeAspect="1"/>
          </p:cNvPicPr>
          <p:nvPr/>
        </p:nvPicPr>
        <p:blipFill>
          <a:blip r:embed="rId3"/>
          <a:stretch>
            <a:fillRect/>
          </a:stretch>
        </p:blipFill>
        <p:spPr>
          <a:xfrm>
            <a:off x="457200" y="1841518"/>
            <a:ext cx="8549640" cy="4445980"/>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Evaluation events with row-level mechanism codes aggregated across their narrative responses.</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Percent of evaluation events in which each learning mechanism appears at least once.</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Mechanisms describe the “how” of learning, not the outcome. The pattern supports a recurring cycle: observe/work → receive coaching → reflect → receive scaffolding → assume greater responsibility.</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Classifier confidence and performance-signal distribution</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Two quality checks on the row-level model outputs</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Most non-zero confidence scores cluster above the 60-point review threshold, but a large spike at zero requires audit; performance signals are overwhelmingly positive.</a:t>
            </a:r>
            <a:endParaRPr lang="en-US" sz="1110" dirty="0"/>
          </a:p>
        </p:txBody>
      </p:sp>
      <p:pic>
        <p:nvPicPr>
          <p:cNvPr id="7" name="Image 0" descr="/mnt/data/04_confidence_distribution(2).png"/>
          <p:cNvPicPr>
            <a:picLocks noChangeAspect="1"/>
          </p:cNvPicPr>
          <p:nvPr/>
        </p:nvPicPr>
        <p:blipFill>
          <a:blip r:embed="rId3"/>
          <a:stretch>
            <a:fillRect/>
          </a:stretch>
        </p:blipFill>
        <p:spPr>
          <a:xfrm>
            <a:off x="502920" y="1888035"/>
            <a:ext cx="5486400" cy="3447691"/>
          </a:xfrm>
          <a:prstGeom prst="rect">
            <a:avLst/>
          </a:prstGeom>
        </p:spPr>
      </p:pic>
      <p:pic>
        <p:nvPicPr>
          <p:cNvPr id="8" name="Image 1" descr="/mnt/data/05_performance_signal(2).png"/>
          <p:cNvPicPr>
            <a:picLocks noChangeAspect="1"/>
          </p:cNvPicPr>
          <p:nvPr/>
        </p:nvPicPr>
        <p:blipFill>
          <a:blip r:embed="rId4"/>
          <a:stretch>
            <a:fillRect/>
          </a:stretch>
        </p:blipFill>
        <p:spPr>
          <a:xfrm>
            <a:off x="6172200" y="1718271"/>
            <a:ext cx="5486400" cy="3787217"/>
          </a:xfrm>
          <a:prstGeom prst="rect">
            <a:avLst/>
          </a:prstGeom>
        </p:spPr>
      </p:pic>
      <p:sp>
        <p:nvSpPr>
          <p:cNvPr id="9" name="Shape 5"/>
          <p:cNvSpPr/>
          <p:nvPr/>
        </p:nvSpPr>
        <p:spPr>
          <a:xfrm>
            <a:off x="658368" y="5623560"/>
            <a:ext cx="3429000" cy="777240"/>
          </a:xfrm>
          <a:prstGeom prst="roundRect">
            <a:avLst>
              <a:gd name="adj" fmla="val 4706"/>
            </a:avLst>
          </a:prstGeom>
          <a:solidFill>
            <a:srgbClr val="F9EFEF"/>
          </a:solidFill>
          <a:ln w="12700">
            <a:solidFill>
              <a:srgbClr val="D7DEE6"/>
            </a:solidFill>
            <a:prstDash val="solid"/>
          </a:ln>
        </p:spPr>
        <p:txBody>
          <a:bodyPr/>
          <a:lstStyle/>
          <a:p>
            <a:endParaRPr lang="en-US"/>
          </a:p>
        </p:txBody>
      </p:sp>
      <p:sp>
        <p:nvSpPr>
          <p:cNvPr id="10" name="Shape 6"/>
          <p:cNvSpPr/>
          <p:nvPr/>
        </p:nvSpPr>
        <p:spPr>
          <a:xfrm>
            <a:off x="658368" y="5623560"/>
            <a:ext cx="54864" cy="777240"/>
          </a:xfrm>
          <a:prstGeom prst="rect">
            <a:avLst/>
          </a:prstGeom>
          <a:solidFill>
            <a:srgbClr val="B64A4A"/>
          </a:solidFill>
          <a:ln w="12700">
            <a:solidFill>
              <a:srgbClr val="B64A4A"/>
            </a:solidFill>
            <a:prstDash val="solid"/>
          </a:ln>
        </p:spPr>
        <p:txBody>
          <a:bodyPr/>
          <a:lstStyle/>
          <a:p>
            <a:endParaRPr lang="en-US"/>
          </a:p>
        </p:txBody>
      </p:sp>
      <p:sp>
        <p:nvSpPr>
          <p:cNvPr id="11" name="Text 7"/>
          <p:cNvSpPr txBox="1"/>
          <p:nvPr/>
        </p:nvSpPr>
        <p:spPr>
          <a:xfrm>
            <a:off x="804672" y="5715000"/>
            <a:ext cx="3172968" cy="201168"/>
          </a:xfrm>
          <a:prstGeom prst="rect">
            <a:avLst/>
          </a:prstGeom>
          <a:noFill/>
          <a:ln/>
        </p:spPr>
        <p:txBody>
          <a:bodyPr wrap="square" lIns="0" tIns="0" rIns="0" bIns="0" rtlCol="0" anchor="ctr">
            <a:normAutofit/>
          </a:bodyPr>
          <a:lstStyle/>
          <a:p>
            <a:pPr marL="0" indent="0" algn="l">
              <a:buNone/>
            </a:pPr>
            <a:r>
              <a:rPr lang="en-US" sz="860" b="1" dirty="0">
                <a:solidFill>
                  <a:srgbClr val="B64A4A"/>
                </a:solidFill>
                <a:latin typeface="Aptos" pitchFamily="34" charset="0"/>
                <a:ea typeface="Aptos" pitchFamily="34" charset="-122"/>
                <a:cs typeface="Aptos" pitchFamily="34" charset="-120"/>
              </a:rPr>
              <a:t>CONFIDENCE</a:t>
            </a:r>
            <a:endParaRPr lang="en-US" sz="860" dirty="0"/>
          </a:p>
        </p:txBody>
      </p:sp>
      <p:sp>
        <p:nvSpPr>
          <p:cNvPr id="12" name="Text 8"/>
          <p:cNvSpPr txBox="1"/>
          <p:nvPr/>
        </p:nvSpPr>
        <p:spPr>
          <a:xfrm>
            <a:off x="804672" y="5934456"/>
            <a:ext cx="3172968" cy="3931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Self-reported model confidence (0–100). The zero spike may represent genuine ambiguity, missing assignments, or a prompt/parsing artifact.</a:t>
            </a:r>
            <a:endParaRPr lang="en-US" sz="960" dirty="0"/>
          </a:p>
        </p:txBody>
      </p:sp>
      <p:sp>
        <p:nvSpPr>
          <p:cNvPr id="13" name="Shape 9"/>
          <p:cNvSpPr/>
          <p:nvPr/>
        </p:nvSpPr>
        <p:spPr>
          <a:xfrm>
            <a:off x="4379976" y="5623560"/>
            <a:ext cx="3429000" cy="777240"/>
          </a:xfrm>
          <a:prstGeom prst="roundRect">
            <a:avLst>
              <a:gd name="adj" fmla="val 4706"/>
            </a:avLst>
          </a:prstGeom>
          <a:solidFill>
            <a:srgbClr val="EDF5FA"/>
          </a:solidFill>
          <a:ln w="12700">
            <a:solidFill>
              <a:srgbClr val="D7DEE6"/>
            </a:solidFill>
            <a:prstDash val="solid"/>
          </a:ln>
        </p:spPr>
        <p:txBody>
          <a:bodyPr/>
          <a:lstStyle/>
          <a:p>
            <a:endParaRPr lang="en-US"/>
          </a:p>
        </p:txBody>
      </p:sp>
      <p:sp>
        <p:nvSpPr>
          <p:cNvPr id="14" name="Shape 10"/>
          <p:cNvSpPr/>
          <p:nvPr/>
        </p:nvSpPr>
        <p:spPr>
          <a:xfrm>
            <a:off x="4379976" y="5623560"/>
            <a:ext cx="54864" cy="777240"/>
          </a:xfrm>
          <a:prstGeom prst="rect">
            <a:avLst/>
          </a:prstGeom>
          <a:solidFill>
            <a:srgbClr val="2A6F9E"/>
          </a:solidFill>
          <a:ln w="12700">
            <a:solidFill>
              <a:srgbClr val="2A6F9E"/>
            </a:solidFill>
            <a:prstDash val="solid"/>
          </a:ln>
        </p:spPr>
        <p:txBody>
          <a:bodyPr/>
          <a:lstStyle/>
          <a:p>
            <a:endParaRPr lang="en-US"/>
          </a:p>
        </p:txBody>
      </p:sp>
      <p:sp>
        <p:nvSpPr>
          <p:cNvPr id="15" name="Text 11"/>
          <p:cNvSpPr txBox="1"/>
          <p:nvPr/>
        </p:nvSpPr>
        <p:spPr>
          <a:xfrm>
            <a:off x="4526280" y="5715000"/>
            <a:ext cx="317296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PERFORMANCE SIGNAL</a:t>
            </a:r>
            <a:endParaRPr lang="en-US" sz="860" dirty="0"/>
          </a:p>
        </p:txBody>
      </p:sp>
      <p:sp>
        <p:nvSpPr>
          <p:cNvPr id="16" name="Text 12"/>
          <p:cNvSpPr txBox="1"/>
          <p:nvPr/>
        </p:nvSpPr>
        <p:spPr>
          <a:xfrm>
            <a:off x="4526280" y="5934456"/>
            <a:ext cx="3172968" cy="3931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Narrative classification: positive, neutral/non-evaluative, mixed, or concern. Positive dominates strongly.</a:t>
            </a:r>
            <a:endParaRPr lang="en-US" sz="960" dirty="0"/>
          </a:p>
        </p:txBody>
      </p:sp>
      <p:sp>
        <p:nvSpPr>
          <p:cNvPr id="17" name="Shape 13"/>
          <p:cNvSpPr/>
          <p:nvPr/>
        </p:nvSpPr>
        <p:spPr>
          <a:xfrm>
            <a:off x="8101584" y="5623560"/>
            <a:ext cx="3429000" cy="777240"/>
          </a:xfrm>
          <a:prstGeom prst="roundRect">
            <a:avLst>
              <a:gd name="adj" fmla="val 4706"/>
            </a:avLst>
          </a:prstGeom>
          <a:solidFill>
            <a:srgbClr val="EDF7F5"/>
          </a:solidFill>
          <a:ln w="12700">
            <a:solidFill>
              <a:srgbClr val="D7DEE6"/>
            </a:solidFill>
            <a:prstDash val="solid"/>
          </a:ln>
        </p:spPr>
        <p:txBody>
          <a:bodyPr/>
          <a:lstStyle/>
          <a:p>
            <a:endParaRPr lang="en-US"/>
          </a:p>
        </p:txBody>
      </p:sp>
      <p:sp>
        <p:nvSpPr>
          <p:cNvPr id="18" name="Shape 14"/>
          <p:cNvSpPr/>
          <p:nvPr/>
        </p:nvSpPr>
        <p:spPr>
          <a:xfrm>
            <a:off x="8101584" y="5623560"/>
            <a:ext cx="54864" cy="777240"/>
          </a:xfrm>
          <a:prstGeom prst="rect">
            <a:avLst/>
          </a:prstGeom>
          <a:solidFill>
            <a:srgbClr val="2B8C87"/>
          </a:solidFill>
          <a:ln w="12700">
            <a:solidFill>
              <a:srgbClr val="2B8C87"/>
            </a:solidFill>
            <a:prstDash val="solid"/>
          </a:ln>
        </p:spPr>
        <p:txBody>
          <a:bodyPr/>
          <a:lstStyle/>
          <a:p>
            <a:endParaRPr lang="en-US"/>
          </a:p>
        </p:txBody>
      </p:sp>
      <p:sp>
        <p:nvSpPr>
          <p:cNvPr id="19" name="Text 15"/>
          <p:cNvSpPr txBox="1"/>
          <p:nvPr/>
        </p:nvSpPr>
        <p:spPr>
          <a:xfrm>
            <a:off x="8247888" y="5715000"/>
            <a:ext cx="317296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WHAT TO DO</a:t>
            </a:r>
            <a:endParaRPr lang="en-US" sz="860" dirty="0"/>
          </a:p>
        </p:txBody>
      </p:sp>
      <p:sp>
        <p:nvSpPr>
          <p:cNvPr id="20" name="Text 16"/>
          <p:cNvSpPr txBox="1"/>
          <p:nvPr/>
        </p:nvSpPr>
        <p:spPr>
          <a:xfrm>
            <a:off x="8247888" y="5934456"/>
            <a:ext cx="3172968" cy="3931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Human-audit zero-confidence rows and oversample mixed/concern cases. Validate with precision, recall, F1, and agreement—not accuracy alone.</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Environment categories associated with structured-score quartiles</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Odds ratio: presence in high-score evaluations versus low-score evaluations</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Many environmental themes are more common in lower-scoring evaluations—especially workflow/system barriers, workload/complexity, wellbeing strain, equity/discrimination context, rotation exposure, and assessment context.</a:t>
            </a:r>
            <a:endParaRPr lang="en-US" sz="1110" dirty="0"/>
          </a:p>
        </p:txBody>
      </p:sp>
      <p:pic>
        <p:nvPicPr>
          <p:cNvPr id="7" name="Image 0" descr="/mnt/data/06_high_vs_low_score_odds_ratios(2).png"/>
          <p:cNvPicPr>
            <a:picLocks noChangeAspect="1"/>
          </p:cNvPicPr>
          <p:nvPr/>
        </p:nvPicPr>
        <p:blipFill>
          <a:blip r:embed="rId3"/>
          <a:stretch>
            <a:fillRect/>
          </a:stretch>
        </p:blipFill>
        <p:spPr>
          <a:xfrm>
            <a:off x="652664" y="1618488"/>
            <a:ext cx="8158712" cy="4892040"/>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Evaluation events with structured performance scores, split into upper-score and lower-score quartiles.</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Odds ratio with 95% uncertainty interval for whether each environment code appears in high- versus low-score events.</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OR = 1 means no difference. OR &lt; 1 means the theme is more common in low-score evaluations; OR &gt; 1 means more common in high-score evaluations. Intervals crossing 1 are uncertain. These are associations—not causal effects.</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Learning-environment category co-occurrence</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Which environment features tend to travel together within the same evaluation event?</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Teaching/feedback, teaching infrastructure, psychological safety, workload, wellbeing, and supervision frequently appear in the same events—supporting an ecosystem rather than isolated-theme interpretation.</a:t>
            </a:r>
            <a:endParaRPr lang="en-US" sz="1110" dirty="0"/>
          </a:p>
        </p:txBody>
      </p:sp>
      <p:pic>
        <p:nvPicPr>
          <p:cNvPr id="7" name="Image 0" descr="/mnt/data/07_environment_cooccurrence(3).png"/>
          <p:cNvPicPr>
            <a:picLocks noChangeAspect="1"/>
          </p:cNvPicPr>
          <p:nvPr/>
        </p:nvPicPr>
        <p:blipFill>
          <a:blip r:embed="rId3"/>
          <a:stretch>
            <a:fillRect/>
          </a:stretch>
        </p:blipFill>
        <p:spPr>
          <a:xfrm>
            <a:off x="208716" y="2171700"/>
            <a:ext cx="8798124" cy="3681637"/>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All unordered pairs of environment codes present within the same evaluation event.</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Percent of evaluation events in which each pair of environment categories co-occurs.</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High co-occurrence means two themes repeatedly appear in the same event; it does not establish direction or causality. Pairs involving “no explicit feature” are possible at event level because one row may be explicit while another row in the same event is not.</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Explicit sensitizing constructs</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Which higher-level safety, supervision, workload, and risk concepts are directly visible?</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Psychological safety and supervision availability dominate explicit constructs; workload/fatigue and wellbeing/burnout form a substantial second tier.</a:t>
            </a:r>
            <a:endParaRPr lang="en-US" sz="1110" dirty="0"/>
          </a:p>
        </p:txBody>
      </p:sp>
      <p:pic>
        <p:nvPicPr>
          <p:cNvPr id="7" name="Image 0" descr="/mnt/data/08_sensitizing_constructs(2).png"/>
          <p:cNvPicPr>
            <a:picLocks noChangeAspect="1"/>
          </p:cNvPicPr>
          <p:nvPr/>
        </p:nvPicPr>
        <p:blipFill>
          <a:blip r:embed="rId3"/>
          <a:stretch>
            <a:fillRect/>
          </a:stretch>
        </p:blipFill>
        <p:spPr>
          <a:xfrm>
            <a:off x="457200" y="1682882"/>
            <a:ext cx="8549640" cy="4763252"/>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Evaluation events searched for explicit presence of eight sensitizing constructs during row-level coding.</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Percent of evaluation events in which each construct is explicitly mentioned somewhere in the event.</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High prevalence shows what the narratives surface frequently. Low prevalence does not mean low importance: rare constructs such as serious patient outcome, discrimination/bias, handoff failure, and error disclosure may be high-value sentinel events.</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Feedback quality by evaluation type</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Model-rated specificity and actionability on a 1–5 scale</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Feedback is abundant, but quality is only moderate: specificity and actionability generally sit around 3 out of 5, with actionability consistently slightly higher.</a:t>
            </a:r>
            <a:endParaRPr lang="en-US" sz="1110" dirty="0"/>
          </a:p>
        </p:txBody>
      </p:sp>
      <p:pic>
        <p:nvPicPr>
          <p:cNvPr id="7" name="Image 0" descr="/mnt/data/09_feedback_by_evaluation_type(2).png"/>
          <p:cNvPicPr>
            <a:picLocks noChangeAspect="1"/>
          </p:cNvPicPr>
          <p:nvPr/>
        </p:nvPicPr>
        <p:blipFill>
          <a:blip r:embed="rId3"/>
          <a:stretch>
            <a:fillRect/>
          </a:stretch>
        </p:blipFill>
        <p:spPr>
          <a:xfrm>
            <a:off x="1179219" y="1618488"/>
            <a:ext cx="7105601" cy="4892040"/>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Narrative rows grouped by evaluation type after the model assigned 1–5 specificity and actionability ratings.</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Mean specificity and actionability ratings for each evaluation type.</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Scores near 3 indicate usable but only moderately detailed feedback. Differences across evaluation types are modest, but they identify channels where templates or faculty development could improve concrete behavioral detail and next-step guidance.</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Learning-environment categories over calendar time</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Descriptive annual prevalence of the most common environment themes</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Faculty teaching/feedback remains consistently high, while psychological safety, workload, wellbeing, supervision, and teaching infrastructure fluctuate substantially across years.</a:t>
            </a:r>
            <a:endParaRPr lang="en-US" sz="1110" dirty="0"/>
          </a:p>
        </p:txBody>
      </p:sp>
      <p:pic>
        <p:nvPicPr>
          <p:cNvPr id="7" name="Image 0" descr="/mnt/data/10_environment_over_time(2).png"/>
          <p:cNvPicPr>
            <a:picLocks noChangeAspect="1"/>
          </p:cNvPicPr>
          <p:nvPr/>
        </p:nvPicPr>
        <p:blipFill>
          <a:blip r:embed="rId3"/>
          <a:stretch>
            <a:fillRect/>
          </a:stretch>
        </p:blipFill>
        <p:spPr>
          <a:xfrm>
            <a:off x="778232" y="1618488"/>
            <a:ext cx="7907575" cy="4892040"/>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Evaluation events grouped by calendar year using EVALUATED_DATE.</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Annual percent of events containing each of the most common learning-environment categories.</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Treat this as descriptive. Yearly denominators, program/evaluation-type composition, and incomplete recent-year coverage can create apparent changes. Formal trend claims require adjusted models and counts per year.</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First-to-last structured-score change among repeated evaluatees</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A simple longitudinal view of individuals with repeated observations</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Score change is centered near zero with meaningful gains and declines in both directions; there is no obvious universal upward trajectory from first-to-last scores alone.</a:t>
            </a:r>
            <a:endParaRPr lang="en-US" sz="1110" dirty="0"/>
          </a:p>
        </p:txBody>
      </p:sp>
      <p:pic>
        <p:nvPicPr>
          <p:cNvPr id="7" name="Image 0" descr="/mnt/data/11_repeated_evaluatee_change(2).png"/>
          <p:cNvPicPr>
            <a:picLocks noChangeAspect="1"/>
          </p:cNvPicPr>
          <p:nvPr/>
        </p:nvPicPr>
        <p:blipFill>
          <a:blip r:embed="rId3"/>
          <a:stretch>
            <a:fillRect/>
          </a:stretch>
        </p:blipFill>
        <p:spPr>
          <a:xfrm>
            <a:off x="1306776" y="1618488"/>
            <a:ext cx="6850488" cy="4892040"/>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Evaluatees with at least two structured-score observations; first observed score compared with last observed score.</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Distribution of last score minus first score for repeated evaluatees.</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Values above zero indicate improvement and below zero indicate decline. This crude comparison ignores rotation difficulty, evaluator differences, time spacing, and repeated observations; a mixed-effects longitudinal model is the preferred next step.</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Taxonomy gaps and codebook adequacy</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What the classifier could not cleanly map to the fixed taxonomy</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Only 0.43% of coded rows were flagged as taxonomy gaps—suggesting broad saturation—but the gap-concept output is dominated by NaN/duplicate “no explicit” labels and needs cleanup.</a:t>
            </a:r>
            <a:endParaRPr lang="en-US" sz="1110" dirty="0"/>
          </a:p>
        </p:txBody>
      </p:sp>
      <p:pic>
        <p:nvPicPr>
          <p:cNvPr id="7" name="Image 0" descr="/mnt/data/12_taxonomy_gap_concepts(2).png"/>
          <p:cNvPicPr>
            <a:picLocks noChangeAspect="1"/>
          </p:cNvPicPr>
          <p:nvPr/>
        </p:nvPicPr>
        <p:blipFill>
          <a:blip r:embed="rId3"/>
          <a:stretch>
            <a:fillRect/>
          </a:stretch>
        </p:blipFill>
        <p:spPr>
          <a:xfrm>
            <a:off x="457200" y="1929185"/>
            <a:ext cx="8549640" cy="4270645"/>
          </a:xfrm>
          <a:prstGeom prst="rect">
            <a:avLst/>
          </a:prstGeom>
        </p:spPr>
      </p:pic>
      <p:sp>
        <p:nvSpPr>
          <p:cNvPr id="8" name="Shape 5"/>
          <p:cNvSpPr/>
          <p:nvPr/>
        </p:nvSpPr>
        <p:spPr>
          <a:xfrm>
            <a:off x="9162288" y="1627632"/>
            <a:ext cx="2560320" cy="1325880"/>
          </a:xfrm>
          <a:prstGeom prst="roundRect">
            <a:avLst>
              <a:gd name="adj" fmla="val 2759"/>
            </a:avLst>
          </a:prstGeom>
          <a:solidFill>
            <a:srgbClr val="EDF5FA"/>
          </a:solidFill>
          <a:ln w="12700">
            <a:solidFill>
              <a:srgbClr val="D7DEE6"/>
            </a:solidFill>
            <a:prstDash val="solid"/>
          </a:ln>
        </p:spPr>
        <p:txBody>
          <a:bodyPr/>
          <a:lstStyle/>
          <a:p>
            <a:endParaRPr lang="en-US"/>
          </a:p>
        </p:txBody>
      </p:sp>
      <p:sp>
        <p:nvSpPr>
          <p:cNvPr id="9" name="Shape 6"/>
          <p:cNvSpPr/>
          <p:nvPr/>
        </p:nvSpPr>
        <p:spPr>
          <a:xfrm>
            <a:off x="9162288" y="1627632"/>
            <a:ext cx="54864" cy="1325880"/>
          </a:xfrm>
          <a:prstGeom prst="rect">
            <a:avLst/>
          </a:prstGeom>
          <a:solidFill>
            <a:srgbClr val="2A6F9E"/>
          </a:solidFill>
          <a:ln w="12700">
            <a:solidFill>
              <a:srgbClr val="2A6F9E"/>
            </a:solidFill>
            <a:prstDash val="solid"/>
          </a:ln>
        </p:spPr>
        <p:txBody>
          <a:bodyPr/>
          <a:lstStyle/>
          <a:p>
            <a:endParaRPr lang="en-US"/>
          </a:p>
        </p:txBody>
      </p:sp>
      <p:sp>
        <p:nvSpPr>
          <p:cNvPr id="10" name="Text 7"/>
          <p:cNvSpPr txBox="1"/>
          <p:nvPr/>
        </p:nvSpPr>
        <p:spPr>
          <a:xfrm>
            <a:off x="9308592" y="1719072"/>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A6F9E"/>
                </a:solidFill>
                <a:latin typeface="Aptos" pitchFamily="34" charset="0"/>
                <a:ea typeface="Aptos" pitchFamily="34" charset="-122"/>
                <a:cs typeface="Aptos" pitchFamily="34" charset="-120"/>
              </a:rPr>
              <a:t>INPUT</a:t>
            </a:r>
            <a:endParaRPr lang="en-US" sz="860" dirty="0"/>
          </a:p>
        </p:txBody>
      </p:sp>
      <p:sp>
        <p:nvSpPr>
          <p:cNvPr id="11" name="Text 8"/>
          <p:cNvSpPr txBox="1"/>
          <p:nvPr/>
        </p:nvSpPr>
        <p:spPr>
          <a:xfrm>
            <a:off x="9308592" y="1938528"/>
            <a:ext cx="2304288" cy="94183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Narrative rows for which TAXONOMY_GAP_FLAG = True during fixed-taxonomy application.</a:t>
            </a:r>
            <a:endParaRPr lang="en-US" sz="960" dirty="0"/>
          </a:p>
        </p:txBody>
      </p:sp>
      <p:sp>
        <p:nvSpPr>
          <p:cNvPr id="12" name="Shape 9"/>
          <p:cNvSpPr/>
          <p:nvPr/>
        </p:nvSpPr>
        <p:spPr>
          <a:xfrm>
            <a:off x="9162288" y="3072384"/>
            <a:ext cx="2560320" cy="1234440"/>
          </a:xfrm>
          <a:prstGeom prst="roundRect">
            <a:avLst>
              <a:gd name="adj" fmla="val 2963"/>
            </a:avLst>
          </a:prstGeom>
          <a:solidFill>
            <a:srgbClr val="EDF7F5"/>
          </a:solidFill>
          <a:ln w="12700">
            <a:solidFill>
              <a:srgbClr val="D7DEE6"/>
            </a:solidFill>
            <a:prstDash val="solid"/>
          </a:ln>
        </p:spPr>
        <p:txBody>
          <a:bodyPr/>
          <a:lstStyle/>
          <a:p>
            <a:endParaRPr lang="en-US"/>
          </a:p>
        </p:txBody>
      </p:sp>
      <p:sp>
        <p:nvSpPr>
          <p:cNvPr id="13" name="Shape 10"/>
          <p:cNvSpPr/>
          <p:nvPr/>
        </p:nvSpPr>
        <p:spPr>
          <a:xfrm>
            <a:off x="9162288" y="3072384"/>
            <a:ext cx="54864" cy="1234440"/>
          </a:xfrm>
          <a:prstGeom prst="rect">
            <a:avLst/>
          </a:prstGeom>
          <a:solidFill>
            <a:srgbClr val="2B8C87"/>
          </a:solidFill>
          <a:ln w="12700">
            <a:solidFill>
              <a:srgbClr val="2B8C87"/>
            </a:solidFill>
            <a:prstDash val="solid"/>
          </a:ln>
        </p:spPr>
        <p:txBody>
          <a:bodyPr/>
          <a:lstStyle/>
          <a:p>
            <a:endParaRPr lang="en-US"/>
          </a:p>
        </p:txBody>
      </p:sp>
      <p:sp>
        <p:nvSpPr>
          <p:cNvPr id="14" name="Text 11"/>
          <p:cNvSpPr txBox="1"/>
          <p:nvPr/>
        </p:nvSpPr>
        <p:spPr>
          <a:xfrm>
            <a:off x="9308592" y="3163824"/>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2B8C87"/>
                </a:solidFill>
                <a:latin typeface="Aptos" pitchFamily="34" charset="0"/>
                <a:ea typeface="Aptos" pitchFamily="34" charset="-122"/>
                <a:cs typeface="Aptos" pitchFamily="34" charset="-120"/>
              </a:rPr>
              <a:t>OUTPUT</a:t>
            </a:r>
            <a:endParaRPr lang="en-US" sz="860" dirty="0"/>
          </a:p>
        </p:txBody>
      </p:sp>
      <p:sp>
        <p:nvSpPr>
          <p:cNvPr id="15" name="Text 12"/>
          <p:cNvSpPr txBox="1"/>
          <p:nvPr/>
        </p:nvSpPr>
        <p:spPr>
          <a:xfrm>
            <a:off x="9308592" y="3383280"/>
            <a:ext cx="2304288" cy="85039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Counts of the most common short gap concepts produced by the classifier.</a:t>
            </a:r>
            <a:endParaRPr lang="en-US" sz="960" dirty="0"/>
          </a:p>
        </p:txBody>
      </p:sp>
      <p:sp>
        <p:nvSpPr>
          <p:cNvPr id="16" name="Shape 13"/>
          <p:cNvSpPr/>
          <p:nvPr/>
        </p:nvSpPr>
        <p:spPr>
          <a:xfrm>
            <a:off x="9162288" y="4425696"/>
            <a:ext cx="2560320" cy="1874520"/>
          </a:xfrm>
          <a:prstGeom prst="roundRect">
            <a:avLst>
              <a:gd name="adj" fmla="val 1951"/>
            </a:avLst>
          </a:prstGeom>
          <a:solidFill>
            <a:srgbClr val="FBF5E9"/>
          </a:solidFill>
          <a:ln w="12700">
            <a:solidFill>
              <a:srgbClr val="D7DEE6"/>
            </a:solidFill>
            <a:prstDash val="solid"/>
          </a:ln>
        </p:spPr>
        <p:txBody>
          <a:bodyPr/>
          <a:lstStyle/>
          <a:p>
            <a:endParaRPr lang="en-US"/>
          </a:p>
        </p:txBody>
      </p:sp>
      <p:sp>
        <p:nvSpPr>
          <p:cNvPr id="17" name="Shape 14"/>
          <p:cNvSpPr/>
          <p:nvPr/>
        </p:nvSpPr>
        <p:spPr>
          <a:xfrm>
            <a:off x="9162288" y="4425696"/>
            <a:ext cx="54864" cy="1874520"/>
          </a:xfrm>
          <a:prstGeom prst="rect">
            <a:avLst/>
          </a:prstGeom>
          <a:solidFill>
            <a:srgbClr val="D49A35"/>
          </a:solidFill>
          <a:ln w="12700">
            <a:solidFill>
              <a:srgbClr val="D49A35"/>
            </a:solidFill>
            <a:prstDash val="solid"/>
          </a:ln>
        </p:spPr>
        <p:txBody>
          <a:bodyPr/>
          <a:lstStyle/>
          <a:p>
            <a:endParaRPr lang="en-US"/>
          </a:p>
        </p:txBody>
      </p:sp>
      <p:sp>
        <p:nvSpPr>
          <p:cNvPr id="18" name="Text 15"/>
          <p:cNvSpPr txBox="1"/>
          <p:nvPr/>
        </p:nvSpPr>
        <p:spPr>
          <a:xfrm>
            <a:off x="9308592" y="4517136"/>
            <a:ext cx="2304288" cy="201168"/>
          </a:xfrm>
          <a:prstGeom prst="rect">
            <a:avLst/>
          </a:prstGeom>
          <a:noFill/>
          <a:ln/>
        </p:spPr>
        <p:txBody>
          <a:bodyPr wrap="square" lIns="0" tIns="0" rIns="0" bIns="0" rtlCol="0" anchor="ctr">
            <a:normAutofit/>
          </a:bodyPr>
          <a:lstStyle/>
          <a:p>
            <a:pPr marL="0" indent="0" algn="l">
              <a:buNone/>
            </a:pPr>
            <a:r>
              <a:rPr lang="en-US" sz="860" b="1" dirty="0">
                <a:solidFill>
                  <a:srgbClr val="D49A35"/>
                </a:solidFill>
                <a:latin typeface="Aptos" pitchFamily="34" charset="0"/>
                <a:ea typeface="Aptos" pitchFamily="34" charset="-122"/>
                <a:cs typeface="Aptos" pitchFamily="34" charset="-120"/>
              </a:rPr>
              <a:t>HOW TO INTERPRET</a:t>
            </a:r>
            <a:endParaRPr lang="en-US" sz="860" dirty="0"/>
          </a:p>
        </p:txBody>
      </p:sp>
      <p:sp>
        <p:nvSpPr>
          <p:cNvPr id="19" name="Text 16"/>
          <p:cNvSpPr txBox="1"/>
          <p:nvPr/>
        </p:nvSpPr>
        <p:spPr>
          <a:xfrm>
            <a:off x="9308592" y="4736592"/>
            <a:ext cx="2304288" cy="1490472"/>
          </a:xfrm>
          <a:prstGeom prst="rect">
            <a:avLst/>
          </a:prstGeom>
          <a:noFill/>
          <a:ln/>
        </p:spPr>
        <p:txBody>
          <a:bodyPr wrap="square" lIns="0" tIns="0" rIns="0" bIns="0" rtlCol="0" anchor="t">
            <a:normAutofit/>
          </a:bodyPr>
          <a:lstStyle/>
          <a:p>
            <a:pPr marL="0" indent="0" algn="l">
              <a:buNone/>
            </a:pPr>
            <a:r>
              <a:rPr lang="en-US" sz="960" dirty="0">
                <a:solidFill>
                  <a:srgbClr val="1F2933"/>
                </a:solidFill>
                <a:latin typeface="Aptos" pitchFamily="34" charset="0"/>
                <a:ea typeface="Aptos" pitchFamily="34" charset="-122"/>
                <a:cs typeface="Aptos" pitchFamily="34" charset="-120"/>
              </a:rPr>
              <a:t>A true taxonomy gap should be an interpretable recurring concept. NaN, placeholders, duplicate “no explicit” variants, and overly specific specialty details are pipeline-cleaning issues rather than strong evidence for a new broad category.</a:t>
            </a:r>
            <a:endParaRPr lang="en-US" sz="960" dirty="0"/>
          </a:p>
        </p:txBody>
      </p:sp>
      <p:sp>
        <p:nvSpPr>
          <p:cNvPr id="25"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Integrated interpretation: the dominant learning pathway</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A synthesis across environment, mechanism, developmental outcomes, and contextual strain</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The strongest cross-chart story is a relational learning system: supportive teaching and safe supervision enable coaching, reflection, and structured practice, which are linked descriptively to communication, reasoning, feedback receptivity, and autonomy.</a:t>
            </a:r>
            <a:endParaRPr lang="en-US" sz="1110" dirty="0"/>
          </a:p>
        </p:txBody>
      </p:sp>
      <p:sp>
        <p:nvSpPr>
          <p:cNvPr id="7" name="Shape 5"/>
          <p:cNvSpPr/>
          <p:nvPr/>
        </p:nvSpPr>
        <p:spPr>
          <a:xfrm>
            <a:off x="594360" y="1828800"/>
            <a:ext cx="2971800" cy="3337560"/>
          </a:xfrm>
          <a:prstGeom prst="roundRect">
            <a:avLst/>
          </a:prstGeom>
          <a:solidFill>
            <a:srgbClr val="EDF5FA"/>
          </a:solidFill>
          <a:ln w="12700">
            <a:solidFill>
              <a:srgbClr val="D7DEE6"/>
            </a:solidFill>
            <a:prstDash val="solid"/>
          </a:ln>
        </p:spPr>
        <p:txBody>
          <a:bodyPr/>
          <a:lstStyle/>
          <a:p>
            <a:endParaRPr lang="en-US"/>
          </a:p>
        </p:txBody>
      </p:sp>
      <p:sp>
        <p:nvSpPr>
          <p:cNvPr id="8" name="Text 6"/>
          <p:cNvSpPr txBox="1"/>
          <p:nvPr/>
        </p:nvSpPr>
        <p:spPr>
          <a:xfrm>
            <a:off x="731520" y="1965960"/>
            <a:ext cx="2697480" cy="256032"/>
          </a:xfrm>
          <a:prstGeom prst="rect">
            <a:avLst/>
          </a:prstGeom>
          <a:noFill/>
          <a:ln/>
        </p:spPr>
        <p:txBody>
          <a:bodyPr wrap="square" lIns="0" tIns="0" rIns="0" bIns="0" rtlCol="0" anchor="ctr">
            <a:normAutofit/>
          </a:bodyPr>
          <a:lstStyle/>
          <a:p>
            <a:pPr marL="0" indent="0" algn="ctr">
              <a:buNone/>
            </a:pPr>
            <a:r>
              <a:rPr lang="en-US" sz="1020" b="1" dirty="0">
                <a:solidFill>
                  <a:srgbClr val="2A6F9E"/>
                </a:solidFill>
                <a:latin typeface="Aptos" pitchFamily="34" charset="0"/>
                <a:ea typeface="Aptos" pitchFamily="34" charset="-122"/>
                <a:cs typeface="Aptos" pitchFamily="34" charset="-120"/>
              </a:rPr>
              <a:t>LEARNING ENVIRONMENT</a:t>
            </a:r>
            <a:endParaRPr lang="en-US" sz="1020" dirty="0"/>
          </a:p>
        </p:txBody>
      </p:sp>
      <p:sp>
        <p:nvSpPr>
          <p:cNvPr id="9" name="Shape 7"/>
          <p:cNvSpPr/>
          <p:nvPr/>
        </p:nvSpPr>
        <p:spPr>
          <a:xfrm>
            <a:off x="795528" y="2423160"/>
            <a:ext cx="91440" cy="91440"/>
          </a:xfrm>
          <a:prstGeom prst="ellipse">
            <a:avLst/>
          </a:prstGeom>
          <a:solidFill>
            <a:srgbClr val="2A6F9E"/>
          </a:solidFill>
          <a:ln w="12700">
            <a:solidFill>
              <a:srgbClr val="2A6F9E"/>
            </a:solidFill>
            <a:prstDash val="solid"/>
          </a:ln>
        </p:spPr>
        <p:txBody>
          <a:bodyPr/>
          <a:lstStyle/>
          <a:p>
            <a:endParaRPr lang="en-US"/>
          </a:p>
        </p:txBody>
      </p:sp>
      <p:sp>
        <p:nvSpPr>
          <p:cNvPr id="10" name="Text 8"/>
          <p:cNvSpPr txBox="1"/>
          <p:nvPr/>
        </p:nvSpPr>
        <p:spPr>
          <a:xfrm>
            <a:off x="978408" y="2322576"/>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Faculty teaching / mentorship</a:t>
            </a:r>
            <a:endParaRPr lang="en-US" sz="980" dirty="0"/>
          </a:p>
        </p:txBody>
      </p:sp>
      <p:sp>
        <p:nvSpPr>
          <p:cNvPr id="11" name="Shape 9"/>
          <p:cNvSpPr/>
          <p:nvPr/>
        </p:nvSpPr>
        <p:spPr>
          <a:xfrm>
            <a:off x="795528" y="2862072"/>
            <a:ext cx="91440" cy="91440"/>
          </a:xfrm>
          <a:prstGeom prst="ellipse">
            <a:avLst/>
          </a:prstGeom>
          <a:solidFill>
            <a:srgbClr val="2A6F9E"/>
          </a:solidFill>
          <a:ln w="12700">
            <a:solidFill>
              <a:srgbClr val="2A6F9E"/>
            </a:solidFill>
            <a:prstDash val="solid"/>
          </a:ln>
        </p:spPr>
        <p:txBody>
          <a:bodyPr/>
          <a:lstStyle/>
          <a:p>
            <a:endParaRPr lang="en-US"/>
          </a:p>
        </p:txBody>
      </p:sp>
      <p:sp>
        <p:nvSpPr>
          <p:cNvPr id="12" name="Text 10"/>
          <p:cNvSpPr txBox="1"/>
          <p:nvPr/>
        </p:nvSpPr>
        <p:spPr>
          <a:xfrm>
            <a:off x="978408" y="2761488"/>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Teaching infrastructure</a:t>
            </a:r>
            <a:endParaRPr lang="en-US" sz="980" dirty="0"/>
          </a:p>
        </p:txBody>
      </p:sp>
      <p:sp>
        <p:nvSpPr>
          <p:cNvPr id="13" name="Shape 11"/>
          <p:cNvSpPr/>
          <p:nvPr/>
        </p:nvSpPr>
        <p:spPr>
          <a:xfrm>
            <a:off x="795528" y="3300984"/>
            <a:ext cx="91440" cy="91440"/>
          </a:xfrm>
          <a:prstGeom prst="ellipse">
            <a:avLst/>
          </a:prstGeom>
          <a:solidFill>
            <a:srgbClr val="2A6F9E"/>
          </a:solidFill>
          <a:ln w="12700">
            <a:solidFill>
              <a:srgbClr val="2A6F9E"/>
            </a:solidFill>
            <a:prstDash val="solid"/>
          </a:ln>
        </p:spPr>
        <p:txBody>
          <a:bodyPr/>
          <a:lstStyle/>
          <a:p>
            <a:endParaRPr lang="en-US"/>
          </a:p>
        </p:txBody>
      </p:sp>
      <p:sp>
        <p:nvSpPr>
          <p:cNvPr id="14" name="Text 12"/>
          <p:cNvSpPr txBox="1"/>
          <p:nvPr/>
        </p:nvSpPr>
        <p:spPr>
          <a:xfrm>
            <a:off x="978408" y="3200400"/>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Psychological safety</a:t>
            </a:r>
            <a:endParaRPr lang="en-US" sz="980" dirty="0"/>
          </a:p>
        </p:txBody>
      </p:sp>
      <p:sp>
        <p:nvSpPr>
          <p:cNvPr id="15" name="Shape 13"/>
          <p:cNvSpPr/>
          <p:nvPr/>
        </p:nvSpPr>
        <p:spPr>
          <a:xfrm>
            <a:off x="795528" y="3739896"/>
            <a:ext cx="91440" cy="91440"/>
          </a:xfrm>
          <a:prstGeom prst="ellipse">
            <a:avLst/>
          </a:prstGeom>
          <a:solidFill>
            <a:srgbClr val="2A6F9E"/>
          </a:solidFill>
          <a:ln w="12700">
            <a:solidFill>
              <a:srgbClr val="2A6F9E"/>
            </a:solidFill>
            <a:prstDash val="solid"/>
          </a:ln>
        </p:spPr>
        <p:txBody>
          <a:bodyPr/>
          <a:lstStyle/>
          <a:p>
            <a:endParaRPr lang="en-US"/>
          </a:p>
        </p:txBody>
      </p:sp>
      <p:sp>
        <p:nvSpPr>
          <p:cNvPr id="16" name="Text 14"/>
          <p:cNvSpPr txBox="1"/>
          <p:nvPr/>
        </p:nvSpPr>
        <p:spPr>
          <a:xfrm>
            <a:off x="978408" y="3639312"/>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Supervision / graduated autonomy</a:t>
            </a:r>
            <a:endParaRPr lang="en-US" sz="980" dirty="0"/>
          </a:p>
        </p:txBody>
      </p:sp>
      <p:sp>
        <p:nvSpPr>
          <p:cNvPr id="17" name="Shape 15"/>
          <p:cNvSpPr/>
          <p:nvPr/>
        </p:nvSpPr>
        <p:spPr>
          <a:xfrm>
            <a:off x="795528" y="4178808"/>
            <a:ext cx="91440" cy="91440"/>
          </a:xfrm>
          <a:prstGeom prst="ellipse">
            <a:avLst/>
          </a:prstGeom>
          <a:solidFill>
            <a:srgbClr val="2A6F9E"/>
          </a:solidFill>
          <a:ln w="12700">
            <a:solidFill>
              <a:srgbClr val="2A6F9E"/>
            </a:solidFill>
            <a:prstDash val="solid"/>
          </a:ln>
        </p:spPr>
        <p:txBody>
          <a:bodyPr/>
          <a:lstStyle/>
          <a:p>
            <a:endParaRPr lang="en-US"/>
          </a:p>
        </p:txBody>
      </p:sp>
      <p:sp>
        <p:nvSpPr>
          <p:cNvPr id="18" name="Text 16"/>
          <p:cNvSpPr txBox="1"/>
          <p:nvPr/>
        </p:nvSpPr>
        <p:spPr>
          <a:xfrm>
            <a:off x="978408" y="4078224"/>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Workload &amp; wellbeing context</a:t>
            </a:r>
            <a:endParaRPr lang="en-US" sz="980" dirty="0"/>
          </a:p>
        </p:txBody>
      </p:sp>
      <p:sp>
        <p:nvSpPr>
          <p:cNvPr id="19" name="Shape 17"/>
          <p:cNvSpPr/>
          <p:nvPr/>
        </p:nvSpPr>
        <p:spPr>
          <a:xfrm>
            <a:off x="3675888" y="3099816"/>
            <a:ext cx="457200" cy="594360"/>
          </a:xfrm>
          <a:prstGeom prst="chevron">
            <a:avLst/>
          </a:prstGeom>
          <a:solidFill>
            <a:srgbClr val="A8B5C1"/>
          </a:solidFill>
          <a:ln w="12700">
            <a:solidFill>
              <a:srgbClr val="A8B5C1"/>
            </a:solidFill>
            <a:prstDash val="solid"/>
          </a:ln>
        </p:spPr>
        <p:txBody>
          <a:bodyPr/>
          <a:lstStyle/>
          <a:p>
            <a:endParaRPr lang="en-US"/>
          </a:p>
        </p:txBody>
      </p:sp>
      <p:sp>
        <p:nvSpPr>
          <p:cNvPr id="20" name="Shape 18"/>
          <p:cNvSpPr/>
          <p:nvPr/>
        </p:nvSpPr>
        <p:spPr>
          <a:xfrm>
            <a:off x="4187952" y="1828800"/>
            <a:ext cx="2971800" cy="3337560"/>
          </a:xfrm>
          <a:prstGeom prst="roundRect">
            <a:avLst/>
          </a:prstGeom>
          <a:solidFill>
            <a:srgbClr val="EDF7F5"/>
          </a:solidFill>
          <a:ln w="12700">
            <a:solidFill>
              <a:srgbClr val="D7DEE6"/>
            </a:solidFill>
            <a:prstDash val="solid"/>
          </a:ln>
        </p:spPr>
        <p:txBody>
          <a:bodyPr/>
          <a:lstStyle/>
          <a:p>
            <a:endParaRPr lang="en-US"/>
          </a:p>
        </p:txBody>
      </p:sp>
      <p:sp>
        <p:nvSpPr>
          <p:cNvPr id="21" name="Text 19"/>
          <p:cNvSpPr txBox="1"/>
          <p:nvPr/>
        </p:nvSpPr>
        <p:spPr>
          <a:xfrm>
            <a:off x="4325112" y="1965960"/>
            <a:ext cx="2697480" cy="256032"/>
          </a:xfrm>
          <a:prstGeom prst="rect">
            <a:avLst/>
          </a:prstGeom>
          <a:noFill/>
          <a:ln/>
        </p:spPr>
        <p:txBody>
          <a:bodyPr wrap="square" lIns="0" tIns="0" rIns="0" bIns="0" rtlCol="0" anchor="ctr">
            <a:normAutofit/>
          </a:bodyPr>
          <a:lstStyle/>
          <a:p>
            <a:pPr marL="0" indent="0" algn="ctr">
              <a:buNone/>
            </a:pPr>
            <a:r>
              <a:rPr lang="en-US" sz="1020" b="1" dirty="0">
                <a:solidFill>
                  <a:srgbClr val="2B8C87"/>
                </a:solidFill>
                <a:latin typeface="Aptos" pitchFamily="34" charset="0"/>
                <a:ea typeface="Aptos" pitchFamily="34" charset="-122"/>
                <a:cs typeface="Aptos" pitchFamily="34" charset="-120"/>
              </a:rPr>
              <a:t>MECHANISMS</a:t>
            </a:r>
            <a:endParaRPr lang="en-US" sz="1020" dirty="0"/>
          </a:p>
        </p:txBody>
      </p:sp>
      <p:sp>
        <p:nvSpPr>
          <p:cNvPr id="22" name="Shape 20"/>
          <p:cNvSpPr/>
          <p:nvPr/>
        </p:nvSpPr>
        <p:spPr>
          <a:xfrm>
            <a:off x="4389120" y="2423160"/>
            <a:ext cx="91440" cy="91440"/>
          </a:xfrm>
          <a:prstGeom prst="ellipse">
            <a:avLst/>
          </a:prstGeom>
          <a:solidFill>
            <a:srgbClr val="2B8C87"/>
          </a:solidFill>
          <a:ln w="12700">
            <a:solidFill>
              <a:srgbClr val="2B8C87"/>
            </a:solidFill>
            <a:prstDash val="solid"/>
          </a:ln>
        </p:spPr>
        <p:txBody>
          <a:bodyPr/>
          <a:lstStyle/>
          <a:p>
            <a:endParaRPr lang="en-US"/>
          </a:p>
        </p:txBody>
      </p:sp>
      <p:sp>
        <p:nvSpPr>
          <p:cNvPr id="23" name="Text 21"/>
          <p:cNvSpPr txBox="1"/>
          <p:nvPr/>
        </p:nvSpPr>
        <p:spPr>
          <a:xfrm>
            <a:off x="4572000" y="2322576"/>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Iterative feedback / coaching</a:t>
            </a:r>
            <a:endParaRPr lang="en-US" sz="980" dirty="0"/>
          </a:p>
        </p:txBody>
      </p:sp>
      <p:sp>
        <p:nvSpPr>
          <p:cNvPr id="24" name="Shape 22"/>
          <p:cNvSpPr/>
          <p:nvPr/>
        </p:nvSpPr>
        <p:spPr>
          <a:xfrm>
            <a:off x="4389120" y="2862072"/>
            <a:ext cx="91440" cy="91440"/>
          </a:xfrm>
          <a:prstGeom prst="ellipse">
            <a:avLst/>
          </a:prstGeom>
          <a:solidFill>
            <a:srgbClr val="2B8C87"/>
          </a:solidFill>
          <a:ln w="12700">
            <a:solidFill>
              <a:srgbClr val="2B8C87"/>
            </a:solidFill>
            <a:prstDash val="solid"/>
          </a:ln>
        </p:spPr>
        <p:txBody>
          <a:bodyPr/>
          <a:lstStyle/>
          <a:p>
            <a:endParaRPr lang="en-US"/>
          </a:p>
        </p:txBody>
      </p:sp>
      <p:sp>
        <p:nvSpPr>
          <p:cNvPr id="25" name="Text 23"/>
          <p:cNvSpPr txBox="1"/>
          <p:nvPr/>
        </p:nvSpPr>
        <p:spPr>
          <a:xfrm>
            <a:off x="4572000" y="2761488"/>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Direct supervision / scaffolding</a:t>
            </a:r>
            <a:endParaRPr lang="en-US" sz="980" dirty="0"/>
          </a:p>
        </p:txBody>
      </p:sp>
      <p:sp>
        <p:nvSpPr>
          <p:cNvPr id="26" name="Shape 24"/>
          <p:cNvSpPr/>
          <p:nvPr/>
        </p:nvSpPr>
        <p:spPr>
          <a:xfrm>
            <a:off x="4389120" y="3300984"/>
            <a:ext cx="91440" cy="91440"/>
          </a:xfrm>
          <a:prstGeom prst="ellipse">
            <a:avLst/>
          </a:prstGeom>
          <a:solidFill>
            <a:srgbClr val="2B8C87"/>
          </a:solidFill>
          <a:ln w="12700">
            <a:solidFill>
              <a:srgbClr val="2B8C87"/>
            </a:solidFill>
            <a:prstDash val="solid"/>
          </a:ln>
        </p:spPr>
        <p:txBody>
          <a:bodyPr/>
          <a:lstStyle/>
          <a:p>
            <a:endParaRPr lang="en-US"/>
          </a:p>
        </p:txBody>
      </p:sp>
      <p:sp>
        <p:nvSpPr>
          <p:cNvPr id="27" name="Text 25"/>
          <p:cNvSpPr txBox="1"/>
          <p:nvPr/>
        </p:nvSpPr>
        <p:spPr>
          <a:xfrm>
            <a:off x="4572000" y="3200400"/>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Reflection / self-assessment</a:t>
            </a:r>
            <a:endParaRPr lang="en-US" sz="980" dirty="0"/>
          </a:p>
        </p:txBody>
      </p:sp>
      <p:sp>
        <p:nvSpPr>
          <p:cNvPr id="28" name="Shape 26"/>
          <p:cNvSpPr/>
          <p:nvPr/>
        </p:nvSpPr>
        <p:spPr>
          <a:xfrm>
            <a:off x="4389120" y="3739896"/>
            <a:ext cx="91440" cy="91440"/>
          </a:xfrm>
          <a:prstGeom prst="ellipse">
            <a:avLst/>
          </a:prstGeom>
          <a:solidFill>
            <a:srgbClr val="2B8C87"/>
          </a:solidFill>
          <a:ln w="12700">
            <a:solidFill>
              <a:srgbClr val="2B8C87"/>
            </a:solidFill>
            <a:prstDash val="solid"/>
          </a:ln>
        </p:spPr>
        <p:txBody>
          <a:bodyPr/>
          <a:lstStyle/>
          <a:p>
            <a:endParaRPr lang="en-US"/>
          </a:p>
        </p:txBody>
      </p:sp>
      <p:sp>
        <p:nvSpPr>
          <p:cNvPr id="29" name="Text 27"/>
          <p:cNvSpPr txBox="1"/>
          <p:nvPr/>
        </p:nvSpPr>
        <p:spPr>
          <a:xfrm>
            <a:off x="4572000" y="3639312"/>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Structured teaching</a:t>
            </a:r>
            <a:endParaRPr lang="en-US" sz="980" dirty="0"/>
          </a:p>
        </p:txBody>
      </p:sp>
      <p:sp>
        <p:nvSpPr>
          <p:cNvPr id="30" name="Shape 28"/>
          <p:cNvSpPr/>
          <p:nvPr/>
        </p:nvSpPr>
        <p:spPr>
          <a:xfrm>
            <a:off x="4389120" y="4178808"/>
            <a:ext cx="91440" cy="91440"/>
          </a:xfrm>
          <a:prstGeom prst="ellipse">
            <a:avLst/>
          </a:prstGeom>
          <a:solidFill>
            <a:srgbClr val="2B8C87"/>
          </a:solidFill>
          <a:ln w="12700">
            <a:solidFill>
              <a:srgbClr val="2B8C87"/>
            </a:solidFill>
            <a:prstDash val="solid"/>
          </a:ln>
        </p:spPr>
        <p:txBody>
          <a:bodyPr/>
          <a:lstStyle/>
          <a:p>
            <a:endParaRPr lang="en-US"/>
          </a:p>
        </p:txBody>
      </p:sp>
      <p:sp>
        <p:nvSpPr>
          <p:cNvPr id="31" name="Text 29"/>
          <p:cNvSpPr txBox="1"/>
          <p:nvPr/>
        </p:nvSpPr>
        <p:spPr>
          <a:xfrm>
            <a:off x="4572000" y="4078224"/>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Repeated clinical exposure</a:t>
            </a:r>
            <a:endParaRPr lang="en-US" sz="980" dirty="0"/>
          </a:p>
        </p:txBody>
      </p:sp>
      <p:sp>
        <p:nvSpPr>
          <p:cNvPr id="32" name="Shape 30"/>
          <p:cNvSpPr/>
          <p:nvPr/>
        </p:nvSpPr>
        <p:spPr>
          <a:xfrm>
            <a:off x="4389120" y="4617720"/>
            <a:ext cx="91440" cy="91440"/>
          </a:xfrm>
          <a:prstGeom prst="ellipse">
            <a:avLst/>
          </a:prstGeom>
          <a:solidFill>
            <a:srgbClr val="2B8C87"/>
          </a:solidFill>
          <a:ln w="12700">
            <a:solidFill>
              <a:srgbClr val="2B8C87"/>
            </a:solidFill>
            <a:prstDash val="solid"/>
          </a:ln>
        </p:spPr>
        <p:txBody>
          <a:bodyPr/>
          <a:lstStyle/>
          <a:p>
            <a:endParaRPr lang="en-US"/>
          </a:p>
        </p:txBody>
      </p:sp>
      <p:sp>
        <p:nvSpPr>
          <p:cNvPr id="33" name="Text 31"/>
          <p:cNvSpPr txBox="1"/>
          <p:nvPr/>
        </p:nvSpPr>
        <p:spPr>
          <a:xfrm>
            <a:off x="4572000" y="4517136"/>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Autonomy / ownership</a:t>
            </a:r>
            <a:endParaRPr lang="en-US" sz="980" dirty="0"/>
          </a:p>
        </p:txBody>
      </p:sp>
      <p:sp>
        <p:nvSpPr>
          <p:cNvPr id="34" name="Shape 32"/>
          <p:cNvSpPr/>
          <p:nvPr/>
        </p:nvSpPr>
        <p:spPr>
          <a:xfrm>
            <a:off x="7269480" y="3099816"/>
            <a:ext cx="457200" cy="594360"/>
          </a:xfrm>
          <a:prstGeom prst="chevron">
            <a:avLst/>
          </a:prstGeom>
          <a:solidFill>
            <a:srgbClr val="A8B5C1"/>
          </a:solidFill>
          <a:ln w="12700">
            <a:solidFill>
              <a:srgbClr val="A8B5C1"/>
            </a:solidFill>
            <a:prstDash val="solid"/>
          </a:ln>
        </p:spPr>
        <p:txBody>
          <a:bodyPr/>
          <a:lstStyle/>
          <a:p>
            <a:endParaRPr lang="en-US"/>
          </a:p>
        </p:txBody>
      </p:sp>
      <p:sp>
        <p:nvSpPr>
          <p:cNvPr id="35" name="Shape 33"/>
          <p:cNvSpPr/>
          <p:nvPr/>
        </p:nvSpPr>
        <p:spPr>
          <a:xfrm>
            <a:off x="7781544" y="1828800"/>
            <a:ext cx="2971800" cy="3337560"/>
          </a:xfrm>
          <a:prstGeom prst="roundRect">
            <a:avLst/>
          </a:prstGeom>
          <a:solidFill>
            <a:srgbClr val="FBF5E9"/>
          </a:solidFill>
          <a:ln w="12700">
            <a:solidFill>
              <a:srgbClr val="D7DEE6"/>
            </a:solidFill>
            <a:prstDash val="solid"/>
          </a:ln>
        </p:spPr>
        <p:txBody>
          <a:bodyPr/>
          <a:lstStyle/>
          <a:p>
            <a:endParaRPr lang="en-US"/>
          </a:p>
        </p:txBody>
      </p:sp>
      <p:sp>
        <p:nvSpPr>
          <p:cNvPr id="36" name="Text 34"/>
          <p:cNvSpPr txBox="1"/>
          <p:nvPr/>
        </p:nvSpPr>
        <p:spPr>
          <a:xfrm>
            <a:off x="7918704" y="1965960"/>
            <a:ext cx="2697480" cy="256032"/>
          </a:xfrm>
          <a:prstGeom prst="rect">
            <a:avLst/>
          </a:prstGeom>
          <a:noFill/>
          <a:ln/>
        </p:spPr>
        <p:txBody>
          <a:bodyPr wrap="square" lIns="0" tIns="0" rIns="0" bIns="0" rtlCol="0" anchor="ctr">
            <a:normAutofit/>
          </a:bodyPr>
          <a:lstStyle/>
          <a:p>
            <a:pPr marL="0" indent="0" algn="ctr">
              <a:buNone/>
            </a:pPr>
            <a:r>
              <a:rPr lang="en-US" sz="1020" b="1" dirty="0">
                <a:solidFill>
                  <a:srgbClr val="D49A35"/>
                </a:solidFill>
                <a:latin typeface="Aptos" pitchFamily="34" charset="0"/>
                <a:ea typeface="Aptos" pitchFamily="34" charset="-122"/>
                <a:cs typeface="Aptos" pitchFamily="34" charset="-120"/>
              </a:rPr>
              <a:t>DEVELOPMENTAL OUTCOMES</a:t>
            </a:r>
            <a:endParaRPr lang="en-US" sz="1020" dirty="0"/>
          </a:p>
        </p:txBody>
      </p:sp>
      <p:sp>
        <p:nvSpPr>
          <p:cNvPr id="37" name="Shape 35"/>
          <p:cNvSpPr/>
          <p:nvPr/>
        </p:nvSpPr>
        <p:spPr>
          <a:xfrm>
            <a:off x="7982712" y="2423160"/>
            <a:ext cx="91440" cy="91440"/>
          </a:xfrm>
          <a:prstGeom prst="ellipse">
            <a:avLst/>
          </a:prstGeom>
          <a:solidFill>
            <a:srgbClr val="D49A35"/>
          </a:solidFill>
          <a:ln w="12700">
            <a:solidFill>
              <a:srgbClr val="D49A35"/>
            </a:solidFill>
            <a:prstDash val="solid"/>
          </a:ln>
        </p:spPr>
        <p:txBody>
          <a:bodyPr/>
          <a:lstStyle/>
          <a:p>
            <a:endParaRPr lang="en-US"/>
          </a:p>
        </p:txBody>
      </p:sp>
      <p:sp>
        <p:nvSpPr>
          <p:cNvPr id="38" name="Text 36"/>
          <p:cNvSpPr txBox="1"/>
          <p:nvPr/>
        </p:nvSpPr>
        <p:spPr>
          <a:xfrm>
            <a:off x="8165592" y="2322576"/>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Communication / teamwork</a:t>
            </a:r>
            <a:endParaRPr lang="en-US" sz="980" dirty="0"/>
          </a:p>
        </p:txBody>
      </p:sp>
      <p:sp>
        <p:nvSpPr>
          <p:cNvPr id="39" name="Shape 37"/>
          <p:cNvSpPr/>
          <p:nvPr/>
        </p:nvSpPr>
        <p:spPr>
          <a:xfrm>
            <a:off x="7982712" y="2862072"/>
            <a:ext cx="91440" cy="91440"/>
          </a:xfrm>
          <a:prstGeom prst="ellipse">
            <a:avLst/>
          </a:prstGeom>
          <a:solidFill>
            <a:srgbClr val="D49A35"/>
          </a:solidFill>
          <a:ln w="12700">
            <a:solidFill>
              <a:srgbClr val="D49A35"/>
            </a:solidFill>
            <a:prstDash val="solid"/>
          </a:ln>
        </p:spPr>
        <p:txBody>
          <a:bodyPr/>
          <a:lstStyle/>
          <a:p>
            <a:endParaRPr lang="en-US"/>
          </a:p>
        </p:txBody>
      </p:sp>
      <p:sp>
        <p:nvSpPr>
          <p:cNvPr id="40" name="Text 38"/>
          <p:cNvSpPr txBox="1"/>
          <p:nvPr/>
        </p:nvSpPr>
        <p:spPr>
          <a:xfrm>
            <a:off x="8165592" y="2761488"/>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Feedback receptivity</a:t>
            </a:r>
            <a:endParaRPr lang="en-US" sz="980" dirty="0"/>
          </a:p>
        </p:txBody>
      </p:sp>
      <p:sp>
        <p:nvSpPr>
          <p:cNvPr id="41" name="Shape 39"/>
          <p:cNvSpPr/>
          <p:nvPr/>
        </p:nvSpPr>
        <p:spPr>
          <a:xfrm>
            <a:off x="7982712" y="3300984"/>
            <a:ext cx="91440" cy="91440"/>
          </a:xfrm>
          <a:prstGeom prst="ellipse">
            <a:avLst/>
          </a:prstGeom>
          <a:solidFill>
            <a:srgbClr val="D49A35"/>
          </a:solidFill>
          <a:ln w="12700">
            <a:solidFill>
              <a:srgbClr val="D49A35"/>
            </a:solidFill>
            <a:prstDash val="solid"/>
          </a:ln>
        </p:spPr>
        <p:txBody>
          <a:bodyPr/>
          <a:lstStyle/>
          <a:p>
            <a:endParaRPr lang="en-US"/>
          </a:p>
        </p:txBody>
      </p:sp>
      <p:sp>
        <p:nvSpPr>
          <p:cNvPr id="42" name="Text 40"/>
          <p:cNvSpPr txBox="1"/>
          <p:nvPr/>
        </p:nvSpPr>
        <p:spPr>
          <a:xfrm>
            <a:off x="8165592" y="3200400"/>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Clinical reasoning</a:t>
            </a:r>
            <a:endParaRPr lang="en-US" sz="980" dirty="0"/>
          </a:p>
        </p:txBody>
      </p:sp>
      <p:sp>
        <p:nvSpPr>
          <p:cNvPr id="43" name="Shape 41"/>
          <p:cNvSpPr/>
          <p:nvPr/>
        </p:nvSpPr>
        <p:spPr>
          <a:xfrm>
            <a:off x="7982712" y="3739896"/>
            <a:ext cx="91440" cy="91440"/>
          </a:xfrm>
          <a:prstGeom prst="ellipse">
            <a:avLst/>
          </a:prstGeom>
          <a:solidFill>
            <a:srgbClr val="D49A35"/>
          </a:solidFill>
          <a:ln w="12700">
            <a:solidFill>
              <a:srgbClr val="D49A35"/>
            </a:solidFill>
            <a:prstDash val="solid"/>
          </a:ln>
        </p:spPr>
        <p:txBody>
          <a:bodyPr/>
          <a:lstStyle/>
          <a:p>
            <a:endParaRPr lang="en-US"/>
          </a:p>
        </p:txBody>
      </p:sp>
      <p:sp>
        <p:nvSpPr>
          <p:cNvPr id="44" name="Text 42"/>
          <p:cNvSpPr txBox="1"/>
          <p:nvPr/>
        </p:nvSpPr>
        <p:spPr>
          <a:xfrm>
            <a:off x="8165592" y="3639312"/>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Autonomy / confidence</a:t>
            </a:r>
            <a:endParaRPr lang="en-US" sz="980" dirty="0"/>
          </a:p>
        </p:txBody>
      </p:sp>
      <p:sp>
        <p:nvSpPr>
          <p:cNvPr id="45" name="Shape 43"/>
          <p:cNvSpPr/>
          <p:nvPr/>
        </p:nvSpPr>
        <p:spPr>
          <a:xfrm>
            <a:off x="7982712" y="4178808"/>
            <a:ext cx="91440" cy="91440"/>
          </a:xfrm>
          <a:prstGeom prst="ellipse">
            <a:avLst/>
          </a:prstGeom>
          <a:solidFill>
            <a:srgbClr val="D49A35"/>
          </a:solidFill>
          <a:ln w="12700">
            <a:solidFill>
              <a:srgbClr val="D49A35"/>
            </a:solidFill>
            <a:prstDash val="solid"/>
          </a:ln>
        </p:spPr>
        <p:txBody>
          <a:bodyPr/>
          <a:lstStyle/>
          <a:p>
            <a:endParaRPr lang="en-US"/>
          </a:p>
        </p:txBody>
      </p:sp>
      <p:sp>
        <p:nvSpPr>
          <p:cNvPr id="46" name="Text 44"/>
          <p:cNvSpPr txBox="1"/>
          <p:nvPr/>
        </p:nvSpPr>
        <p:spPr>
          <a:xfrm>
            <a:off x="8165592" y="4078224"/>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Professional identity</a:t>
            </a:r>
            <a:endParaRPr lang="en-US" sz="980" dirty="0"/>
          </a:p>
        </p:txBody>
      </p:sp>
      <p:sp>
        <p:nvSpPr>
          <p:cNvPr id="47" name="Shape 45"/>
          <p:cNvSpPr/>
          <p:nvPr/>
        </p:nvSpPr>
        <p:spPr>
          <a:xfrm>
            <a:off x="7982712" y="4617720"/>
            <a:ext cx="91440" cy="91440"/>
          </a:xfrm>
          <a:prstGeom prst="ellipse">
            <a:avLst/>
          </a:prstGeom>
          <a:solidFill>
            <a:srgbClr val="D49A35"/>
          </a:solidFill>
          <a:ln w="12700">
            <a:solidFill>
              <a:srgbClr val="D49A35"/>
            </a:solidFill>
            <a:prstDash val="solid"/>
          </a:ln>
        </p:spPr>
        <p:txBody>
          <a:bodyPr/>
          <a:lstStyle/>
          <a:p>
            <a:endParaRPr lang="en-US"/>
          </a:p>
        </p:txBody>
      </p:sp>
      <p:sp>
        <p:nvSpPr>
          <p:cNvPr id="48" name="Text 46"/>
          <p:cNvSpPr txBox="1"/>
          <p:nvPr/>
        </p:nvSpPr>
        <p:spPr>
          <a:xfrm>
            <a:off x="8165592" y="4517136"/>
            <a:ext cx="2240280" cy="256032"/>
          </a:xfrm>
          <a:prstGeom prst="rect">
            <a:avLst/>
          </a:prstGeom>
          <a:noFill/>
          <a:ln/>
        </p:spPr>
        <p:txBody>
          <a:bodyPr wrap="square" lIns="0" tIns="0" rIns="0" bIns="0" rtlCol="0" anchor="ctr">
            <a:normAutofit/>
          </a:bodyPr>
          <a:lstStyle/>
          <a:p>
            <a:pPr marL="0" indent="0" algn="l">
              <a:buNone/>
            </a:pPr>
            <a:r>
              <a:rPr lang="en-US" sz="980" dirty="0">
                <a:solidFill>
                  <a:srgbClr val="1F2933"/>
                </a:solidFill>
                <a:latin typeface="Aptos" pitchFamily="34" charset="0"/>
                <a:ea typeface="Aptos" pitchFamily="34" charset="-122"/>
                <a:cs typeface="Aptos" pitchFamily="34" charset="-120"/>
              </a:rPr>
              <a:t>Efficiency / organization</a:t>
            </a:r>
            <a:endParaRPr lang="en-US" sz="980" dirty="0"/>
          </a:p>
        </p:txBody>
      </p:sp>
      <p:sp>
        <p:nvSpPr>
          <p:cNvPr id="49" name="Shape 47"/>
          <p:cNvSpPr/>
          <p:nvPr/>
        </p:nvSpPr>
        <p:spPr>
          <a:xfrm>
            <a:off x="960120" y="5440680"/>
            <a:ext cx="10241280" cy="640080"/>
          </a:xfrm>
          <a:prstGeom prst="roundRect">
            <a:avLst/>
          </a:prstGeom>
          <a:solidFill>
            <a:srgbClr val="F9EFEF"/>
          </a:solidFill>
          <a:ln w="12700">
            <a:solidFill>
              <a:srgbClr val="D7DEE6"/>
            </a:solidFill>
            <a:prstDash val="solid"/>
          </a:ln>
        </p:spPr>
        <p:txBody>
          <a:bodyPr/>
          <a:lstStyle/>
          <a:p>
            <a:endParaRPr lang="en-US"/>
          </a:p>
        </p:txBody>
      </p:sp>
      <p:sp>
        <p:nvSpPr>
          <p:cNvPr id="50" name="Text 48"/>
          <p:cNvSpPr txBox="1"/>
          <p:nvPr/>
        </p:nvSpPr>
        <p:spPr>
          <a:xfrm>
            <a:off x="1143000" y="5559552"/>
            <a:ext cx="1554480" cy="182880"/>
          </a:xfrm>
          <a:prstGeom prst="rect">
            <a:avLst/>
          </a:prstGeom>
          <a:noFill/>
          <a:ln/>
        </p:spPr>
        <p:txBody>
          <a:bodyPr wrap="square" lIns="0" tIns="0" rIns="0" bIns="0" rtlCol="0" anchor="ctr">
            <a:normAutofit/>
          </a:bodyPr>
          <a:lstStyle/>
          <a:p>
            <a:pPr marL="0" indent="0" algn="l">
              <a:buNone/>
            </a:pPr>
            <a:r>
              <a:rPr lang="en-US" sz="880" b="1" dirty="0">
                <a:solidFill>
                  <a:srgbClr val="B64A4A"/>
                </a:solidFill>
                <a:latin typeface="Aptos" pitchFamily="34" charset="0"/>
                <a:ea typeface="Aptos" pitchFamily="34" charset="-122"/>
                <a:cs typeface="Aptos" pitchFamily="34" charset="-120"/>
              </a:rPr>
              <a:t>CONTEXTUAL MODERATORS</a:t>
            </a:r>
            <a:endParaRPr lang="en-US" sz="880" dirty="0"/>
          </a:p>
        </p:txBody>
      </p:sp>
      <p:sp>
        <p:nvSpPr>
          <p:cNvPr id="51" name="Text 49"/>
          <p:cNvSpPr txBox="1"/>
          <p:nvPr/>
        </p:nvSpPr>
        <p:spPr>
          <a:xfrm>
            <a:off x="2697480" y="5504688"/>
            <a:ext cx="8183880" cy="329184"/>
          </a:xfrm>
          <a:prstGeom prst="rect">
            <a:avLst/>
          </a:prstGeom>
          <a:noFill/>
          <a:ln/>
        </p:spPr>
        <p:txBody>
          <a:bodyPr wrap="square" lIns="0" tIns="0" rIns="0" bIns="0" rtlCol="0" anchor="ctr">
            <a:normAutofit/>
          </a:bodyPr>
          <a:lstStyle/>
          <a:p>
            <a:pPr marL="0" indent="0" algn="ctr">
              <a:buNone/>
            </a:pPr>
            <a:r>
              <a:rPr lang="en-US" sz="980" dirty="0">
                <a:solidFill>
                  <a:srgbClr val="1F2933"/>
                </a:solidFill>
                <a:latin typeface="Aptos" pitchFamily="34" charset="0"/>
                <a:ea typeface="Aptos" pitchFamily="34" charset="-122"/>
                <a:cs typeface="Aptos" pitchFamily="34" charset="-120"/>
              </a:rPr>
              <a:t>Workflow barriers • clinical workload/complexity • wellbeing/fatigue • assessment expectations • equity/discrimination climate • rotation exposure</a:t>
            </a:r>
            <a:endParaRPr lang="en-US" sz="980" dirty="0"/>
          </a:p>
        </p:txBody>
      </p:sp>
      <p:sp>
        <p:nvSpPr>
          <p:cNvPr id="52" name="Text 50"/>
          <p:cNvSpPr txBox="1"/>
          <p:nvPr/>
        </p:nvSpPr>
        <p:spPr>
          <a:xfrm>
            <a:off x="3429000" y="6254496"/>
            <a:ext cx="5303520" cy="201168"/>
          </a:xfrm>
          <a:prstGeom prst="rect">
            <a:avLst/>
          </a:prstGeom>
          <a:noFill/>
          <a:ln/>
        </p:spPr>
        <p:txBody>
          <a:bodyPr wrap="square" lIns="0" tIns="0" rIns="0" bIns="0" rtlCol="0" anchor="ctr">
            <a:normAutofit/>
          </a:bodyPr>
          <a:lstStyle/>
          <a:p>
            <a:pPr marL="0" indent="0" algn="ctr">
              <a:buNone/>
            </a:pPr>
            <a:r>
              <a:rPr lang="en-US" sz="930" i="1" dirty="0">
                <a:solidFill>
                  <a:srgbClr val="6D7781"/>
                </a:solidFill>
                <a:latin typeface="Aptos" pitchFamily="34" charset="0"/>
                <a:ea typeface="Aptos" pitchFamily="34" charset="-122"/>
                <a:cs typeface="Aptos" pitchFamily="34" charset="-120"/>
              </a:rPr>
              <a:t>Working conceptual model—not a proven causal pathway.</a:t>
            </a:r>
            <a:endParaRPr lang="en-US" sz="930" dirty="0"/>
          </a:p>
        </p:txBody>
      </p:sp>
      <p:sp>
        <p:nvSpPr>
          <p:cNvPr id="53"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What is not obvious from any single chart</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Cross-table patterns that become visible only when the results are interpreted together</a:t>
            </a:r>
            <a:endParaRPr lang="en-US" sz="1150" dirty="0"/>
          </a:p>
        </p:txBody>
      </p:sp>
      <p:sp>
        <p:nvSpPr>
          <p:cNvPr id="4" name="Shape 2"/>
          <p:cNvSpPr/>
          <p:nvPr/>
        </p:nvSpPr>
        <p:spPr>
          <a:xfrm>
            <a:off x="685800" y="1417320"/>
            <a:ext cx="10835640" cy="658368"/>
          </a:xfrm>
          <a:prstGeom prst="roundRect">
            <a:avLst/>
          </a:prstGeom>
          <a:solidFill>
            <a:srgbClr val="EDF5FA"/>
          </a:solidFill>
          <a:ln w="12700">
            <a:solidFill>
              <a:srgbClr val="D7DEE6"/>
            </a:solidFill>
            <a:prstDash val="solid"/>
          </a:ln>
        </p:spPr>
        <p:txBody>
          <a:bodyPr/>
          <a:lstStyle/>
          <a:p>
            <a:endParaRPr lang="en-US"/>
          </a:p>
        </p:txBody>
      </p:sp>
      <p:sp>
        <p:nvSpPr>
          <p:cNvPr id="5" name="Shape 3"/>
          <p:cNvSpPr/>
          <p:nvPr/>
        </p:nvSpPr>
        <p:spPr>
          <a:xfrm>
            <a:off x="850392" y="1545336"/>
            <a:ext cx="365760" cy="365760"/>
          </a:xfrm>
          <a:prstGeom prst="ellipse">
            <a:avLst/>
          </a:prstGeom>
          <a:solidFill>
            <a:srgbClr val="2A6F9E"/>
          </a:solidFill>
          <a:ln w="12700">
            <a:solidFill>
              <a:srgbClr val="2A6F9E"/>
            </a:solidFill>
            <a:prstDash val="solid"/>
          </a:ln>
        </p:spPr>
        <p:txBody>
          <a:bodyPr/>
          <a:lstStyle/>
          <a:p>
            <a:endParaRPr lang="en-US"/>
          </a:p>
        </p:txBody>
      </p:sp>
      <p:sp>
        <p:nvSpPr>
          <p:cNvPr id="6" name="Text 4"/>
          <p:cNvSpPr txBox="1"/>
          <p:nvPr/>
        </p:nvSpPr>
        <p:spPr>
          <a:xfrm>
            <a:off x="850392" y="1545336"/>
            <a:ext cx="365760" cy="36576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7" name="Text 5"/>
          <p:cNvSpPr txBox="1"/>
          <p:nvPr/>
        </p:nvSpPr>
        <p:spPr>
          <a:xfrm>
            <a:off x="1371600" y="1499616"/>
            <a:ext cx="3154680" cy="210312"/>
          </a:xfrm>
          <a:prstGeom prst="rect">
            <a:avLst/>
          </a:prstGeom>
          <a:noFill/>
          <a:ln/>
        </p:spPr>
        <p:txBody>
          <a:bodyPr wrap="square" lIns="0" tIns="0" rIns="0" bIns="0" rtlCol="0" anchor="ctr">
            <a:normAutofit/>
          </a:bodyPr>
          <a:lstStyle/>
          <a:p>
            <a:pPr marL="0" indent="0" algn="l">
              <a:buNone/>
            </a:pPr>
            <a:r>
              <a:rPr lang="en-US" sz="1080" b="1" dirty="0">
                <a:solidFill>
                  <a:srgbClr val="1F2933"/>
                </a:solidFill>
                <a:latin typeface="Aptos" pitchFamily="34" charset="0"/>
                <a:ea typeface="Aptos" pitchFamily="34" charset="-122"/>
                <a:cs typeface="Aptos" pitchFamily="34" charset="-120"/>
              </a:rPr>
              <a:t>Lower scores may make the narrative more informative</a:t>
            </a:r>
            <a:endParaRPr lang="en-US" sz="1080" dirty="0"/>
          </a:p>
        </p:txBody>
      </p:sp>
      <p:sp>
        <p:nvSpPr>
          <p:cNvPr id="8" name="Text 6"/>
          <p:cNvSpPr txBox="1"/>
          <p:nvPr/>
        </p:nvSpPr>
        <p:spPr>
          <a:xfrm>
            <a:off x="4590288" y="1481328"/>
            <a:ext cx="6629400" cy="457200"/>
          </a:xfrm>
          <a:prstGeom prst="rect">
            <a:avLst/>
          </a:prstGeom>
          <a:noFill/>
          <a:ln/>
        </p:spPr>
        <p:txBody>
          <a:bodyPr wrap="square" lIns="0" tIns="0" rIns="0" bIns="0" rtlCol="0" anchor="t">
            <a:normAutofit/>
          </a:bodyPr>
          <a:lstStyle/>
          <a:p>
            <a:pPr marL="0" indent="0" algn="l">
              <a:buNone/>
            </a:pPr>
            <a:r>
              <a:rPr lang="en-US" sz="950" dirty="0">
                <a:solidFill>
                  <a:srgbClr val="1F2933"/>
                </a:solidFill>
                <a:latin typeface="Aptos" pitchFamily="34" charset="0"/>
                <a:ea typeface="Aptos" pitchFamily="34" charset="-122"/>
                <a:cs typeface="Aptos" pitchFamily="34" charset="-120"/>
              </a:rPr>
              <a:t>Lower-scoring evaluations contain more environment/system context. The narrative may function as an explanatory layer for structured scores rather than a redundant comment field.</a:t>
            </a:r>
            <a:endParaRPr lang="en-US" sz="950" dirty="0"/>
          </a:p>
        </p:txBody>
      </p:sp>
      <p:sp>
        <p:nvSpPr>
          <p:cNvPr id="9" name="Shape 7"/>
          <p:cNvSpPr/>
          <p:nvPr/>
        </p:nvSpPr>
        <p:spPr>
          <a:xfrm>
            <a:off x="685800" y="2212848"/>
            <a:ext cx="10835640" cy="658368"/>
          </a:xfrm>
          <a:prstGeom prst="roundRect">
            <a:avLst/>
          </a:prstGeom>
          <a:solidFill>
            <a:srgbClr val="EDF7F5"/>
          </a:solidFill>
          <a:ln w="12700">
            <a:solidFill>
              <a:srgbClr val="D7DEE6"/>
            </a:solidFill>
            <a:prstDash val="solid"/>
          </a:ln>
        </p:spPr>
        <p:txBody>
          <a:bodyPr/>
          <a:lstStyle/>
          <a:p>
            <a:endParaRPr lang="en-US"/>
          </a:p>
        </p:txBody>
      </p:sp>
      <p:sp>
        <p:nvSpPr>
          <p:cNvPr id="10" name="Shape 8"/>
          <p:cNvSpPr/>
          <p:nvPr/>
        </p:nvSpPr>
        <p:spPr>
          <a:xfrm>
            <a:off x="850392" y="2340864"/>
            <a:ext cx="365760" cy="365760"/>
          </a:xfrm>
          <a:prstGeom prst="ellipse">
            <a:avLst/>
          </a:prstGeom>
          <a:solidFill>
            <a:srgbClr val="2B8C87"/>
          </a:solidFill>
          <a:ln w="12700">
            <a:solidFill>
              <a:srgbClr val="2B8C87"/>
            </a:solidFill>
            <a:prstDash val="solid"/>
          </a:ln>
        </p:spPr>
        <p:txBody>
          <a:bodyPr/>
          <a:lstStyle/>
          <a:p>
            <a:endParaRPr lang="en-US"/>
          </a:p>
        </p:txBody>
      </p:sp>
      <p:sp>
        <p:nvSpPr>
          <p:cNvPr id="11" name="Text 9"/>
          <p:cNvSpPr txBox="1"/>
          <p:nvPr/>
        </p:nvSpPr>
        <p:spPr>
          <a:xfrm>
            <a:off x="850392" y="2340864"/>
            <a:ext cx="365760" cy="36576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2" name="Text 10"/>
          <p:cNvSpPr txBox="1"/>
          <p:nvPr/>
        </p:nvSpPr>
        <p:spPr>
          <a:xfrm>
            <a:off x="1371600" y="2295144"/>
            <a:ext cx="3154680" cy="210312"/>
          </a:xfrm>
          <a:prstGeom prst="rect">
            <a:avLst/>
          </a:prstGeom>
          <a:noFill/>
          <a:ln/>
        </p:spPr>
        <p:txBody>
          <a:bodyPr wrap="square" lIns="0" tIns="0" rIns="0" bIns="0" rtlCol="0" anchor="ctr">
            <a:normAutofit/>
          </a:bodyPr>
          <a:lstStyle/>
          <a:p>
            <a:pPr marL="0" indent="0" algn="l">
              <a:buNone/>
            </a:pPr>
            <a:r>
              <a:rPr lang="en-US" sz="1080" b="1" dirty="0">
                <a:solidFill>
                  <a:srgbClr val="1F2933"/>
                </a:solidFill>
                <a:latin typeface="Aptos" pitchFamily="34" charset="0"/>
                <a:ea typeface="Aptos" pitchFamily="34" charset="-122"/>
                <a:cs typeface="Aptos" pitchFamily="34" charset="-120"/>
              </a:rPr>
              <a:t>Feedback has a quantity–quality gap</a:t>
            </a:r>
            <a:endParaRPr lang="en-US" sz="1080" dirty="0"/>
          </a:p>
        </p:txBody>
      </p:sp>
      <p:sp>
        <p:nvSpPr>
          <p:cNvPr id="13" name="Text 11"/>
          <p:cNvSpPr txBox="1"/>
          <p:nvPr/>
        </p:nvSpPr>
        <p:spPr>
          <a:xfrm>
            <a:off x="4590288" y="2276856"/>
            <a:ext cx="6629400" cy="457200"/>
          </a:xfrm>
          <a:prstGeom prst="rect">
            <a:avLst/>
          </a:prstGeom>
          <a:noFill/>
          <a:ln/>
        </p:spPr>
        <p:txBody>
          <a:bodyPr wrap="square" lIns="0" tIns="0" rIns="0" bIns="0" rtlCol="0" anchor="t">
            <a:normAutofit/>
          </a:bodyPr>
          <a:lstStyle/>
          <a:p>
            <a:pPr marL="0" indent="0" algn="l">
              <a:buNone/>
            </a:pPr>
            <a:r>
              <a:rPr lang="en-US" sz="950" dirty="0">
                <a:solidFill>
                  <a:srgbClr val="1F2933"/>
                </a:solidFill>
                <a:latin typeface="Aptos" pitchFamily="34" charset="0"/>
                <a:ea typeface="Aptos" pitchFamily="34" charset="-122"/>
                <a:cs typeface="Aptos" pitchFamily="34" charset="-120"/>
              </a:rPr>
              <a:t>Feedback/coaching is one of the most prevalent mechanisms, yet specificity/actionability average only around the mid-range. The intervention target is quality, not volume.</a:t>
            </a:r>
            <a:endParaRPr lang="en-US" sz="950" dirty="0"/>
          </a:p>
        </p:txBody>
      </p:sp>
      <p:sp>
        <p:nvSpPr>
          <p:cNvPr id="14" name="Shape 12"/>
          <p:cNvSpPr/>
          <p:nvPr/>
        </p:nvSpPr>
        <p:spPr>
          <a:xfrm>
            <a:off x="685800" y="3008376"/>
            <a:ext cx="10835640" cy="658368"/>
          </a:xfrm>
          <a:prstGeom prst="roundRect">
            <a:avLst/>
          </a:prstGeom>
          <a:solidFill>
            <a:srgbClr val="EDF5FA"/>
          </a:solidFill>
          <a:ln w="12700">
            <a:solidFill>
              <a:srgbClr val="D7DEE6"/>
            </a:solidFill>
            <a:prstDash val="solid"/>
          </a:ln>
        </p:spPr>
        <p:txBody>
          <a:bodyPr/>
          <a:lstStyle/>
          <a:p>
            <a:endParaRPr lang="en-US"/>
          </a:p>
        </p:txBody>
      </p:sp>
      <p:sp>
        <p:nvSpPr>
          <p:cNvPr id="15" name="Shape 13"/>
          <p:cNvSpPr/>
          <p:nvPr/>
        </p:nvSpPr>
        <p:spPr>
          <a:xfrm>
            <a:off x="850392" y="3136392"/>
            <a:ext cx="365760" cy="365760"/>
          </a:xfrm>
          <a:prstGeom prst="ellipse">
            <a:avLst/>
          </a:prstGeom>
          <a:solidFill>
            <a:srgbClr val="2A6F9E"/>
          </a:solidFill>
          <a:ln w="12700">
            <a:solidFill>
              <a:srgbClr val="2A6F9E"/>
            </a:solidFill>
            <a:prstDash val="solid"/>
          </a:ln>
        </p:spPr>
        <p:txBody>
          <a:bodyPr/>
          <a:lstStyle/>
          <a:p>
            <a:endParaRPr lang="en-US"/>
          </a:p>
        </p:txBody>
      </p:sp>
      <p:sp>
        <p:nvSpPr>
          <p:cNvPr id="16" name="Text 14"/>
          <p:cNvSpPr txBox="1"/>
          <p:nvPr/>
        </p:nvSpPr>
        <p:spPr>
          <a:xfrm>
            <a:off x="850392" y="3136392"/>
            <a:ext cx="365760" cy="36576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17" name="Text 15"/>
          <p:cNvSpPr txBox="1"/>
          <p:nvPr/>
        </p:nvSpPr>
        <p:spPr>
          <a:xfrm>
            <a:off x="1371600" y="3090672"/>
            <a:ext cx="3154680" cy="210312"/>
          </a:xfrm>
          <a:prstGeom prst="rect">
            <a:avLst/>
          </a:prstGeom>
          <a:noFill/>
          <a:ln/>
        </p:spPr>
        <p:txBody>
          <a:bodyPr wrap="square" lIns="0" tIns="0" rIns="0" bIns="0" rtlCol="0" anchor="ctr">
            <a:normAutofit/>
          </a:bodyPr>
          <a:lstStyle/>
          <a:p>
            <a:pPr marL="0" indent="0" algn="l">
              <a:buNone/>
            </a:pPr>
            <a:r>
              <a:rPr lang="en-US" sz="1080" b="1" dirty="0">
                <a:solidFill>
                  <a:srgbClr val="1F2933"/>
                </a:solidFill>
                <a:latin typeface="Aptos" pitchFamily="34" charset="0"/>
                <a:ea typeface="Aptos" pitchFamily="34" charset="-122"/>
                <a:cs typeface="Aptos" pitchFamily="34" charset="-120"/>
              </a:rPr>
              <a:t>Psychological safety + supervision form “relational infrastructure”</a:t>
            </a:r>
            <a:endParaRPr lang="en-US" sz="1080" dirty="0"/>
          </a:p>
        </p:txBody>
      </p:sp>
      <p:sp>
        <p:nvSpPr>
          <p:cNvPr id="18" name="Text 16"/>
          <p:cNvSpPr txBox="1"/>
          <p:nvPr/>
        </p:nvSpPr>
        <p:spPr>
          <a:xfrm>
            <a:off x="4590288" y="3072384"/>
            <a:ext cx="6629400" cy="457200"/>
          </a:xfrm>
          <a:prstGeom prst="rect">
            <a:avLst/>
          </a:prstGeom>
          <a:noFill/>
          <a:ln/>
        </p:spPr>
        <p:txBody>
          <a:bodyPr wrap="square" lIns="0" tIns="0" rIns="0" bIns="0" rtlCol="0" anchor="t">
            <a:normAutofit/>
          </a:bodyPr>
          <a:lstStyle/>
          <a:p>
            <a:pPr marL="0" indent="0" algn="l">
              <a:buNone/>
            </a:pPr>
            <a:r>
              <a:rPr lang="en-US" sz="950" dirty="0">
                <a:solidFill>
                  <a:srgbClr val="1F2933"/>
                </a:solidFill>
                <a:latin typeface="Aptos" pitchFamily="34" charset="0"/>
                <a:ea typeface="Aptos" pitchFamily="34" charset="-122"/>
                <a:cs typeface="Aptos" pitchFamily="34" charset="-120"/>
              </a:rPr>
              <a:t>These constructs appear both as broad environment categories and as explicit sensitizing constructs. Learning depends on whether trainees can ask, fail, disclose, and seek help safely.</a:t>
            </a:r>
            <a:endParaRPr lang="en-US" sz="950" dirty="0"/>
          </a:p>
        </p:txBody>
      </p:sp>
      <p:sp>
        <p:nvSpPr>
          <p:cNvPr id="19" name="Shape 17"/>
          <p:cNvSpPr/>
          <p:nvPr/>
        </p:nvSpPr>
        <p:spPr>
          <a:xfrm>
            <a:off x="685800" y="3803904"/>
            <a:ext cx="10835640" cy="658368"/>
          </a:xfrm>
          <a:prstGeom prst="roundRect">
            <a:avLst/>
          </a:prstGeom>
          <a:solidFill>
            <a:srgbClr val="EDF7F5"/>
          </a:solidFill>
          <a:ln w="12700">
            <a:solidFill>
              <a:srgbClr val="D7DEE6"/>
            </a:solidFill>
            <a:prstDash val="solid"/>
          </a:ln>
        </p:spPr>
        <p:txBody>
          <a:bodyPr/>
          <a:lstStyle/>
          <a:p>
            <a:endParaRPr lang="en-US"/>
          </a:p>
        </p:txBody>
      </p:sp>
      <p:sp>
        <p:nvSpPr>
          <p:cNvPr id="20" name="Shape 18"/>
          <p:cNvSpPr/>
          <p:nvPr/>
        </p:nvSpPr>
        <p:spPr>
          <a:xfrm>
            <a:off x="850392" y="3931920"/>
            <a:ext cx="365760" cy="365760"/>
          </a:xfrm>
          <a:prstGeom prst="ellipse">
            <a:avLst/>
          </a:prstGeom>
          <a:solidFill>
            <a:srgbClr val="2B8C87"/>
          </a:solidFill>
          <a:ln w="12700">
            <a:solidFill>
              <a:srgbClr val="2B8C87"/>
            </a:solidFill>
            <a:prstDash val="solid"/>
          </a:ln>
        </p:spPr>
        <p:txBody>
          <a:bodyPr/>
          <a:lstStyle/>
          <a:p>
            <a:endParaRPr lang="en-US"/>
          </a:p>
        </p:txBody>
      </p:sp>
      <p:sp>
        <p:nvSpPr>
          <p:cNvPr id="21" name="Text 19"/>
          <p:cNvSpPr txBox="1"/>
          <p:nvPr/>
        </p:nvSpPr>
        <p:spPr>
          <a:xfrm>
            <a:off x="850392" y="3931920"/>
            <a:ext cx="365760" cy="36576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22" name="Text 20"/>
          <p:cNvSpPr txBox="1"/>
          <p:nvPr/>
        </p:nvSpPr>
        <p:spPr>
          <a:xfrm>
            <a:off x="1371600" y="3886200"/>
            <a:ext cx="3154680" cy="210312"/>
          </a:xfrm>
          <a:prstGeom prst="rect">
            <a:avLst/>
          </a:prstGeom>
          <a:noFill/>
          <a:ln/>
        </p:spPr>
        <p:txBody>
          <a:bodyPr wrap="square" lIns="0" tIns="0" rIns="0" bIns="0" rtlCol="0" anchor="ctr">
            <a:normAutofit/>
          </a:bodyPr>
          <a:lstStyle/>
          <a:p>
            <a:pPr marL="0" indent="0" algn="l">
              <a:buNone/>
            </a:pPr>
            <a:r>
              <a:rPr lang="en-US" sz="1080" b="1" dirty="0">
                <a:solidFill>
                  <a:srgbClr val="1F2933"/>
                </a:solidFill>
                <a:latin typeface="Aptos" pitchFamily="34" charset="0"/>
                <a:ea typeface="Aptos" pitchFamily="34" charset="-122"/>
                <a:cs typeface="Aptos" pitchFamily="34" charset="-120"/>
              </a:rPr>
              <a:t>100K rows increase depth more than statistical N</a:t>
            </a:r>
            <a:endParaRPr lang="en-US" sz="1080" dirty="0"/>
          </a:p>
        </p:txBody>
      </p:sp>
      <p:sp>
        <p:nvSpPr>
          <p:cNvPr id="23" name="Text 21"/>
          <p:cNvSpPr txBox="1"/>
          <p:nvPr/>
        </p:nvSpPr>
        <p:spPr>
          <a:xfrm>
            <a:off x="4590288" y="3867912"/>
            <a:ext cx="6629400" cy="457200"/>
          </a:xfrm>
          <a:prstGeom prst="rect">
            <a:avLst/>
          </a:prstGeom>
          <a:noFill/>
          <a:ln/>
        </p:spPr>
        <p:txBody>
          <a:bodyPr wrap="square" lIns="0" tIns="0" rIns="0" bIns="0" rtlCol="0" anchor="t">
            <a:normAutofit/>
          </a:bodyPr>
          <a:lstStyle/>
          <a:p>
            <a:pPr marL="0" indent="0" algn="l">
              <a:buNone/>
            </a:pPr>
            <a:r>
              <a:rPr lang="en-US" sz="950" dirty="0">
                <a:solidFill>
                  <a:srgbClr val="1F2933"/>
                </a:solidFill>
                <a:latin typeface="Aptos" pitchFamily="34" charset="0"/>
                <a:ea typeface="Aptos" pitchFamily="34" charset="-122"/>
                <a:cs typeface="Aptos" pitchFamily="34" charset="-120"/>
              </a:rPr>
              <a:t>The corpus is huge, but all rows collapse into 1,888 events. This gives rich within-event evidence, not 100,000 independent observations.</a:t>
            </a:r>
            <a:endParaRPr lang="en-US" sz="950" dirty="0"/>
          </a:p>
        </p:txBody>
      </p:sp>
      <p:sp>
        <p:nvSpPr>
          <p:cNvPr id="24" name="Shape 22"/>
          <p:cNvSpPr/>
          <p:nvPr/>
        </p:nvSpPr>
        <p:spPr>
          <a:xfrm>
            <a:off x="685800" y="4599432"/>
            <a:ext cx="10835640" cy="658368"/>
          </a:xfrm>
          <a:prstGeom prst="roundRect">
            <a:avLst/>
          </a:prstGeom>
          <a:solidFill>
            <a:srgbClr val="EDF5FA"/>
          </a:solidFill>
          <a:ln w="12700">
            <a:solidFill>
              <a:srgbClr val="D7DEE6"/>
            </a:solidFill>
            <a:prstDash val="solid"/>
          </a:ln>
        </p:spPr>
        <p:txBody>
          <a:bodyPr/>
          <a:lstStyle/>
          <a:p>
            <a:endParaRPr lang="en-US"/>
          </a:p>
        </p:txBody>
      </p:sp>
      <p:sp>
        <p:nvSpPr>
          <p:cNvPr id="25" name="Shape 23"/>
          <p:cNvSpPr/>
          <p:nvPr/>
        </p:nvSpPr>
        <p:spPr>
          <a:xfrm>
            <a:off x="850392" y="4727448"/>
            <a:ext cx="365760" cy="365760"/>
          </a:xfrm>
          <a:prstGeom prst="ellipse">
            <a:avLst/>
          </a:prstGeom>
          <a:solidFill>
            <a:srgbClr val="2A6F9E"/>
          </a:solidFill>
          <a:ln w="12700">
            <a:solidFill>
              <a:srgbClr val="2A6F9E"/>
            </a:solidFill>
            <a:prstDash val="solid"/>
          </a:ln>
        </p:spPr>
        <p:txBody>
          <a:bodyPr/>
          <a:lstStyle/>
          <a:p>
            <a:endParaRPr lang="en-US"/>
          </a:p>
        </p:txBody>
      </p:sp>
      <p:sp>
        <p:nvSpPr>
          <p:cNvPr id="26" name="Text 24"/>
          <p:cNvSpPr txBox="1"/>
          <p:nvPr/>
        </p:nvSpPr>
        <p:spPr>
          <a:xfrm>
            <a:off x="850392" y="4727448"/>
            <a:ext cx="365760" cy="36576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27" name="Text 25"/>
          <p:cNvSpPr txBox="1"/>
          <p:nvPr/>
        </p:nvSpPr>
        <p:spPr>
          <a:xfrm>
            <a:off x="1371600" y="4681728"/>
            <a:ext cx="3154680" cy="210312"/>
          </a:xfrm>
          <a:prstGeom prst="rect">
            <a:avLst/>
          </a:prstGeom>
          <a:noFill/>
          <a:ln/>
        </p:spPr>
        <p:txBody>
          <a:bodyPr wrap="square" lIns="0" tIns="0" rIns="0" bIns="0" rtlCol="0" anchor="ctr">
            <a:normAutofit/>
          </a:bodyPr>
          <a:lstStyle/>
          <a:p>
            <a:pPr marL="0" indent="0" algn="l">
              <a:buNone/>
            </a:pPr>
            <a:r>
              <a:rPr lang="en-US" sz="1080" b="1" dirty="0">
                <a:solidFill>
                  <a:srgbClr val="1F2933"/>
                </a:solidFill>
                <a:latin typeface="Aptos" pitchFamily="34" charset="0"/>
                <a:ea typeface="Aptos" pitchFamily="34" charset="-122"/>
                <a:cs typeface="Aptos" pitchFamily="34" charset="-120"/>
              </a:rPr>
              <a:t>The codebook is probably close to saturation</a:t>
            </a:r>
            <a:endParaRPr lang="en-US" sz="1080" dirty="0"/>
          </a:p>
        </p:txBody>
      </p:sp>
      <p:sp>
        <p:nvSpPr>
          <p:cNvPr id="28" name="Text 26"/>
          <p:cNvSpPr txBox="1"/>
          <p:nvPr/>
        </p:nvSpPr>
        <p:spPr>
          <a:xfrm>
            <a:off x="4590288" y="4663440"/>
            <a:ext cx="6629400" cy="457200"/>
          </a:xfrm>
          <a:prstGeom prst="rect">
            <a:avLst/>
          </a:prstGeom>
          <a:noFill/>
          <a:ln/>
        </p:spPr>
        <p:txBody>
          <a:bodyPr wrap="square" lIns="0" tIns="0" rIns="0" bIns="0" rtlCol="0" anchor="t">
            <a:normAutofit/>
          </a:bodyPr>
          <a:lstStyle/>
          <a:p>
            <a:pPr marL="0" indent="0" algn="l">
              <a:buNone/>
            </a:pPr>
            <a:r>
              <a:rPr lang="en-US" sz="950" dirty="0">
                <a:solidFill>
                  <a:srgbClr val="1F2933"/>
                </a:solidFill>
                <a:latin typeface="Aptos" pitchFamily="34" charset="0"/>
                <a:ea typeface="Aptos" pitchFamily="34" charset="-122"/>
                <a:cs typeface="Aptos" pitchFamily="34" charset="-120"/>
              </a:rPr>
              <a:t>A 0.43% taxonomy-gap rate is low; most genuine gaps are narrow specialty-specific ideas rather than broad missing domains.</a:t>
            </a:r>
            <a:endParaRPr lang="en-US" sz="950" dirty="0"/>
          </a:p>
        </p:txBody>
      </p:sp>
      <p:sp>
        <p:nvSpPr>
          <p:cNvPr id="29" name="Shape 27"/>
          <p:cNvSpPr/>
          <p:nvPr/>
        </p:nvSpPr>
        <p:spPr>
          <a:xfrm>
            <a:off x="685800" y="5394960"/>
            <a:ext cx="10835640" cy="658368"/>
          </a:xfrm>
          <a:prstGeom prst="roundRect">
            <a:avLst/>
          </a:prstGeom>
          <a:solidFill>
            <a:srgbClr val="EDF7F5"/>
          </a:solidFill>
          <a:ln w="12700">
            <a:solidFill>
              <a:srgbClr val="D7DEE6"/>
            </a:solidFill>
            <a:prstDash val="solid"/>
          </a:ln>
        </p:spPr>
        <p:txBody>
          <a:bodyPr/>
          <a:lstStyle/>
          <a:p>
            <a:endParaRPr lang="en-US"/>
          </a:p>
        </p:txBody>
      </p:sp>
      <p:sp>
        <p:nvSpPr>
          <p:cNvPr id="30" name="Shape 28"/>
          <p:cNvSpPr/>
          <p:nvPr/>
        </p:nvSpPr>
        <p:spPr>
          <a:xfrm>
            <a:off x="850392" y="5522976"/>
            <a:ext cx="365760" cy="365760"/>
          </a:xfrm>
          <a:prstGeom prst="ellipse">
            <a:avLst/>
          </a:prstGeom>
          <a:solidFill>
            <a:srgbClr val="2B8C87"/>
          </a:solidFill>
          <a:ln w="12700">
            <a:solidFill>
              <a:srgbClr val="2B8C87"/>
            </a:solidFill>
            <a:prstDash val="solid"/>
          </a:ln>
        </p:spPr>
        <p:txBody>
          <a:bodyPr/>
          <a:lstStyle/>
          <a:p>
            <a:endParaRPr lang="en-US"/>
          </a:p>
        </p:txBody>
      </p:sp>
      <p:sp>
        <p:nvSpPr>
          <p:cNvPr id="31" name="Text 29"/>
          <p:cNvSpPr txBox="1"/>
          <p:nvPr/>
        </p:nvSpPr>
        <p:spPr>
          <a:xfrm>
            <a:off x="850392" y="5522976"/>
            <a:ext cx="365760" cy="36576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6</a:t>
            </a:r>
            <a:endParaRPr lang="en-US" sz="1000" dirty="0"/>
          </a:p>
        </p:txBody>
      </p:sp>
      <p:sp>
        <p:nvSpPr>
          <p:cNvPr id="32" name="Text 30"/>
          <p:cNvSpPr txBox="1"/>
          <p:nvPr/>
        </p:nvSpPr>
        <p:spPr>
          <a:xfrm>
            <a:off x="1371600" y="5477256"/>
            <a:ext cx="3154680" cy="210312"/>
          </a:xfrm>
          <a:prstGeom prst="rect">
            <a:avLst/>
          </a:prstGeom>
          <a:noFill/>
          <a:ln/>
        </p:spPr>
        <p:txBody>
          <a:bodyPr wrap="square" lIns="0" tIns="0" rIns="0" bIns="0" rtlCol="0" anchor="ctr">
            <a:normAutofit/>
          </a:bodyPr>
          <a:lstStyle/>
          <a:p>
            <a:pPr marL="0" indent="0" algn="l">
              <a:buNone/>
            </a:pPr>
            <a:r>
              <a:rPr lang="en-US" sz="1080" b="1" dirty="0">
                <a:solidFill>
                  <a:srgbClr val="1F2933"/>
                </a:solidFill>
                <a:latin typeface="Aptos" pitchFamily="34" charset="0"/>
                <a:ea typeface="Aptos" pitchFamily="34" charset="-122"/>
                <a:cs typeface="Aptos" pitchFamily="34" charset="-120"/>
              </a:rPr>
              <a:t>Positive evaluation culture may hide signal</a:t>
            </a:r>
            <a:endParaRPr lang="en-US" sz="1080" dirty="0"/>
          </a:p>
        </p:txBody>
      </p:sp>
      <p:sp>
        <p:nvSpPr>
          <p:cNvPr id="33" name="Text 31"/>
          <p:cNvSpPr txBox="1"/>
          <p:nvPr/>
        </p:nvSpPr>
        <p:spPr>
          <a:xfrm>
            <a:off x="4590288" y="5458968"/>
            <a:ext cx="6629400" cy="457200"/>
          </a:xfrm>
          <a:prstGeom prst="rect">
            <a:avLst/>
          </a:prstGeom>
          <a:noFill/>
          <a:ln/>
        </p:spPr>
        <p:txBody>
          <a:bodyPr wrap="square" lIns="0" tIns="0" rIns="0" bIns="0" rtlCol="0" anchor="t">
            <a:normAutofit/>
          </a:bodyPr>
          <a:lstStyle/>
          <a:p>
            <a:pPr marL="0" indent="0" algn="l">
              <a:buNone/>
            </a:pPr>
            <a:r>
              <a:rPr lang="en-US" sz="950" dirty="0">
                <a:solidFill>
                  <a:srgbClr val="1F2933"/>
                </a:solidFill>
                <a:latin typeface="Aptos" pitchFamily="34" charset="0"/>
                <a:ea typeface="Aptos" pitchFamily="34" charset="-122"/>
                <a:cs typeface="Aptos" pitchFamily="34" charset="-120"/>
              </a:rPr>
              <a:t>The overwhelming positive class can mask rare mixed/concern cases. Those minority narratives are likely to be disproportionately valuable for safety and quality improvement.</a:t>
            </a:r>
            <a:endParaRPr lang="en-US" sz="950" dirty="0"/>
          </a:p>
        </p:txBody>
      </p:sp>
      <p:sp>
        <p:nvSpPr>
          <p:cNvPr id="34"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Action steps: what the GMETS team can do now</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Move from descriptive discovery to targeted educational improvement</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Use the results to improve feedback quality, monitor relational safety and workload, and treat low-score narratives as system diagnostics—not only trainee judgments.</a:t>
            </a:r>
            <a:endParaRPr lang="en-US" sz="1110" dirty="0"/>
          </a:p>
        </p:txBody>
      </p:sp>
      <p:sp>
        <p:nvSpPr>
          <p:cNvPr id="7" name="Text 5"/>
          <p:cNvSpPr txBox="1"/>
          <p:nvPr/>
        </p:nvSpPr>
        <p:spPr>
          <a:xfrm>
            <a:off x="685800" y="1691640"/>
            <a:ext cx="457200" cy="228600"/>
          </a:xfrm>
          <a:prstGeom prst="rect">
            <a:avLst/>
          </a:prstGeom>
          <a:noFill/>
          <a:ln/>
        </p:spPr>
        <p:txBody>
          <a:bodyPr wrap="square" lIns="0" tIns="0" rIns="0" bIns="0" rtlCol="0" anchor="ctr">
            <a:normAutofit/>
          </a:bodyPr>
          <a:lstStyle/>
          <a:p>
            <a:pPr marL="0" indent="0" algn="ctr">
              <a:buNone/>
            </a:pPr>
            <a:r>
              <a:rPr lang="en-US" sz="860" b="1" dirty="0">
                <a:solidFill>
                  <a:srgbClr val="6D7781"/>
                </a:solidFill>
                <a:latin typeface="Aptos" pitchFamily="34" charset="0"/>
                <a:ea typeface="Aptos" pitchFamily="34" charset="-122"/>
                <a:cs typeface="Aptos" pitchFamily="34" charset="-120"/>
              </a:rPr>
              <a:t>PRIORITY</a:t>
            </a:r>
            <a:endParaRPr lang="en-US" sz="860" dirty="0"/>
          </a:p>
        </p:txBody>
      </p:sp>
      <p:sp>
        <p:nvSpPr>
          <p:cNvPr id="8" name="Text 6"/>
          <p:cNvSpPr txBox="1"/>
          <p:nvPr/>
        </p:nvSpPr>
        <p:spPr>
          <a:xfrm>
            <a:off x="1234440" y="1691640"/>
            <a:ext cx="2331720" cy="228600"/>
          </a:xfrm>
          <a:prstGeom prst="rect">
            <a:avLst/>
          </a:prstGeom>
          <a:noFill/>
          <a:ln/>
        </p:spPr>
        <p:txBody>
          <a:bodyPr wrap="square" lIns="0" tIns="0" rIns="0" bIns="0" rtlCol="0" anchor="ctr">
            <a:normAutofit/>
          </a:bodyPr>
          <a:lstStyle/>
          <a:p>
            <a:pPr marL="0" indent="0" algn="l">
              <a:buNone/>
            </a:pPr>
            <a:r>
              <a:rPr lang="en-US" sz="860" b="1" dirty="0">
                <a:solidFill>
                  <a:srgbClr val="6D7781"/>
                </a:solidFill>
                <a:latin typeface="Aptos" pitchFamily="34" charset="0"/>
                <a:ea typeface="Aptos" pitchFamily="34" charset="-122"/>
                <a:cs typeface="Aptos" pitchFamily="34" charset="-120"/>
              </a:rPr>
              <a:t>ACTION</a:t>
            </a:r>
            <a:endParaRPr lang="en-US" sz="860" dirty="0"/>
          </a:p>
        </p:txBody>
      </p:sp>
      <p:sp>
        <p:nvSpPr>
          <p:cNvPr id="9" name="Text 7"/>
          <p:cNvSpPr txBox="1"/>
          <p:nvPr/>
        </p:nvSpPr>
        <p:spPr>
          <a:xfrm>
            <a:off x="3840480" y="1691640"/>
            <a:ext cx="4069080" cy="228600"/>
          </a:xfrm>
          <a:prstGeom prst="rect">
            <a:avLst/>
          </a:prstGeom>
          <a:noFill/>
          <a:ln/>
        </p:spPr>
        <p:txBody>
          <a:bodyPr wrap="square" lIns="0" tIns="0" rIns="0" bIns="0" rtlCol="0" anchor="ctr">
            <a:normAutofit/>
          </a:bodyPr>
          <a:lstStyle/>
          <a:p>
            <a:pPr marL="0" indent="0" algn="l">
              <a:buNone/>
            </a:pPr>
            <a:r>
              <a:rPr lang="en-US" sz="860" b="1" dirty="0">
                <a:solidFill>
                  <a:srgbClr val="6D7781"/>
                </a:solidFill>
                <a:latin typeface="Aptos" pitchFamily="34" charset="0"/>
                <a:ea typeface="Aptos" pitchFamily="34" charset="-122"/>
                <a:cs typeface="Aptos" pitchFamily="34" charset="-120"/>
              </a:rPr>
              <a:t>WHAT TO CHANGE</a:t>
            </a:r>
            <a:endParaRPr lang="en-US" sz="860" dirty="0"/>
          </a:p>
        </p:txBody>
      </p:sp>
      <p:sp>
        <p:nvSpPr>
          <p:cNvPr id="10" name="Text 8"/>
          <p:cNvSpPr txBox="1"/>
          <p:nvPr/>
        </p:nvSpPr>
        <p:spPr>
          <a:xfrm>
            <a:off x="8229600" y="1691640"/>
            <a:ext cx="3200400" cy="228600"/>
          </a:xfrm>
          <a:prstGeom prst="rect">
            <a:avLst/>
          </a:prstGeom>
          <a:noFill/>
          <a:ln/>
        </p:spPr>
        <p:txBody>
          <a:bodyPr wrap="square" lIns="0" tIns="0" rIns="0" bIns="0" rtlCol="0" anchor="ctr">
            <a:normAutofit/>
          </a:bodyPr>
          <a:lstStyle/>
          <a:p>
            <a:pPr marL="0" indent="0" algn="l">
              <a:buNone/>
            </a:pPr>
            <a:r>
              <a:rPr lang="en-US" sz="860" b="1" dirty="0">
                <a:solidFill>
                  <a:srgbClr val="6D7781"/>
                </a:solidFill>
                <a:latin typeface="Aptos" pitchFamily="34" charset="0"/>
                <a:ea typeface="Aptos" pitchFamily="34" charset="-122"/>
                <a:cs typeface="Aptos" pitchFamily="34" charset="-120"/>
              </a:rPr>
              <a:t>WHAT TO MEASURE NEXT</a:t>
            </a:r>
            <a:endParaRPr lang="en-US" sz="860" dirty="0"/>
          </a:p>
        </p:txBody>
      </p:sp>
      <p:sp>
        <p:nvSpPr>
          <p:cNvPr id="11" name="Shape 9"/>
          <p:cNvSpPr/>
          <p:nvPr/>
        </p:nvSpPr>
        <p:spPr>
          <a:xfrm>
            <a:off x="621792" y="2011680"/>
            <a:ext cx="10927080" cy="676656"/>
          </a:xfrm>
          <a:prstGeom prst="roundRect">
            <a:avLst/>
          </a:prstGeom>
          <a:solidFill>
            <a:srgbClr val="FFFFFF"/>
          </a:solidFill>
          <a:ln w="10160">
            <a:solidFill>
              <a:srgbClr val="D7DEE6"/>
            </a:solidFill>
            <a:prstDash val="solid"/>
          </a:ln>
        </p:spPr>
        <p:txBody>
          <a:bodyPr/>
          <a:lstStyle/>
          <a:p>
            <a:endParaRPr lang="en-US"/>
          </a:p>
        </p:txBody>
      </p:sp>
      <p:sp>
        <p:nvSpPr>
          <p:cNvPr id="12" name="Shape 10"/>
          <p:cNvSpPr/>
          <p:nvPr/>
        </p:nvSpPr>
        <p:spPr>
          <a:xfrm>
            <a:off x="749808" y="2176272"/>
            <a:ext cx="310896" cy="310896"/>
          </a:xfrm>
          <a:prstGeom prst="ellipse">
            <a:avLst/>
          </a:prstGeom>
          <a:solidFill>
            <a:srgbClr val="2B8C87"/>
          </a:solidFill>
          <a:ln w="12700">
            <a:solidFill>
              <a:srgbClr val="2B8C87"/>
            </a:solidFill>
            <a:prstDash val="solid"/>
          </a:ln>
        </p:spPr>
        <p:txBody>
          <a:bodyPr/>
          <a:lstStyle/>
          <a:p>
            <a:endParaRPr lang="en-US"/>
          </a:p>
        </p:txBody>
      </p:sp>
      <p:sp>
        <p:nvSpPr>
          <p:cNvPr id="13" name="Text 11"/>
          <p:cNvSpPr txBox="1"/>
          <p:nvPr/>
        </p:nvSpPr>
        <p:spPr>
          <a:xfrm>
            <a:off x="749808" y="2176272"/>
            <a:ext cx="310896" cy="31089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1</a:t>
            </a:r>
            <a:endParaRPr lang="en-US" sz="950" dirty="0"/>
          </a:p>
        </p:txBody>
      </p:sp>
      <p:sp>
        <p:nvSpPr>
          <p:cNvPr id="14" name="Text 12"/>
          <p:cNvSpPr txBox="1"/>
          <p:nvPr/>
        </p:nvSpPr>
        <p:spPr>
          <a:xfrm>
            <a:off x="1234440" y="2103120"/>
            <a:ext cx="2331720" cy="420624"/>
          </a:xfrm>
          <a:prstGeom prst="rect">
            <a:avLst/>
          </a:prstGeom>
          <a:noFill/>
          <a:ln/>
        </p:spPr>
        <p:txBody>
          <a:bodyPr wrap="square" lIns="0" tIns="0" rIns="0" bIns="0" rtlCol="0" anchor="t">
            <a:normAutofit/>
          </a:bodyPr>
          <a:lstStyle/>
          <a:p>
            <a:pPr marL="0" indent="0" algn="l">
              <a:buNone/>
            </a:pPr>
            <a:r>
              <a:rPr lang="en-US" sz="980" b="1" dirty="0">
                <a:solidFill>
                  <a:srgbClr val="1F2933"/>
                </a:solidFill>
                <a:latin typeface="Aptos" pitchFamily="34" charset="0"/>
                <a:ea typeface="Aptos" pitchFamily="34" charset="-122"/>
                <a:cs typeface="Aptos" pitchFamily="34" charset="-120"/>
              </a:rPr>
              <a:t>Improve feedback specificity</a:t>
            </a:r>
            <a:endParaRPr lang="en-US" sz="980" dirty="0"/>
          </a:p>
        </p:txBody>
      </p:sp>
      <p:sp>
        <p:nvSpPr>
          <p:cNvPr id="15" name="Text 13"/>
          <p:cNvSpPr txBox="1"/>
          <p:nvPr/>
        </p:nvSpPr>
        <p:spPr>
          <a:xfrm>
            <a:off x="3840480" y="2084832"/>
            <a:ext cx="4114800" cy="457200"/>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Introduce a structured feedback template: observed behavior → impact/context → specific next step.</a:t>
            </a:r>
            <a:endParaRPr lang="en-US" sz="930" dirty="0"/>
          </a:p>
        </p:txBody>
      </p:sp>
      <p:sp>
        <p:nvSpPr>
          <p:cNvPr id="16" name="Text 14"/>
          <p:cNvSpPr txBox="1"/>
          <p:nvPr/>
        </p:nvSpPr>
        <p:spPr>
          <a:xfrm>
            <a:off x="8229600" y="2084832"/>
            <a:ext cx="3017520" cy="457200"/>
          </a:xfrm>
          <a:prstGeom prst="rect">
            <a:avLst/>
          </a:prstGeom>
          <a:noFill/>
          <a:ln/>
        </p:spPr>
        <p:txBody>
          <a:bodyPr wrap="square" lIns="0" tIns="0" rIns="0" bIns="0" rtlCol="0" anchor="t">
            <a:normAutofit/>
          </a:bodyPr>
          <a:lstStyle/>
          <a:p>
            <a:pPr marL="0" indent="0" algn="l">
              <a:buNone/>
            </a:pPr>
            <a:r>
              <a:rPr lang="en-US" sz="920" dirty="0">
                <a:solidFill>
                  <a:srgbClr val="1F2933"/>
                </a:solidFill>
                <a:latin typeface="Aptos" pitchFamily="34" charset="0"/>
                <a:ea typeface="Aptos" pitchFamily="34" charset="-122"/>
                <a:cs typeface="Aptos" pitchFamily="34" charset="-120"/>
              </a:rPr>
              <a:t>Mean specificity/actionability by evaluation type; % comments ≥4/5.</a:t>
            </a:r>
            <a:endParaRPr lang="en-US" sz="920" dirty="0"/>
          </a:p>
        </p:txBody>
      </p:sp>
      <p:sp>
        <p:nvSpPr>
          <p:cNvPr id="17" name="Shape 15"/>
          <p:cNvSpPr/>
          <p:nvPr/>
        </p:nvSpPr>
        <p:spPr>
          <a:xfrm>
            <a:off x="621792" y="2816352"/>
            <a:ext cx="10927080" cy="676656"/>
          </a:xfrm>
          <a:prstGeom prst="roundRect">
            <a:avLst/>
          </a:prstGeom>
          <a:solidFill>
            <a:srgbClr val="F4F7F9"/>
          </a:solidFill>
          <a:ln w="10160">
            <a:solidFill>
              <a:srgbClr val="D7DEE6"/>
            </a:solidFill>
            <a:prstDash val="solid"/>
          </a:ln>
        </p:spPr>
        <p:txBody>
          <a:bodyPr/>
          <a:lstStyle/>
          <a:p>
            <a:endParaRPr lang="en-US"/>
          </a:p>
        </p:txBody>
      </p:sp>
      <p:sp>
        <p:nvSpPr>
          <p:cNvPr id="18" name="Shape 16"/>
          <p:cNvSpPr/>
          <p:nvPr/>
        </p:nvSpPr>
        <p:spPr>
          <a:xfrm>
            <a:off x="749808" y="2980944"/>
            <a:ext cx="310896" cy="310896"/>
          </a:xfrm>
          <a:prstGeom prst="ellipse">
            <a:avLst/>
          </a:prstGeom>
          <a:solidFill>
            <a:srgbClr val="2B8C87"/>
          </a:solidFill>
          <a:ln w="12700">
            <a:solidFill>
              <a:srgbClr val="2B8C87"/>
            </a:solidFill>
            <a:prstDash val="solid"/>
          </a:ln>
        </p:spPr>
        <p:txBody>
          <a:bodyPr/>
          <a:lstStyle/>
          <a:p>
            <a:endParaRPr lang="en-US"/>
          </a:p>
        </p:txBody>
      </p:sp>
      <p:sp>
        <p:nvSpPr>
          <p:cNvPr id="19" name="Text 17"/>
          <p:cNvSpPr txBox="1"/>
          <p:nvPr/>
        </p:nvSpPr>
        <p:spPr>
          <a:xfrm>
            <a:off x="749808" y="2980944"/>
            <a:ext cx="310896" cy="31089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2</a:t>
            </a:r>
            <a:endParaRPr lang="en-US" sz="950" dirty="0"/>
          </a:p>
        </p:txBody>
      </p:sp>
      <p:sp>
        <p:nvSpPr>
          <p:cNvPr id="20" name="Text 18"/>
          <p:cNvSpPr txBox="1"/>
          <p:nvPr/>
        </p:nvSpPr>
        <p:spPr>
          <a:xfrm>
            <a:off x="1234440" y="2907792"/>
            <a:ext cx="2331720" cy="420624"/>
          </a:xfrm>
          <a:prstGeom prst="rect">
            <a:avLst/>
          </a:prstGeom>
          <a:noFill/>
          <a:ln/>
        </p:spPr>
        <p:txBody>
          <a:bodyPr wrap="square" lIns="0" tIns="0" rIns="0" bIns="0" rtlCol="0" anchor="t">
            <a:normAutofit/>
          </a:bodyPr>
          <a:lstStyle/>
          <a:p>
            <a:pPr marL="0" indent="0" algn="l">
              <a:buNone/>
            </a:pPr>
            <a:r>
              <a:rPr lang="en-US" sz="980" b="1" dirty="0">
                <a:solidFill>
                  <a:srgbClr val="1F2933"/>
                </a:solidFill>
                <a:latin typeface="Aptos" pitchFamily="34" charset="0"/>
                <a:ea typeface="Aptos" pitchFamily="34" charset="-122"/>
                <a:cs typeface="Aptos" pitchFamily="34" charset="-120"/>
              </a:rPr>
              <a:t>Monitor psychological safety + supervision</a:t>
            </a:r>
            <a:endParaRPr lang="en-US" sz="980" dirty="0"/>
          </a:p>
        </p:txBody>
      </p:sp>
      <p:sp>
        <p:nvSpPr>
          <p:cNvPr id="21" name="Text 19"/>
          <p:cNvSpPr txBox="1"/>
          <p:nvPr/>
        </p:nvSpPr>
        <p:spPr>
          <a:xfrm>
            <a:off x="3840480" y="2889504"/>
            <a:ext cx="4114800" cy="457200"/>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Add recurring program-level indicators for psychological safety, supervisor availability, and safe help-seeking.</a:t>
            </a:r>
            <a:endParaRPr lang="en-US" sz="930" dirty="0"/>
          </a:p>
        </p:txBody>
      </p:sp>
      <p:sp>
        <p:nvSpPr>
          <p:cNvPr id="22" name="Text 20"/>
          <p:cNvSpPr txBox="1"/>
          <p:nvPr/>
        </p:nvSpPr>
        <p:spPr>
          <a:xfrm>
            <a:off x="8229600" y="2889504"/>
            <a:ext cx="3017520" cy="457200"/>
          </a:xfrm>
          <a:prstGeom prst="rect">
            <a:avLst/>
          </a:prstGeom>
          <a:noFill/>
          <a:ln/>
        </p:spPr>
        <p:txBody>
          <a:bodyPr wrap="square" lIns="0" tIns="0" rIns="0" bIns="0" rtlCol="0" anchor="t">
            <a:normAutofit/>
          </a:bodyPr>
          <a:lstStyle/>
          <a:p>
            <a:pPr marL="0" indent="0" algn="l">
              <a:buNone/>
            </a:pPr>
            <a:r>
              <a:rPr lang="en-US" sz="920" dirty="0">
                <a:solidFill>
                  <a:srgbClr val="1F2933"/>
                </a:solidFill>
                <a:latin typeface="Aptos" pitchFamily="34" charset="0"/>
                <a:ea typeface="Aptos" pitchFamily="34" charset="-122"/>
                <a:cs typeface="Aptos" pitchFamily="34" charset="-120"/>
              </a:rPr>
              <a:t>Quarterly prevalence + targeted pulse survey + negative-case review.</a:t>
            </a:r>
            <a:endParaRPr lang="en-US" sz="920" dirty="0"/>
          </a:p>
        </p:txBody>
      </p:sp>
      <p:sp>
        <p:nvSpPr>
          <p:cNvPr id="23" name="Shape 21"/>
          <p:cNvSpPr/>
          <p:nvPr/>
        </p:nvSpPr>
        <p:spPr>
          <a:xfrm>
            <a:off x="621792" y="3621024"/>
            <a:ext cx="10927080" cy="676656"/>
          </a:xfrm>
          <a:prstGeom prst="roundRect">
            <a:avLst/>
          </a:prstGeom>
          <a:solidFill>
            <a:srgbClr val="FFFFFF"/>
          </a:solidFill>
          <a:ln w="10160">
            <a:solidFill>
              <a:srgbClr val="D7DEE6"/>
            </a:solidFill>
            <a:prstDash val="solid"/>
          </a:ln>
        </p:spPr>
        <p:txBody>
          <a:bodyPr/>
          <a:lstStyle/>
          <a:p>
            <a:endParaRPr lang="en-US"/>
          </a:p>
        </p:txBody>
      </p:sp>
      <p:sp>
        <p:nvSpPr>
          <p:cNvPr id="24" name="Shape 22"/>
          <p:cNvSpPr/>
          <p:nvPr/>
        </p:nvSpPr>
        <p:spPr>
          <a:xfrm>
            <a:off x="749808" y="3785616"/>
            <a:ext cx="310896" cy="310896"/>
          </a:xfrm>
          <a:prstGeom prst="ellipse">
            <a:avLst/>
          </a:prstGeom>
          <a:solidFill>
            <a:srgbClr val="2A6F9E"/>
          </a:solidFill>
          <a:ln w="12700">
            <a:solidFill>
              <a:srgbClr val="2A6F9E"/>
            </a:solidFill>
            <a:prstDash val="solid"/>
          </a:ln>
        </p:spPr>
        <p:txBody>
          <a:bodyPr/>
          <a:lstStyle/>
          <a:p>
            <a:endParaRPr lang="en-US"/>
          </a:p>
        </p:txBody>
      </p:sp>
      <p:sp>
        <p:nvSpPr>
          <p:cNvPr id="25" name="Text 23"/>
          <p:cNvSpPr txBox="1"/>
          <p:nvPr/>
        </p:nvSpPr>
        <p:spPr>
          <a:xfrm>
            <a:off x="749808" y="3785616"/>
            <a:ext cx="310896" cy="31089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3</a:t>
            </a:r>
            <a:endParaRPr lang="en-US" sz="950" dirty="0"/>
          </a:p>
        </p:txBody>
      </p:sp>
      <p:sp>
        <p:nvSpPr>
          <p:cNvPr id="26" name="Text 24"/>
          <p:cNvSpPr txBox="1"/>
          <p:nvPr/>
        </p:nvSpPr>
        <p:spPr>
          <a:xfrm>
            <a:off x="1234440" y="3712464"/>
            <a:ext cx="2331720" cy="420624"/>
          </a:xfrm>
          <a:prstGeom prst="rect">
            <a:avLst/>
          </a:prstGeom>
          <a:noFill/>
          <a:ln/>
        </p:spPr>
        <p:txBody>
          <a:bodyPr wrap="square" lIns="0" tIns="0" rIns="0" bIns="0" rtlCol="0" anchor="t">
            <a:normAutofit/>
          </a:bodyPr>
          <a:lstStyle/>
          <a:p>
            <a:pPr marL="0" indent="0" algn="l">
              <a:buNone/>
            </a:pPr>
            <a:r>
              <a:rPr lang="en-US" sz="980" b="1" dirty="0">
                <a:solidFill>
                  <a:srgbClr val="1F2933"/>
                </a:solidFill>
                <a:latin typeface="Aptos" pitchFamily="34" charset="0"/>
                <a:ea typeface="Aptos" pitchFamily="34" charset="-122"/>
                <a:cs typeface="Aptos" pitchFamily="34" charset="-120"/>
              </a:rPr>
              <a:t>Use low-score narratives as system signals</a:t>
            </a:r>
            <a:endParaRPr lang="en-US" sz="980" dirty="0"/>
          </a:p>
        </p:txBody>
      </p:sp>
      <p:sp>
        <p:nvSpPr>
          <p:cNvPr id="27" name="Text 25"/>
          <p:cNvSpPr txBox="1"/>
          <p:nvPr/>
        </p:nvSpPr>
        <p:spPr>
          <a:xfrm>
            <a:off x="3840480" y="3694176"/>
            <a:ext cx="4114800" cy="457200"/>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When scores are low, review workload, workflow, rotation, assessment, wellbeing, and equity context before attributing the issue solely to the trainee.</a:t>
            </a:r>
            <a:endParaRPr lang="en-US" sz="930" dirty="0"/>
          </a:p>
        </p:txBody>
      </p:sp>
      <p:sp>
        <p:nvSpPr>
          <p:cNvPr id="28" name="Text 26"/>
          <p:cNvSpPr txBox="1"/>
          <p:nvPr/>
        </p:nvSpPr>
        <p:spPr>
          <a:xfrm>
            <a:off x="8229600" y="3694176"/>
            <a:ext cx="3017520" cy="457200"/>
          </a:xfrm>
          <a:prstGeom prst="rect">
            <a:avLst/>
          </a:prstGeom>
          <a:noFill/>
          <a:ln/>
        </p:spPr>
        <p:txBody>
          <a:bodyPr wrap="square" lIns="0" tIns="0" rIns="0" bIns="0" rtlCol="0" anchor="t">
            <a:normAutofit/>
          </a:bodyPr>
          <a:lstStyle/>
          <a:p>
            <a:pPr marL="0" indent="0" algn="l">
              <a:buNone/>
            </a:pPr>
            <a:r>
              <a:rPr lang="en-US" sz="920" dirty="0">
                <a:solidFill>
                  <a:srgbClr val="1F2933"/>
                </a:solidFill>
                <a:latin typeface="Aptos" pitchFamily="34" charset="0"/>
                <a:ea typeface="Aptos" pitchFamily="34" charset="-122"/>
                <a:cs typeface="Aptos" pitchFamily="34" charset="-120"/>
              </a:rPr>
              <a:t>Rate of environmental themes in low-score events; program-level clustering.</a:t>
            </a:r>
            <a:endParaRPr lang="en-US" sz="920" dirty="0"/>
          </a:p>
        </p:txBody>
      </p:sp>
      <p:sp>
        <p:nvSpPr>
          <p:cNvPr id="29" name="Shape 27"/>
          <p:cNvSpPr/>
          <p:nvPr/>
        </p:nvSpPr>
        <p:spPr>
          <a:xfrm>
            <a:off x="621792" y="4425696"/>
            <a:ext cx="10927080" cy="676656"/>
          </a:xfrm>
          <a:prstGeom prst="roundRect">
            <a:avLst/>
          </a:prstGeom>
          <a:solidFill>
            <a:srgbClr val="F4F7F9"/>
          </a:solidFill>
          <a:ln w="10160">
            <a:solidFill>
              <a:srgbClr val="D7DEE6"/>
            </a:solidFill>
            <a:prstDash val="solid"/>
          </a:ln>
        </p:spPr>
        <p:txBody>
          <a:bodyPr/>
          <a:lstStyle/>
          <a:p>
            <a:endParaRPr lang="en-US"/>
          </a:p>
        </p:txBody>
      </p:sp>
      <p:sp>
        <p:nvSpPr>
          <p:cNvPr id="30" name="Shape 28"/>
          <p:cNvSpPr/>
          <p:nvPr/>
        </p:nvSpPr>
        <p:spPr>
          <a:xfrm>
            <a:off x="749808" y="4590288"/>
            <a:ext cx="310896" cy="310896"/>
          </a:xfrm>
          <a:prstGeom prst="ellipse">
            <a:avLst/>
          </a:prstGeom>
          <a:solidFill>
            <a:srgbClr val="2A6F9E"/>
          </a:solidFill>
          <a:ln w="12700">
            <a:solidFill>
              <a:srgbClr val="2A6F9E"/>
            </a:solidFill>
            <a:prstDash val="solid"/>
          </a:ln>
        </p:spPr>
        <p:txBody>
          <a:bodyPr/>
          <a:lstStyle/>
          <a:p>
            <a:endParaRPr lang="en-US"/>
          </a:p>
        </p:txBody>
      </p:sp>
      <p:sp>
        <p:nvSpPr>
          <p:cNvPr id="31" name="Text 29"/>
          <p:cNvSpPr txBox="1"/>
          <p:nvPr/>
        </p:nvSpPr>
        <p:spPr>
          <a:xfrm>
            <a:off x="749808" y="4590288"/>
            <a:ext cx="310896" cy="31089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4</a:t>
            </a:r>
            <a:endParaRPr lang="en-US" sz="950" dirty="0"/>
          </a:p>
        </p:txBody>
      </p:sp>
      <p:sp>
        <p:nvSpPr>
          <p:cNvPr id="32" name="Text 30"/>
          <p:cNvSpPr txBox="1"/>
          <p:nvPr/>
        </p:nvSpPr>
        <p:spPr>
          <a:xfrm>
            <a:off x="1234440" y="4517136"/>
            <a:ext cx="2331720" cy="420624"/>
          </a:xfrm>
          <a:prstGeom prst="rect">
            <a:avLst/>
          </a:prstGeom>
          <a:noFill/>
          <a:ln/>
        </p:spPr>
        <p:txBody>
          <a:bodyPr wrap="square" lIns="0" tIns="0" rIns="0" bIns="0" rtlCol="0" anchor="t">
            <a:normAutofit/>
          </a:bodyPr>
          <a:lstStyle/>
          <a:p>
            <a:pPr marL="0" indent="0" algn="l">
              <a:buNone/>
            </a:pPr>
            <a:r>
              <a:rPr lang="en-US" sz="980" b="1" dirty="0">
                <a:solidFill>
                  <a:srgbClr val="1F2933"/>
                </a:solidFill>
                <a:latin typeface="Aptos" pitchFamily="34" charset="0"/>
                <a:ea typeface="Aptos" pitchFamily="34" charset="-122"/>
                <a:cs typeface="Aptos" pitchFamily="34" charset="-120"/>
              </a:rPr>
              <a:t>Human-review high-value minority cases</a:t>
            </a:r>
            <a:endParaRPr lang="en-US" sz="980" dirty="0"/>
          </a:p>
        </p:txBody>
      </p:sp>
      <p:sp>
        <p:nvSpPr>
          <p:cNvPr id="33" name="Text 31"/>
          <p:cNvSpPr txBox="1"/>
          <p:nvPr/>
        </p:nvSpPr>
        <p:spPr>
          <a:xfrm>
            <a:off x="3840480" y="4498848"/>
            <a:ext cx="4114800" cy="457200"/>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Create a review queue for concern/mixed signals, negative cases, zero-confidence rows, serious outcomes, bias, and handoff failures.</a:t>
            </a:r>
            <a:endParaRPr lang="en-US" sz="930" dirty="0"/>
          </a:p>
        </p:txBody>
      </p:sp>
      <p:sp>
        <p:nvSpPr>
          <p:cNvPr id="34" name="Text 32"/>
          <p:cNvSpPr txBox="1"/>
          <p:nvPr/>
        </p:nvSpPr>
        <p:spPr>
          <a:xfrm>
            <a:off x="8229600" y="4498848"/>
            <a:ext cx="3017520" cy="457200"/>
          </a:xfrm>
          <a:prstGeom prst="rect">
            <a:avLst/>
          </a:prstGeom>
          <a:noFill/>
          <a:ln/>
        </p:spPr>
        <p:txBody>
          <a:bodyPr wrap="square" lIns="0" tIns="0" rIns="0" bIns="0" rtlCol="0" anchor="t">
            <a:normAutofit/>
          </a:bodyPr>
          <a:lstStyle/>
          <a:p>
            <a:pPr marL="0" indent="0" algn="l">
              <a:buNone/>
            </a:pPr>
            <a:r>
              <a:rPr lang="en-US" sz="920" dirty="0">
                <a:solidFill>
                  <a:srgbClr val="1F2933"/>
                </a:solidFill>
                <a:latin typeface="Aptos" pitchFamily="34" charset="0"/>
                <a:ea typeface="Aptos" pitchFamily="34" charset="-122"/>
                <a:cs typeface="Aptos" pitchFamily="34" charset="-120"/>
              </a:rPr>
              <a:t>Precision/recall after adjudication; time-to-review; confirmed sentinel events.</a:t>
            </a:r>
            <a:endParaRPr lang="en-US" sz="920" dirty="0"/>
          </a:p>
        </p:txBody>
      </p:sp>
      <p:sp>
        <p:nvSpPr>
          <p:cNvPr id="35" name="Shape 33"/>
          <p:cNvSpPr/>
          <p:nvPr/>
        </p:nvSpPr>
        <p:spPr>
          <a:xfrm>
            <a:off x="621792" y="5230368"/>
            <a:ext cx="10927080" cy="676656"/>
          </a:xfrm>
          <a:prstGeom prst="roundRect">
            <a:avLst/>
          </a:prstGeom>
          <a:solidFill>
            <a:srgbClr val="FFFFFF"/>
          </a:solidFill>
          <a:ln w="10160">
            <a:solidFill>
              <a:srgbClr val="D7DEE6"/>
            </a:solidFill>
            <a:prstDash val="solid"/>
          </a:ln>
        </p:spPr>
        <p:txBody>
          <a:bodyPr/>
          <a:lstStyle/>
          <a:p>
            <a:endParaRPr lang="en-US"/>
          </a:p>
        </p:txBody>
      </p:sp>
      <p:sp>
        <p:nvSpPr>
          <p:cNvPr id="36" name="Shape 34"/>
          <p:cNvSpPr/>
          <p:nvPr/>
        </p:nvSpPr>
        <p:spPr>
          <a:xfrm>
            <a:off x="749808" y="5394960"/>
            <a:ext cx="310896" cy="310896"/>
          </a:xfrm>
          <a:prstGeom prst="ellipse">
            <a:avLst/>
          </a:prstGeom>
          <a:solidFill>
            <a:srgbClr val="2A6F9E"/>
          </a:solidFill>
          <a:ln w="12700">
            <a:solidFill>
              <a:srgbClr val="2A6F9E"/>
            </a:solidFill>
            <a:prstDash val="solid"/>
          </a:ln>
        </p:spPr>
        <p:txBody>
          <a:bodyPr/>
          <a:lstStyle/>
          <a:p>
            <a:endParaRPr lang="en-US"/>
          </a:p>
        </p:txBody>
      </p:sp>
      <p:sp>
        <p:nvSpPr>
          <p:cNvPr id="37" name="Text 35"/>
          <p:cNvSpPr txBox="1"/>
          <p:nvPr/>
        </p:nvSpPr>
        <p:spPr>
          <a:xfrm>
            <a:off x="749808" y="5394960"/>
            <a:ext cx="310896" cy="31089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5</a:t>
            </a:r>
            <a:endParaRPr lang="en-US" sz="950" dirty="0"/>
          </a:p>
        </p:txBody>
      </p:sp>
      <p:sp>
        <p:nvSpPr>
          <p:cNvPr id="38" name="Text 36"/>
          <p:cNvSpPr txBox="1"/>
          <p:nvPr/>
        </p:nvSpPr>
        <p:spPr>
          <a:xfrm>
            <a:off x="1234440" y="5321808"/>
            <a:ext cx="2331720" cy="420624"/>
          </a:xfrm>
          <a:prstGeom prst="rect">
            <a:avLst/>
          </a:prstGeom>
          <a:noFill/>
          <a:ln/>
        </p:spPr>
        <p:txBody>
          <a:bodyPr wrap="square" lIns="0" tIns="0" rIns="0" bIns="0" rtlCol="0" anchor="t">
            <a:normAutofit/>
          </a:bodyPr>
          <a:lstStyle/>
          <a:p>
            <a:pPr marL="0" indent="0" algn="l">
              <a:buNone/>
            </a:pPr>
            <a:r>
              <a:rPr lang="en-US" sz="980" b="1" dirty="0">
                <a:solidFill>
                  <a:srgbClr val="1F2933"/>
                </a:solidFill>
                <a:latin typeface="Aptos" pitchFamily="34" charset="0"/>
                <a:ea typeface="Aptos" pitchFamily="34" charset="-122"/>
                <a:cs typeface="Aptos" pitchFamily="34" charset="-120"/>
              </a:rPr>
              <a:t>Clean the coding layer</a:t>
            </a:r>
            <a:endParaRPr lang="en-US" sz="980" dirty="0"/>
          </a:p>
        </p:txBody>
      </p:sp>
      <p:sp>
        <p:nvSpPr>
          <p:cNvPr id="39" name="Text 37"/>
          <p:cNvSpPr txBox="1"/>
          <p:nvPr/>
        </p:nvSpPr>
        <p:spPr>
          <a:xfrm>
            <a:off x="3840480" y="5303520"/>
            <a:ext cx="4114800" cy="457200"/>
          </a:xfrm>
          <a:prstGeom prst="rect">
            <a:avLst/>
          </a:prstGeom>
          <a:noFill/>
          <a:ln/>
        </p:spPr>
        <p:txBody>
          <a:bodyPr wrap="square" lIns="0" tIns="0" rIns="0" bIns="0" rtlCol="0" anchor="t">
            <a:normAutofit/>
          </a:bodyPr>
          <a:lstStyle/>
          <a:p>
            <a:pPr marL="0" indent="0" algn="l">
              <a:buNone/>
            </a:pPr>
            <a:r>
              <a:rPr lang="en-US" sz="930" dirty="0">
                <a:solidFill>
                  <a:srgbClr val="1F2933"/>
                </a:solidFill>
                <a:latin typeface="Aptos" pitchFamily="34" charset="0"/>
                <a:ea typeface="Aptos" pitchFamily="34" charset="-122"/>
                <a:cs typeface="Aptos" pitchFamily="34" charset="-120"/>
              </a:rPr>
              <a:t>Normalize gap labels, remove NaN/placeholders, and audit “no explicit” logic at row and event levels.</a:t>
            </a:r>
            <a:endParaRPr lang="en-US" sz="930" dirty="0"/>
          </a:p>
        </p:txBody>
      </p:sp>
      <p:sp>
        <p:nvSpPr>
          <p:cNvPr id="40" name="Text 38"/>
          <p:cNvSpPr txBox="1"/>
          <p:nvPr/>
        </p:nvSpPr>
        <p:spPr>
          <a:xfrm>
            <a:off x="8229600" y="5303520"/>
            <a:ext cx="3017520" cy="457200"/>
          </a:xfrm>
          <a:prstGeom prst="rect">
            <a:avLst/>
          </a:prstGeom>
          <a:noFill/>
          <a:ln/>
        </p:spPr>
        <p:txBody>
          <a:bodyPr wrap="square" lIns="0" tIns="0" rIns="0" bIns="0" rtlCol="0" anchor="t">
            <a:normAutofit/>
          </a:bodyPr>
          <a:lstStyle/>
          <a:p>
            <a:pPr marL="0" indent="0" algn="l">
              <a:buNone/>
            </a:pPr>
            <a:r>
              <a:rPr lang="en-US" sz="920" dirty="0">
                <a:solidFill>
                  <a:srgbClr val="1F2933"/>
                </a:solidFill>
                <a:latin typeface="Aptos" pitchFamily="34" charset="0"/>
                <a:ea typeface="Aptos" pitchFamily="34" charset="-122"/>
                <a:cs typeface="Aptos" pitchFamily="34" charset="-120"/>
              </a:rPr>
              <a:t>Post-clean taxonomy-gap rate; duplicate/invalid gap rate; inter-rater agreement.</a:t>
            </a:r>
            <a:endParaRPr lang="en-US" sz="920" dirty="0"/>
          </a:p>
        </p:txBody>
      </p:sp>
      <p:sp>
        <p:nvSpPr>
          <p:cNvPr id="41"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Future analysis and research roadmap</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What to do next to convert the 100K discovery analysis into publication- and decision-ready evidence</a:t>
            </a:r>
            <a:endParaRPr lang="en-US" sz="1150" dirty="0"/>
          </a:p>
        </p:txBody>
      </p:sp>
      <p:sp>
        <p:nvSpPr>
          <p:cNvPr id="4" name="Shape 2"/>
          <p:cNvSpPr/>
          <p:nvPr/>
        </p:nvSpPr>
        <p:spPr>
          <a:xfrm>
            <a:off x="475488" y="1024128"/>
            <a:ext cx="11082528" cy="457200"/>
          </a:xfrm>
          <a:prstGeom prst="roundRect">
            <a:avLst>
              <a:gd name="adj" fmla="val 8000"/>
            </a:avLst>
          </a:prstGeom>
          <a:solidFill>
            <a:srgbClr val="EDF5FA"/>
          </a:solidFill>
          <a:ln w="12700">
            <a:solidFill>
              <a:srgbClr val="D7DEE6"/>
            </a:solidFill>
            <a:prstDash val="solid"/>
          </a:ln>
        </p:spPr>
        <p:txBody>
          <a:bodyPr/>
          <a:lstStyle/>
          <a:p>
            <a:endParaRPr lang="en-US"/>
          </a:p>
        </p:txBody>
      </p:sp>
      <p:sp>
        <p:nvSpPr>
          <p:cNvPr id="5" name="Text 3"/>
          <p:cNvSpPr txBox="1"/>
          <p:nvPr/>
        </p:nvSpPr>
        <p:spPr>
          <a:xfrm>
            <a:off x="658368" y="1106424"/>
            <a:ext cx="1051560" cy="182880"/>
          </a:xfrm>
          <a:prstGeom prst="rect">
            <a:avLst/>
          </a:prstGeom>
          <a:noFill/>
          <a:ln/>
        </p:spPr>
        <p:txBody>
          <a:bodyPr wrap="square" lIns="0" tIns="0" rIns="0" bIns="0" rtlCol="0" anchor="ctr">
            <a:normAutofit/>
          </a:bodyPr>
          <a:lstStyle/>
          <a:p>
            <a:pPr marL="0" indent="0" algn="l">
              <a:buNone/>
            </a:pPr>
            <a:r>
              <a:rPr lang="en-US" sz="880" b="1" dirty="0">
                <a:solidFill>
                  <a:srgbClr val="2A6F9E"/>
                </a:solidFill>
                <a:latin typeface="Aptos" pitchFamily="34" charset="0"/>
                <a:ea typeface="Aptos" pitchFamily="34" charset="-122"/>
                <a:cs typeface="Aptos" pitchFamily="34" charset="-120"/>
              </a:rPr>
              <a:t>KEY MESSAGE</a:t>
            </a:r>
            <a:endParaRPr lang="en-US" sz="880" dirty="0"/>
          </a:p>
        </p:txBody>
      </p:sp>
      <p:sp>
        <p:nvSpPr>
          <p:cNvPr id="6" name="Text 4"/>
          <p:cNvSpPr txBox="1"/>
          <p:nvPr/>
        </p:nvSpPr>
        <p:spPr>
          <a:xfrm>
            <a:off x="1664208" y="1069848"/>
            <a:ext cx="9555480" cy="256032"/>
          </a:xfrm>
          <a:prstGeom prst="rect">
            <a:avLst/>
          </a:prstGeom>
          <a:noFill/>
          <a:ln/>
        </p:spPr>
        <p:txBody>
          <a:bodyPr wrap="square" lIns="0" tIns="0" rIns="0" bIns="0" rtlCol="0" anchor="ctr">
            <a:normAutofit/>
          </a:bodyPr>
          <a:lstStyle/>
          <a:p>
            <a:pPr marL="0" indent="0" algn="l">
              <a:buNone/>
            </a:pPr>
            <a:r>
              <a:rPr lang="en-US" sz="1110" b="1" dirty="0">
                <a:solidFill>
                  <a:srgbClr val="1F2933"/>
                </a:solidFill>
                <a:latin typeface="Aptos" pitchFamily="34" charset="0"/>
                <a:ea typeface="Aptos" pitchFamily="34" charset="-122"/>
                <a:cs typeface="Aptos" pitchFamily="34" charset="-120"/>
              </a:rPr>
              <a:t>The next phase should test the descriptive model with row-level prevalence, adjusted mixed-effects models, longitudinal analyses, and human validation.</a:t>
            </a:r>
            <a:endParaRPr lang="en-US" sz="1110" dirty="0"/>
          </a:p>
        </p:txBody>
      </p:sp>
      <p:sp>
        <p:nvSpPr>
          <p:cNvPr id="7" name="Shape 5"/>
          <p:cNvSpPr/>
          <p:nvPr/>
        </p:nvSpPr>
        <p:spPr>
          <a:xfrm>
            <a:off x="658368" y="1755648"/>
            <a:ext cx="2606040" cy="4069080"/>
          </a:xfrm>
          <a:prstGeom prst="roundRect">
            <a:avLst/>
          </a:prstGeom>
          <a:solidFill>
            <a:srgbClr val="F9EFEF"/>
          </a:solidFill>
          <a:ln w="12700">
            <a:solidFill>
              <a:srgbClr val="D7DEE6"/>
            </a:solidFill>
            <a:prstDash val="solid"/>
          </a:ln>
        </p:spPr>
        <p:txBody>
          <a:bodyPr/>
          <a:lstStyle/>
          <a:p>
            <a:endParaRPr lang="en-US"/>
          </a:p>
        </p:txBody>
      </p:sp>
      <p:sp>
        <p:nvSpPr>
          <p:cNvPr id="8" name="Text 6"/>
          <p:cNvSpPr txBox="1"/>
          <p:nvPr/>
        </p:nvSpPr>
        <p:spPr>
          <a:xfrm>
            <a:off x="822960" y="1901952"/>
            <a:ext cx="2286000" cy="256032"/>
          </a:xfrm>
          <a:prstGeom prst="rect">
            <a:avLst/>
          </a:prstGeom>
          <a:noFill/>
          <a:ln/>
        </p:spPr>
        <p:txBody>
          <a:bodyPr wrap="square" lIns="0" tIns="0" rIns="0" bIns="0" rtlCol="0" anchor="ctr">
            <a:normAutofit/>
          </a:bodyPr>
          <a:lstStyle/>
          <a:p>
            <a:pPr marL="0" indent="0" algn="ctr">
              <a:buNone/>
            </a:pPr>
            <a:r>
              <a:rPr lang="en-US" sz="1200" b="1" dirty="0">
                <a:solidFill>
                  <a:srgbClr val="B64A4A"/>
                </a:solidFill>
                <a:latin typeface="Aptos" pitchFamily="34" charset="0"/>
                <a:ea typeface="Aptos" pitchFamily="34" charset="-122"/>
                <a:cs typeface="Aptos" pitchFamily="34" charset="-120"/>
              </a:rPr>
              <a:t>0–1 month</a:t>
            </a:r>
            <a:endParaRPr lang="en-US" sz="1200" dirty="0"/>
          </a:p>
        </p:txBody>
      </p:sp>
      <p:sp>
        <p:nvSpPr>
          <p:cNvPr id="9" name="Text 7"/>
          <p:cNvSpPr txBox="1"/>
          <p:nvPr/>
        </p:nvSpPr>
        <p:spPr>
          <a:xfrm>
            <a:off x="822960" y="2267712"/>
            <a:ext cx="2286000" cy="274320"/>
          </a:xfrm>
          <a:prstGeom prst="rect">
            <a:avLst/>
          </a:prstGeom>
          <a:noFill/>
          <a:ln/>
        </p:spPr>
        <p:txBody>
          <a:bodyPr wrap="square" lIns="0" tIns="0" rIns="0" bIns="0" rtlCol="0" anchor="ctr">
            <a:normAutofit/>
          </a:bodyPr>
          <a:lstStyle/>
          <a:p>
            <a:pPr marL="0" indent="0" algn="ctr">
              <a:buNone/>
            </a:pPr>
            <a:r>
              <a:rPr lang="en-US" sz="930" b="1" dirty="0">
                <a:solidFill>
                  <a:srgbClr val="1F2933"/>
                </a:solidFill>
                <a:latin typeface="Aptos" pitchFamily="34" charset="0"/>
                <a:ea typeface="Aptos" pitchFamily="34" charset="-122"/>
                <a:cs typeface="Aptos" pitchFamily="34" charset="-120"/>
              </a:rPr>
              <a:t>CLEAN + VALIDATE</a:t>
            </a:r>
            <a:endParaRPr lang="en-US" sz="930" dirty="0"/>
          </a:p>
        </p:txBody>
      </p:sp>
      <p:sp>
        <p:nvSpPr>
          <p:cNvPr id="10" name="Shape 8"/>
          <p:cNvSpPr/>
          <p:nvPr/>
        </p:nvSpPr>
        <p:spPr>
          <a:xfrm>
            <a:off x="841248" y="2871216"/>
            <a:ext cx="91440" cy="91440"/>
          </a:xfrm>
          <a:prstGeom prst="ellipse">
            <a:avLst/>
          </a:prstGeom>
          <a:solidFill>
            <a:srgbClr val="B64A4A"/>
          </a:solidFill>
          <a:ln w="12700">
            <a:solidFill>
              <a:srgbClr val="B64A4A"/>
            </a:solidFill>
            <a:prstDash val="solid"/>
          </a:ln>
        </p:spPr>
        <p:txBody>
          <a:bodyPr/>
          <a:lstStyle/>
          <a:p>
            <a:endParaRPr lang="en-US"/>
          </a:p>
        </p:txBody>
      </p:sp>
      <p:sp>
        <p:nvSpPr>
          <p:cNvPr id="11" name="Text 9"/>
          <p:cNvSpPr txBox="1"/>
          <p:nvPr/>
        </p:nvSpPr>
        <p:spPr>
          <a:xfrm>
            <a:off x="1042416" y="281635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Normalize gap concepts and zero-confidence cases</a:t>
            </a:r>
            <a:endParaRPr lang="en-US" sz="940" dirty="0"/>
          </a:p>
        </p:txBody>
      </p:sp>
      <p:sp>
        <p:nvSpPr>
          <p:cNvPr id="12" name="Shape 10"/>
          <p:cNvSpPr/>
          <p:nvPr/>
        </p:nvSpPr>
        <p:spPr>
          <a:xfrm>
            <a:off x="841248" y="3739896"/>
            <a:ext cx="91440" cy="91440"/>
          </a:xfrm>
          <a:prstGeom prst="ellipse">
            <a:avLst/>
          </a:prstGeom>
          <a:solidFill>
            <a:srgbClr val="B64A4A"/>
          </a:solidFill>
          <a:ln w="12700">
            <a:solidFill>
              <a:srgbClr val="B64A4A"/>
            </a:solidFill>
            <a:prstDash val="solid"/>
          </a:ln>
        </p:spPr>
        <p:txBody>
          <a:bodyPr/>
          <a:lstStyle/>
          <a:p>
            <a:endParaRPr lang="en-US"/>
          </a:p>
        </p:txBody>
      </p:sp>
      <p:sp>
        <p:nvSpPr>
          <p:cNvPr id="13" name="Text 11"/>
          <p:cNvSpPr txBox="1"/>
          <p:nvPr/>
        </p:nvSpPr>
        <p:spPr>
          <a:xfrm>
            <a:off x="1042416" y="368503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Human-audit a stratified sample</a:t>
            </a:r>
            <a:endParaRPr lang="en-US" sz="940" dirty="0"/>
          </a:p>
        </p:txBody>
      </p:sp>
      <p:sp>
        <p:nvSpPr>
          <p:cNvPr id="14" name="Shape 12"/>
          <p:cNvSpPr/>
          <p:nvPr/>
        </p:nvSpPr>
        <p:spPr>
          <a:xfrm>
            <a:off x="841248" y="4608576"/>
            <a:ext cx="91440" cy="91440"/>
          </a:xfrm>
          <a:prstGeom prst="ellipse">
            <a:avLst/>
          </a:prstGeom>
          <a:solidFill>
            <a:srgbClr val="B64A4A"/>
          </a:solidFill>
          <a:ln w="12700">
            <a:solidFill>
              <a:srgbClr val="B64A4A"/>
            </a:solidFill>
            <a:prstDash val="solid"/>
          </a:ln>
        </p:spPr>
        <p:txBody>
          <a:bodyPr/>
          <a:lstStyle/>
          <a:p>
            <a:endParaRPr lang="en-US"/>
          </a:p>
        </p:txBody>
      </p:sp>
      <p:sp>
        <p:nvSpPr>
          <p:cNvPr id="15" name="Text 13"/>
          <p:cNvSpPr txBox="1"/>
          <p:nvPr/>
        </p:nvSpPr>
        <p:spPr>
          <a:xfrm>
            <a:off x="1042416" y="455371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Report precision, recall, F1, and inter-rater agreement</a:t>
            </a:r>
            <a:endParaRPr lang="en-US" sz="940" dirty="0"/>
          </a:p>
        </p:txBody>
      </p:sp>
      <p:sp>
        <p:nvSpPr>
          <p:cNvPr id="16" name="Shape 14"/>
          <p:cNvSpPr/>
          <p:nvPr/>
        </p:nvSpPr>
        <p:spPr>
          <a:xfrm>
            <a:off x="3520440" y="1755648"/>
            <a:ext cx="2606040" cy="4069080"/>
          </a:xfrm>
          <a:prstGeom prst="roundRect">
            <a:avLst/>
          </a:prstGeom>
          <a:solidFill>
            <a:srgbClr val="EDF5FA"/>
          </a:solidFill>
          <a:ln w="12700">
            <a:solidFill>
              <a:srgbClr val="D7DEE6"/>
            </a:solidFill>
            <a:prstDash val="solid"/>
          </a:ln>
        </p:spPr>
        <p:txBody>
          <a:bodyPr/>
          <a:lstStyle/>
          <a:p>
            <a:endParaRPr lang="en-US"/>
          </a:p>
        </p:txBody>
      </p:sp>
      <p:sp>
        <p:nvSpPr>
          <p:cNvPr id="17" name="Text 15"/>
          <p:cNvSpPr txBox="1"/>
          <p:nvPr/>
        </p:nvSpPr>
        <p:spPr>
          <a:xfrm>
            <a:off x="3685032" y="1901952"/>
            <a:ext cx="2286000" cy="256032"/>
          </a:xfrm>
          <a:prstGeom prst="rect">
            <a:avLst/>
          </a:prstGeom>
          <a:noFill/>
          <a:ln/>
        </p:spPr>
        <p:txBody>
          <a:bodyPr wrap="square" lIns="0" tIns="0" rIns="0" bIns="0" rtlCol="0" anchor="ctr">
            <a:normAutofit/>
          </a:bodyPr>
          <a:lstStyle/>
          <a:p>
            <a:pPr marL="0" indent="0" algn="ctr">
              <a:buNone/>
            </a:pPr>
            <a:r>
              <a:rPr lang="en-US" sz="1200" b="1" dirty="0">
                <a:solidFill>
                  <a:srgbClr val="2A6F9E"/>
                </a:solidFill>
                <a:latin typeface="Aptos" pitchFamily="34" charset="0"/>
                <a:ea typeface="Aptos" pitchFamily="34" charset="-122"/>
                <a:cs typeface="Aptos" pitchFamily="34" charset="-120"/>
              </a:rPr>
              <a:t>1–3 months</a:t>
            </a:r>
            <a:endParaRPr lang="en-US" sz="1200" dirty="0"/>
          </a:p>
        </p:txBody>
      </p:sp>
      <p:sp>
        <p:nvSpPr>
          <p:cNvPr id="18" name="Text 16"/>
          <p:cNvSpPr txBox="1"/>
          <p:nvPr/>
        </p:nvSpPr>
        <p:spPr>
          <a:xfrm>
            <a:off x="3685032" y="2267712"/>
            <a:ext cx="2286000" cy="274320"/>
          </a:xfrm>
          <a:prstGeom prst="rect">
            <a:avLst/>
          </a:prstGeom>
          <a:noFill/>
          <a:ln/>
        </p:spPr>
        <p:txBody>
          <a:bodyPr wrap="square" lIns="0" tIns="0" rIns="0" bIns="0" rtlCol="0" anchor="ctr">
            <a:normAutofit/>
          </a:bodyPr>
          <a:lstStyle/>
          <a:p>
            <a:pPr marL="0" indent="0" algn="ctr">
              <a:buNone/>
            </a:pPr>
            <a:r>
              <a:rPr lang="en-US" sz="930" b="1" dirty="0">
                <a:solidFill>
                  <a:srgbClr val="1F2933"/>
                </a:solidFill>
                <a:latin typeface="Aptos" pitchFamily="34" charset="0"/>
                <a:ea typeface="Aptos" pitchFamily="34" charset="-122"/>
                <a:cs typeface="Aptos" pitchFamily="34" charset="-120"/>
              </a:rPr>
              <a:t>ADD ANALYTIC DEPTH</a:t>
            </a:r>
            <a:endParaRPr lang="en-US" sz="930" dirty="0"/>
          </a:p>
        </p:txBody>
      </p:sp>
      <p:sp>
        <p:nvSpPr>
          <p:cNvPr id="19" name="Shape 17"/>
          <p:cNvSpPr/>
          <p:nvPr/>
        </p:nvSpPr>
        <p:spPr>
          <a:xfrm>
            <a:off x="3703320" y="2871216"/>
            <a:ext cx="91440" cy="91440"/>
          </a:xfrm>
          <a:prstGeom prst="ellipse">
            <a:avLst/>
          </a:prstGeom>
          <a:solidFill>
            <a:srgbClr val="2A6F9E"/>
          </a:solidFill>
          <a:ln w="12700">
            <a:solidFill>
              <a:srgbClr val="2A6F9E"/>
            </a:solidFill>
            <a:prstDash val="solid"/>
          </a:ln>
        </p:spPr>
        <p:txBody>
          <a:bodyPr/>
          <a:lstStyle/>
          <a:p>
            <a:endParaRPr lang="en-US"/>
          </a:p>
        </p:txBody>
      </p:sp>
      <p:sp>
        <p:nvSpPr>
          <p:cNvPr id="20" name="Text 18"/>
          <p:cNvSpPr txBox="1"/>
          <p:nvPr/>
        </p:nvSpPr>
        <p:spPr>
          <a:xfrm>
            <a:off x="3904488" y="281635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Report row-level prevalence and within-event code proportion</a:t>
            </a:r>
            <a:endParaRPr lang="en-US" sz="940" dirty="0"/>
          </a:p>
        </p:txBody>
      </p:sp>
      <p:sp>
        <p:nvSpPr>
          <p:cNvPr id="21" name="Shape 19"/>
          <p:cNvSpPr/>
          <p:nvPr/>
        </p:nvSpPr>
        <p:spPr>
          <a:xfrm>
            <a:off x="3703320" y="3739896"/>
            <a:ext cx="91440" cy="91440"/>
          </a:xfrm>
          <a:prstGeom prst="ellipse">
            <a:avLst/>
          </a:prstGeom>
          <a:solidFill>
            <a:srgbClr val="2A6F9E"/>
          </a:solidFill>
          <a:ln w="12700">
            <a:solidFill>
              <a:srgbClr val="2A6F9E"/>
            </a:solidFill>
            <a:prstDash val="solid"/>
          </a:ln>
        </p:spPr>
        <p:txBody>
          <a:bodyPr/>
          <a:lstStyle/>
          <a:p>
            <a:endParaRPr lang="en-US"/>
          </a:p>
        </p:txBody>
      </p:sp>
      <p:sp>
        <p:nvSpPr>
          <p:cNvPr id="22" name="Text 20"/>
          <p:cNvSpPr txBox="1"/>
          <p:nvPr/>
        </p:nvSpPr>
        <p:spPr>
          <a:xfrm>
            <a:off x="3904488" y="368503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Model structured scores with multivariable mixed effects</a:t>
            </a:r>
            <a:endParaRPr lang="en-US" sz="940" dirty="0"/>
          </a:p>
        </p:txBody>
      </p:sp>
      <p:sp>
        <p:nvSpPr>
          <p:cNvPr id="23" name="Shape 21"/>
          <p:cNvSpPr/>
          <p:nvPr/>
        </p:nvSpPr>
        <p:spPr>
          <a:xfrm>
            <a:off x="3703320" y="4608576"/>
            <a:ext cx="91440" cy="91440"/>
          </a:xfrm>
          <a:prstGeom prst="ellipse">
            <a:avLst/>
          </a:prstGeom>
          <a:solidFill>
            <a:srgbClr val="2A6F9E"/>
          </a:solidFill>
          <a:ln w="12700">
            <a:solidFill>
              <a:srgbClr val="2A6F9E"/>
            </a:solidFill>
            <a:prstDash val="solid"/>
          </a:ln>
        </p:spPr>
        <p:txBody>
          <a:bodyPr/>
          <a:lstStyle/>
          <a:p>
            <a:endParaRPr lang="en-US"/>
          </a:p>
        </p:txBody>
      </p:sp>
      <p:sp>
        <p:nvSpPr>
          <p:cNvPr id="24" name="Text 22"/>
          <p:cNvSpPr txBox="1"/>
          <p:nvPr/>
        </p:nvSpPr>
        <p:spPr>
          <a:xfrm>
            <a:off x="3904488" y="455371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Adjust for year, evaluation type, program, evaluator, and repeated evaluatees</a:t>
            </a:r>
            <a:endParaRPr lang="en-US" sz="940" dirty="0"/>
          </a:p>
        </p:txBody>
      </p:sp>
      <p:sp>
        <p:nvSpPr>
          <p:cNvPr id="25" name="Shape 23"/>
          <p:cNvSpPr/>
          <p:nvPr/>
        </p:nvSpPr>
        <p:spPr>
          <a:xfrm>
            <a:off x="6382512" y="1755648"/>
            <a:ext cx="2606040" cy="4069080"/>
          </a:xfrm>
          <a:prstGeom prst="roundRect">
            <a:avLst/>
          </a:prstGeom>
          <a:solidFill>
            <a:srgbClr val="EDF7F5"/>
          </a:solidFill>
          <a:ln w="12700">
            <a:solidFill>
              <a:srgbClr val="D7DEE6"/>
            </a:solidFill>
            <a:prstDash val="solid"/>
          </a:ln>
        </p:spPr>
        <p:txBody>
          <a:bodyPr/>
          <a:lstStyle/>
          <a:p>
            <a:endParaRPr lang="en-US"/>
          </a:p>
        </p:txBody>
      </p:sp>
      <p:sp>
        <p:nvSpPr>
          <p:cNvPr id="26" name="Text 24"/>
          <p:cNvSpPr txBox="1"/>
          <p:nvPr/>
        </p:nvSpPr>
        <p:spPr>
          <a:xfrm>
            <a:off x="6547104" y="1901952"/>
            <a:ext cx="2286000" cy="256032"/>
          </a:xfrm>
          <a:prstGeom prst="rect">
            <a:avLst/>
          </a:prstGeom>
          <a:noFill/>
          <a:ln/>
        </p:spPr>
        <p:txBody>
          <a:bodyPr wrap="square" lIns="0" tIns="0" rIns="0" bIns="0" rtlCol="0" anchor="ctr">
            <a:normAutofit/>
          </a:bodyPr>
          <a:lstStyle/>
          <a:p>
            <a:pPr marL="0" indent="0" algn="ctr">
              <a:buNone/>
            </a:pPr>
            <a:r>
              <a:rPr lang="en-US" sz="1200" b="1" dirty="0">
                <a:solidFill>
                  <a:srgbClr val="2B8C87"/>
                </a:solidFill>
                <a:latin typeface="Aptos" pitchFamily="34" charset="0"/>
                <a:ea typeface="Aptos" pitchFamily="34" charset="-122"/>
                <a:cs typeface="Aptos" pitchFamily="34" charset="-120"/>
              </a:rPr>
              <a:t>3–6 months</a:t>
            </a:r>
            <a:endParaRPr lang="en-US" sz="1200" dirty="0"/>
          </a:p>
        </p:txBody>
      </p:sp>
      <p:sp>
        <p:nvSpPr>
          <p:cNvPr id="27" name="Text 25"/>
          <p:cNvSpPr txBox="1"/>
          <p:nvPr/>
        </p:nvSpPr>
        <p:spPr>
          <a:xfrm>
            <a:off x="6547104" y="2267712"/>
            <a:ext cx="2286000" cy="274320"/>
          </a:xfrm>
          <a:prstGeom prst="rect">
            <a:avLst/>
          </a:prstGeom>
          <a:noFill/>
          <a:ln/>
        </p:spPr>
        <p:txBody>
          <a:bodyPr wrap="square" lIns="0" tIns="0" rIns="0" bIns="0" rtlCol="0" anchor="ctr">
            <a:normAutofit/>
          </a:bodyPr>
          <a:lstStyle/>
          <a:p>
            <a:pPr marL="0" indent="0" algn="ctr">
              <a:buNone/>
            </a:pPr>
            <a:r>
              <a:rPr lang="en-US" sz="930" b="1" dirty="0">
                <a:solidFill>
                  <a:srgbClr val="1F2933"/>
                </a:solidFill>
                <a:latin typeface="Aptos" pitchFamily="34" charset="0"/>
                <a:ea typeface="Aptos" pitchFamily="34" charset="-122"/>
                <a:cs typeface="Aptos" pitchFamily="34" charset="-120"/>
              </a:rPr>
              <a:t>TEST DEVELOPMENT OVER TIME</a:t>
            </a:r>
            <a:endParaRPr lang="en-US" sz="930" dirty="0"/>
          </a:p>
        </p:txBody>
      </p:sp>
      <p:sp>
        <p:nvSpPr>
          <p:cNvPr id="28" name="Shape 26"/>
          <p:cNvSpPr/>
          <p:nvPr/>
        </p:nvSpPr>
        <p:spPr>
          <a:xfrm>
            <a:off x="6565392" y="2871216"/>
            <a:ext cx="91440" cy="91440"/>
          </a:xfrm>
          <a:prstGeom prst="ellipse">
            <a:avLst/>
          </a:prstGeom>
          <a:solidFill>
            <a:srgbClr val="2B8C87"/>
          </a:solidFill>
          <a:ln w="12700">
            <a:solidFill>
              <a:srgbClr val="2B8C87"/>
            </a:solidFill>
            <a:prstDash val="solid"/>
          </a:ln>
        </p:spPr>
        <p:txBody>
          <a:bodyPr/>
          <a:lstStyle/>
          <a:p>
            <a:endParaRPr lang="en-US"/>
          </a:p>
        </p:txBody>
      </p:sp>
      <p:sp>
        <p:nvSpPr>
          <p:cNvPr id="29" name="Text 27"/>
          <p:cNvSpPr txBox="1"/>
          <p:nvPr/>
        </p:nvSpPr>
        <p:spPr>
          <a:xfrm>
            <a:off x="6766560" y="281635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Longitudinal mixed-effects model instead of first-vs-last only</a:t>
            </a:r>
            <a:endParaRPr lang="en-US" sz="940" dirty="0"/>
          </a:p>
        </p:txBody>
      </p:sp>
      <p:sp>
        <p:nvSpPr>
          <p:cNvPr id="30" name="Shape 28"/>
          <p:cNvSpPr/>
          <p:nvPr/>
        </p:nvSpPr>
        <p:spPr>
          <a:xfrm>
            <a:off x="6565392" y="3739896"/>
            <a:ext cx="91440" cy="91440"/>
          </a:xfrm>
          <a:prstGeom prst="ellipse">
            <a:avLst/>
          </a:prstGeom>
          <a:solidFill>
            <a:srgbClr val="2B8C87"/>
          </a:solidFill>
          <a:ln w="12700">
            <a:solidFill>
              <a:srgbClr val="2B8C87"/>
            </a:solidFill>
            <a:prstDash val="solid"/>
          </a:ln>
        </p:spPr>
        <p:txBody>
          <a:bodyPr/>
          <a:lstStyle/>
          <a:p>
            <a:endParaRPr lang="en-US"/>
          </a:p>
        </p:txBody>
      </p:sp>
      <p:sp>
        <p:nvSpPr>
          <p:cNvPr id="31" name="Text 29"/>
          <p:cNvSpPr txBox="1"/>
          <p:nvPr/>
        </p:nvSpPr>
        <p:spPr>
          <a:xfrm>
            <a:off x="6766560" y="368503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Test environment × time interactions</a:t>
            </a:r>
            <a:endParaRPr lang="en-US" sz="940" dirty="0"/>
          </a:p>
        </p:txBody>
      </p:sp>
      <p:sp>
        <p:nvSpPr>
          <p:cNvPr id="32" name="Shape 30"/>
          <p:cNvSpPr/>
          <p:nvPr/>
        </p:nvSpPr>
        <p:spPr>
          <a:xfrm>
            <a:off x="6565392" y="4608576"/>
            <a:ext cx="91440" cy="91440"/>
          </a:xfrm>
          <a:prstGeom prst="ellipse">
            <a:avLst/>
          </a:prstGeom>
          <a:solidFill>
            <a:srgbClr val="2B8C87"/>
          </a:solidFill>
          <a:ln w="12700">
            <a:solidFill>
              <a:srgbClr val="2B8C87"/>
            </a:solidFill>
            <a:prstDash val="solid"/>
          </a:ln>
        </p:spPr>
        <p:txBody>
          <a:bodyPr/>
          <a:lstStyle/>
          <a:p>
            <a:endParaRPr lang="en-US"/>
          </a:p>
        </p:txBody>
      </p:sp>
      <p:sp>
        <p:nvSpPr>
          <p:cNvPr id="33" name="Text 31"/>
          <p:cNvSpPr txBox="1"/>
          <p:nvPr/>
        </p:nvSpPr>
        <p:spPr>
          <a:xfrm>
            <a:off x="6766560" y="455371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Study who improves under which learning conditions</a:t>
            </a:r>
            <a:endParaRPr lang="en-US" sz="940" dirty="0"/>
          </a:p>
        </p:txBody>
      </p:sp>
      <p:sp>
        <p:nvSpPr>
          <p:cNvPr id="34" name="Shape 32"/>
          <p:cNvSpPr/>
          <p:nvPr/>
        </p:nvSpPr>
        <p:spPr>
          <a:xfrm>
            <a:off x="9244584" y="1755648"/>
            <a:ext cx="2606040" cy="4069080"/>
          </a:xfrm>
          <a:prstGeom prst="roundRect">
            <a:avLst/>
          </a:prstGeom>
          <a:solidFill>
            <a:srgbClr val="FBF5E9"/>
          </a:solidFill>
          <a:ln w="12700">
            <a:solidFill>
              <a:srgbClr val="D7DEE6"/>
            </a:solidFill>
            <a:prstDash val="solid"/>
          </a:ln>
        </p:spPr>
        <p:txBody>
          <a:bodyPr/>
          <a:lstStyle/>
          <a:p>
            <a:endParaRPr lang="en-US"/>
          </a:p>
        </p:txBody>
      </p:sp>
      <p:sp>
        <p:nvSpPr>
          <p:cNvPr id="35" name="Text 33"/>
          <p:cNvSpPr txBox="1"/>
          <p:nvPr/>
        </p:nvSpPr>
        <p:spPr>
          <a:xfrm>
            <a:off x="9409176" y="1901952"/>
            <a:ext cx="2286000" cy="256032"/>
          </a:xfrm>
          <a:prstGeom prst="rect">
            <a:avLst/>
          </a:prstGeom>
          <a:noFill/>
          <a:ln/>
        </p:spPr>
        <p:txBody>
          <a:bodyPr wrap="square" lIns="0" tIns="0" rIns="0" bIns="0" rtlCol="0" anchor="ctr">
            <a:normAutofit/>
          </a:bodyPr>
          <a:lstStyle/>
          <a:p>
            <a:pPr marL="0" indent="0" algn="ctr">
              <a:buNone/>
            </a:pPr>
            <a:r>
              <a:rPr lang="en-US" sz="1200" b="1" dirty="0">
                <a:solidFill>
                  <a:srgbClr val="D49A35"/>
                </a:solidFill>
                <a:latin typeface="Aptos" pitchFamily="34" charset="0"/>
                <a:ea typeface="Aptos" pitchFamily="34" charset="-122"/>
                <a:cs typeface="Aptos" pitchFamily="34" charset="-120"/>
              </a:rPr>
              <a:t>6–12 months</a:t>
            </a:r>
            <a:endParaRPr lang="en-US" sz="1200" dirty="0"/>
          </a:p>
        </p:txBody>
      </p:sp>
      <p:sp>
        <p:nvSpPr>
          <p:cNvPr id="36" name="Text 34"/>
          <p:cNvSpPr txBox="1"/>
          <p:nvPr/>
        </p:nvSpPr>
        <p:spPr>
          <a:xfrm>
            <a:off x="9409176" y="2267712"/>
            <a:ext cx="2286000" cy="274320"/>
          </a:xfrm>
          <a:prstGeom prst="rect">
            <a:avLst/>
          </a:prstGeom>
          <a:noFill/>
          <a:ln/>
        </p:spPr>
        <p:txBody>
          <a:bodyPr wrap="square" lIns="0" tIns="0" rIns="0" bIns="0" rtlCol="0" anchor="ctr">
            <a:normAutofit/>
          </a:bodyPr>
          <a:lstStyle/>
          <a:p>
            <a:pPr marL="0" indent="0" algn="ctr">
              <a:buNone/>
            </a:pPr>
            <a:r>
              <a:rPr lang="en-US" sz="930" b="1" dirty="0">
                <a:solidFill>
                  <a:srgbClr val="1F2933"/>
                </a:solidFill>
                <a:latin typeface="Aptos" pitchFamily="34" charset="0"/>
                <a:ea typeface="Aptos" pitchFamily="34" charset="-122"/>
                <a:cs typeface="Aptos" pitchFamily="34" charset="-120"/>
              </a:rPr>
              <a:t>PROSPECTIVE INTERVENTION</a:t>
            </a:r>
            <a:endParaRPr lang="en-US" sz="930" dirty="0"/>
          </a:p>
        </p:txBody>
      </p:sp>
      <p:sp>
        <p:nvSpPr>
          <p:cNvPr id="37" name="Shape 35"/>
          <p:cNvSpPr/>
          <p:nvPr/>
        </p:nvSpPr>
        <p:spPr>
          <a:xfrm>
            <a:off x="9427464" y="2871216"/>
            <a:ext cx="91440" cy="91440"/>
          </a:xfrm>
          <a:prstGeom prst="ellipse">
            <a:avLst/>
          </a:prstGeom>
          <a:solidFill>
            <a:srgbClr val="D49A35"/>
          </a:solidFill>
          <a:ln w="12700">
            <a:solidFill>
              <a:srgbClr val="D49A35"/>
            </a:solidFill>
            <a:prstDash val="solid"/>
          </a:ln>
        </p:spPr>
        <p:txBody>
          <a:bodyPr/>
          <a:lstStyle/>
          <a:p>
            <a:endParaRPr lang="en-US"/>
          </a:p>
        </p:txBody>
      </p:sp>
      <p:sp>
        <p:nvSpPr>
          <p:cNvPr id="38" name="Text 36"/>
          <p:cNvSpPr txBox="1"/>
          <p:nvPr/>
        </p:nvSpPr>
        <p:spPr>
          <a:xfrm>
            <a:off x="9628632" y="281635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Pilot a structured feedback-writing intervention</a:t>
            </a:r>
            <a:endParaRPr lang="en-US" sz="940" dirty="0"/>
          </a:p>
        </p:txBody>
      </p:sp>
      <p:sp>
        <p:nvSpPr>
          <p:cNvPr id="39" name="Shape 37"/>
          <p:cNvSpPr/>
          <p:nvPr/>
        </p:nvSpPr>
        <p:spPr>
          <a:xfrm>
            <a:off x="9427464" y="3739896"/>
            <a:ext cx="91440" cy="91440"/>
          </a:xfrm>
          <a:prstGeom prst="ellipse">
            <a:avLst/>
          </a:prstGeom>
          <a:solidFill>
            <a:srgbClr val="D49A35"/>
          </a:solidFill>
          <a:ln w="12700">
            <a:solidFill>
              <a:srgbClr val="D49A35"/>
            </a:solidFill>
            <a:prstDash val="solid"/>
          </a:ln>
        </p:spPr>
        <p:txBody>
          <a:bodyPr/>
          <a:lstStyle/>
          <a:p>
            <a:endParaRPr lang="en-US"/>
          </a:p>
        </p:txBody>
      </p:sp>
      <p:sp>
        <p:nvSpPr>
          <p:cNvPr id="40" name="Text 38"/>
          <p:cNvSpPr txBox="1"/>
          <p:nvPr/>
        </p:nvSpPr>
        <p:spPr>
          <a:xfrm>
            <a:off x="9628632" y="368503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Track specificity/actionability before vs after</a:t>
            </a:r>
            <a:endParaRPr lang="en-US" sz="940" dirty="0"/>
          </a:p>
        </p:txBody>
      </p:sp>
      <p:sp>
        <p:nvSpPr>
          <p:cNvPr id="41" name="Shape 39"/>
          <p:cNvSpPr/>
          <p:nvPr/>
        </p:nvSpPr>
        <p:spPr>
          <a:xfrm>
            <a:off x="9427464" y="4608576"/>
            <a:ext cx="91440" cy="91440"/>
          </a:xfrm>
          <a:prstGeom prst="ellipse">
            <a:avLst/>
          </a:prstGeom>
          <a:solidFill>
            <a:srgbClr val="D49A35"/>
          </a:solidFill>
          <a:ln w="12700">
            <a:solidFill>
              <a:srgbClr val="D49A35"/>
            </a:solidFill>
            <a:prstDash val="solid"/>
          </a:ln>
        </p:spPr>
        <p:txBody>
          <a:bodyPr/>
          <a:lstStyle/>
          <a:p>
            <a:endParaRPr lang="en-US"/>
          </a:p>
        </p:txBody>
      </p:sp>
      <p:sp>
        <p:nvSpPr>
          <p:cNvPr id="42" name="Text 40"/>
          <p:cNvSpPr txBox="1"/>
          <p:nvPr/>
        </p:nvSpPr>
        <p:spPr>
          <a:xfrm>
            <a:off x="9628632" y="4553712"/>
            <a:ext cx="1975104" cy="621792"/>
          </a:xfrm>
          <a:prstGeom prst="rect">
            <a:avLst/>
          </a:prstGeom>
          <a:noFill/>
          <a:ln/>
        </p:spPr>
        <p:txBody>
          <a:bodyPr wrap="square" lIns="0" tIns="0" rIns="0" bIns="0" rtlCol="0" anchor="t">
            <a:normAutofit/>
          </a:bodyPr>
          <a:lstStyle/>
          <a:p>
            <a:pPr marL="0" indent="0" algn="l">
              <a:buNone/>
            </a:pPr>
            <a:r>
              <a:rPr lang="en-US" sz="940" dirty="0">
                <a:solidFill>
                  <a:srgbClr val="1F2933"/>
                </a:solidFill>
                <a:latin typeface="Aptos" pitchFamily="34" charset="0"/>
                <a:ea typeface="Aptos" pitchFamily="34" charset="-122"/>
                <a:cs typeface="Aptos" pitchFamily="34" charset="-120"/>
              </a:rPr>
              <a:t>Evaluate whether improved feedback predicts later development and safety signals</a:t>
            </a:r>
            <a:endParaRPr lang="en-US" sz="940" dirty="0"/>
          </a:p>
        </p:txBody>
      </p:sp>
      <p:sp>
        <p:nvSpPr>
          <p:cNvPr id="43" name="Text 41"/>
          <p:cNvSpPr txBox="1"/>
          <p:nvPr/>
        </p:nvSpPr>
        <p:spPr>
          <a:xfrm>
            <a:off x="914400" y="6089904"/>
            <a:ext cx="10332720" cy="320040"/>
          </a:xfrm>
          <a:prstGeom prst="rect">
            <a:avLst/>
          </a:prstGeom>
          <a:noFill/>
          <a:ln/>
        </p:spPr>
        <p:txBody>
          <a:bodyPr wrap="square" lIns="0" tIns="0" rIns="0" bIns="0" rtlCol="0" anchor="ctr">
            <a:normAutofit/>
          </a:bodyPr>
          <a:lstStyle/>
          <a:p>
            <a:pPr marL="0" indent="0" algn="ctr">
              <a:buNone/>
            </a:pPr>
            <a:r>
              <a:rPr lang="en-US" sz="1060" b="1" dirty="0">
                <a:solidFill>
                  <a:srgbClr val="163A5F"/>
                </a:solidFill>
                <a:latin typeface="Aptos" pitchFamily="34" charset="0"/>
                <a:ea typeface="Aptos" pitchFamily="34" charset="-122"/>
                <a:cs typeface="Aptos" pitchFamily="34" charset="-120"/>
              </a:rPr>
              <a:t>Decision question for the next study: Which learning-environment conditions predict better trainee development after accounting for program, evaluator, evaluation type, time, and repeated observations?</a:t>
            </a:r>
            <a:endParaRPr lang="en-US" sz="1060" dirty="0"/>
          </a:p>
        </p:txBody>
      </p:sp>
      <p:sp>
        <p:nvSpPr>
          <p:cNvPr id="44"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75488" y="246888"/>
            <a:ext cx="11064240" cy="384048"/>
          </a:xfrm>
          <a:prstGeom prst="rect">
            <a:avLst/>
          </a:prstGeom>
          <a:noFill/>
          <a:ln/>
        </p:spPr>
        <p:txBody>
          <a:bodyPr wrap="square" lIns="0" tIns="0" rIns="0" bIns="0" rtlCol="0" anchor="ctr">
            <a:normAutofit/>
          </a:bodyPr>
          <a:lstStyle/>
          <a:p>
            <a:pPr marL="0" indent="0" algn="l">
              <a:buNone/>
            </a:pPr>
            <a:r>
              <a:rPr lang="en-US" sz="2400" b="1" dirty="0">
                <a:solidFill>
                  <a:srgbClr val="1F2933"/>
                </a:solidFill>
                <a:latin typeface="Aptos Display" pitchFamily="34" charset="0"/>
                <a:ea typeface="Aptos Display" pitchFamily="34" charset="-122"/>
                <a:cs typeface="Aptos Display" pitchFamily="34" charset="-120"/>
              </a:rPr>
              <a:t>Bottom line</a:t>
            </a:r>
            <a:endParaRPr lang="en-US" sz="2400" dirty="0"/>
          </a:p>
        </p:txBody>
      </p:sp>
      <p:sp>
        <p:nvSpPr>
          <p:cNvPr id="3" name="Text 1"/>
          <p:cNvSpPr txBox="1"/>
          <p:nvPr/>
        </p:nvSpPr>
        <p:spPr>
          <a:xfrm>
            <a:off x="484632" y="676656"/>
            <a:ext cx="11064240" cy="310896"/>
          </a:xfrm>
          <a:prstGeom prst="rect">
            <a:avLst/>
          </a:prstGeom>
          <a:noFill/>
          <a:ln/>
        </p:spPr>
        <p:txBody>
          <a:bodyPr wrap="square" lIns="0" tIns="0" rIns="0" bIns="0" rtlCol="0" anchor="ctr">
            <a:normAutofit/>
          </a:bodyPr>
          <a:lstStyle/>
          <a:p>
            <a:pPr marL="0" indent="0" algn="l">
              <a:buNone/>
            </a:pPr>
            <a:r>
              <a:rPr lang="en-US" sz="1150" dirty="0">
                <a:solidFill>
                  <a:srgbClr val="6D7781"/>
                </a:solidFill>
                <a:latin typeface="Aptos" pitchFamily="34" charset="0"/>
                <a:ea typeface="Aptos" pitchFamily="34" charset="-122"/>
                <a:cs typeface="Aptos" pitchFamily="34" charset="-120"/>
              </a:rPr>
              <a:t>What I would communicate to GMETS leadership</a:t>
            </a:r>
            <a:endParaRPr lang="en-US" sz="1150" dirty="0"/>
          </a:p>
        </p:txBody>
      </p:sp>
      <p:sp>
        <p:nvSpPr>
          <p:cNvPr id="4" name="Shape 2"/>
          <p:cNvSpPr/>
          <p:nvPr/>
        </p:nvSpPr>
        <p:spPr>
          <a:xfrm>
            <a:off x="822960" y="1417320"/>
            <a:ext cx="10561320" cy="932688"/>
          </a:xfrm>
          <a:prstGeom prst="roundRect">
            <a:avLst/>
          </a:prstGeom>
          <a:solidFill>
            <a:srgbClr val="EDF5FA"/>
          </a:solidFill>
          <a:ln w="12700">
            <a:solidFill>
              <a:srgbClr val="D7DEE6"/>
            </a:solidFill>
            <a:prstDash val="solid"/>
          </a:ln>
        </p:spPr>
        <p:txBody>
          <a:bodyPr/>
          <a:lstStyle/>
          <a:p>
            <a:endParaRPr lang="en-US"/>
          </a:p>
        </p:txBody>
      </p:sp>
      <p:sp>
        <p:nvSpPr>
          <p:cNvPr id="5" name="Shape 3"/>
          <p:cNvSpPr/>
          <p:nvPr/>
        </p:nvSpPr>
        <p:spPr>
          <a:xfrm>
            <a:off x="987552" y="1655064"/>
            <a:ext cx="438912" cy="438912"/>
          </a:xfrm>
          <a:prstGeom prst="ellipse">
            <a:avLst/>
          </a:prstGeom>
          <a:solidFill>
            <a:srgbClr val="2A6F9E"/>
          </a:solidFill>
          <a:ln w="12700">
            <a:solidFill>
              <a:srgbClr val="2A6F9E"/>
            </a:solidFill>
            <a:prstDash val="solid"/>
          </a:ln>
        </p:spPr>
        <p:txBody>
          <a:bodyPr/>
          <a:lstStyle/>
          <a:p>
            <a:endParaRPr lang="en-US"/>
          </a:p>
        </p:txBody>
      </p:sp>
      <p:sp>
        <p:nvSpPr>
          <p:cNvPr id="6" name="Text 4"/>
          <p:cNvSpPr txBox="1"/>
          <p:nvPr/>
        </p:nvSpPr>
        <p:spPr>
          <a:xfrm>
            <a:off x="987552" y="1655064"/>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7" name="Text 5"/>
          <p:cNvSpPr txBox="1"/>
          <p:nvPr/>
        </p:nvSpPr>
        <p:spPr>
          <a:xfrm>
            <a:off x="1600200" y="1545336"/>
            <a:ext cx="3337560" cy="256032"/>
          </a:xfrm>
          <a:prstGeom prst="rect">
            <a:avLst/>
          </a:prstGeom>
          <a:noFill/>
          <a:ln/>
        </p:spPr>
        <p:txBody>
          <a:bodyPr wrap="square" lIns="0" tIns="0" rIns="0" bIns="0" rtlCol="0" anchor="ctr">
            <a:normAutofit/>
          </a:bodyPr>
          <a:lstStyle/>
          <a:p>
            <a:pPr marL="0" indent="0" algn="l">
              <a:buNone/>
            </a:pPr>
            <a:r>
              <a:rPr lang="en-US" sz="1220" b="1" dirty="0">
                <a:solidFill>
                  <a:srgbClr val="1F2933"/>
                </a:solidFill>
                <a:latin typeface="Aptos" pitchFamily="34" charset="0"/>
                <a:ea typeface="Aptos" pitchFamily="34" charset="-122"/>
                <a:cs typeface="Aptos" pitchFamily="34" charset="-120"/>
              </a:rPr>
              <a:t>The learning environment is fundamentally relational</a:t>
            </a:r>
            <a:endParaRPr lang="en-US" sz="1220" dirty="0"/>
          </a:p>
        </p:txBody>
      </p:sp>
      <p:sp>
        <p:nvSpPr>
          <p:cNvPr id="8" name="Text 6"/>
          <p:cNvSpPr txBox="1"/>
          <p:nvPr/>
        </p:nvSpPr>
        <p:spPr>
          <a:xfrm>
            <a:off x="4956048" y="1527048"/>
            <a:ext cx="6108192" cy="566928"/>
          </a:xfrm>
          <a:prstGeom prst="rect">
            <a:avLst/>
          </a:prstGeom>
          <a:noFill/>
          <a:ln/>
        </p:spPr>
        <p:txBody>
          <a:bodyPr wrap="square" lIns="0" tIns="0" rIns="0" bIns="0" rtlCol="0" anchor="t">
            <a:normAutofit/>
          </a:bodyPr>
          <a:lstStyle/>
          <a:p>
            <a:pPr marL="0" indent="0" algn="l">
              <a:buNone/>
            </a:pPr>
            <a:r>
              <a:rPr lang="en-US" sz="1000" dirty="0">
                <a:solidFill>
                  <a:srgbClr val="1F2933"/>
                </a:solidFill>
                <a:latin typeface="Aptos" pitchFamily="34" charset="0"/>
                <a:ea typeface="Aptos" pitchFamily="34" charset="-122"/>
                <a:cs typeface="Aptos" pitchFamily="34" charset="-120"/>
              </a:rPr>
              <a:t>Teaching, coaching, supervision, psychological safety, reflection, and graduated autonomy repeatedly appear together as the dominant developmental system.</a:t>
            </a:r>
            <a:endParaRPr lang="en-US" sz="1000" dirty="0"/>
          </a:p>
        </p:txBody>
      </p:sp>
      <p:sp>
        <p:nvSpPr>
          <p:cNvPr id="9" name="Shape 7"/>
          <p:cNvSpPr/>
          <p:nvPr/>
        </p:nvSpPr>
        <p:spPr>
          <a:xfrm>
            <a:off x="822960" y="2587752"/>
            <a:ext cx="10561320" cy="932688"/>
          </a:xfrm>
          <a:prstGeom prst="roundRect">
            <a:avLst/>
          </a:prstGeom>
          <a:solidFill>
            <a:srgbClr val="EDF7F5"/>
          </a:solidFill>
          <a:ln w="12700">
            <a:solidFill>
              <a:srgbClr val="D7DEE6"/>
            </a:solidFill>
            <a:prstDash val="solid"/>
          </a:ln>
        </p:spPr>
        <p:txBody>
          <a:bodyPr/>
          <a:lstStyle/>
          <a:p>
            <a:endParaRPr lang="en-US"/>
          </a:p>
        </p:txBody>
      </p:sp>
      <p:sp>
        <p:nvSpPr>
          <p:cNvPr id="10" name="Shape 8"/>
          <p:cNvSpPr/>
          <p:nvPr/>
        </p:nvSpPr>
        <p:spPr>
          <a:xfrm>
            <a:off x="987552" y="2825496"/>
            <a:ext cx="438912" cy="438912"/>
          </a:xfrm>
          <a:prstGeom prst="ellipse">
            <a:avLst/>
          </a:prstGeom>
          <a:solidFill>
            <a:srgbClr val="2B8C87"/>
          </a:solidFill>
          <a:ln w="12700">
            <a:solidFill>
              <a:srgbClr val="2B8C87"/>
            </a:solidFill>
            <a:prstDash val="solid"/>
          </a:ln>
        </p:spPr>
        <p:txBody>
          <a:bodyPr/>
          <a:lstStyle/>
          <a:p>
            <a:endParaRPr lang="en-US"/>
          </a:p>
        </p:txBody>
      </p:sp>
      <p:sp>
        <p:nvSpPr>
          <p:cNvPr id="11" name="Text 9"/>
          <p:cNvSpPr txBox="1"/>
          <p:nvPr/>
        </p:nvSpPr>
        <p:spPr>
          <a:xfrm>
            <a:off x="987552" y="2825496"/>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2" name="Text 10"/>
          <p:cNvSpPr txBox="1"/>
          <p:nvPr/>
        </p:nvSpPr>
        <p:spPr>
          <a:xfrm>
            <a:off x="1600200" y="2715768"/>
            <a:ext cx="3337560" cy="256032"/>
          </a:xfrm>
          <a:prstGeom prst="rect">
            <a:avLst/>
          </a:prstGeom>
          <a:noFill/>
          <a:ln/>
        </p:spPr>
        <p:txBody>
          <a:bodyPr wrap="square" lIns="0" tIns="0" rIns="0" bIns="0" rtlCol="0" anchor="ctr">
            <a:normAutofit/>
          </a:bodyPr>
          <a:lstStyle/>
          <a:p>
            <a:pPr marL="0" indent="0" algn="l">
              <a:buNone/>
            </a:pPr>
            <a:r>
              <a:rPr lang="en-US" sz="1220" b="1" dirty="0">
                <a:solidFill>
                  <a:srgbClr val="1F2933"/>
                </a:solidFill>
                <a:latin typeface="Aptos" pitchFamily="34" charset="0"/>
                <a:ea typeface="Aptos" pitchFamily="34" charset="-122"/>
                <a:cs typeface="Aptos" pitchFamily="34" charset="-120"/>
              </a:rPr>
              <a:t>The strongest improvement opportunity is feedback quality</a:t>
            </a:r>
            <a:endParaRPr lang="en-US" sz="1220" dirty="0"/>
          </a:p>
        </p:txBody>
      </p:sp>
      <p:sp>
        <p:nvSpPr>
          <p:cNvPr id="13" name="Text 11"/>
          <p:cNvSpPr txBox="1"/>
          <p:nvPr/>
        </p:nvSpPr>
        <p:spPr>
          <a:xfrm>
            <a:off x="4956048" y="2697480"/>
            <a:ext cx="6108192" cy="566928"/>
          </a:xfrm>
          <a:prstGeom prst="rect">
            <a:avLst/>
          </a:prstGeom>
          <a:noFill/>
          <a:ln/>
        </p:spPr>
        <p:txBody>
          <a:bodyPr wrap="square" lIns="0" tIns="0" rIns="0" bIns="0" rtlCol="0" anchor="t">
            <a:normAutofit/>
          </a:bodyPr>
          <a:lstStyle/>
          <a:p>
            <a:pPr marL="0" indent="0" algn="l">
              <a:buNone/>
            </a:pPr>
            <a:r>
              <a:rPr lang="en-US" sz="1000" dirty="0">
                <a:solidFill>
                  <a:srgbClr val="1F2933"/>
                </a:solidFill>
                <a:latin typeface="Aptos" pitchFamily="34" charset="0"/>
                <a:ea typeface="Aptos" pitchFamily="34" charset="-122"/>
                <a:cs typeface="Aptos" pitchFamily="34" charset="-120"/>
              </a:rPr>
              <a:t>Feedback is already common. The system should now make it more specific, behavior-linked, and actionable—especially in lower-quality evaluation channels.</a:t>
            </a:r>
            <a:endParaRPr lang="en-US" sz="1000" dirty="0"/>
          </a:p>
        </p:txBody>
      </p:sp>
      <p:sp>
        <p:nvSpPr>
          <p:cNvPr id="14" name="Shape 12"/>
          <p:cNvSpPr/>
          <p:nvPr/>
        </p:nvSpPr>
        <p:spPr>
          <a:xfrm>
            <a:off x="822960" y="3758184"/>
            <a:ext cx="10561320" cy="932688"/>
          </a:xfrm>
          <a:prstGeom prst="roundRect">
            <a:avLst/>
          </a:prstGeom>
          <a:solidFill>
            <a:srgbClr val="FBF5E9"/>
          </a:solidFill>
          <a:ln w="12700">
            <a:solidFill>
              <a:srgbClr val="D7DEE6"/>
            </a:solidFill>
            <a:prstDash val="solid"/>
          </a:ln>
        </p:spPr>
        <p:txBody>
          <a:bodyPr/>
          <a:lstStyle/>
          <a:p>
            <a:endParaRPr lang="en-US"/>
          </a:p>
        </p:txBody>
      </p:sp>
      <p:sp>
        <p:nvSpPr>
          <p:cNvPr id="15" name="Shape 13"/>
          <p:cNvSpPr/>
          <p:nvPr/>
        </p:nvSpPr>
        <p:spPr>
          <a:xfrm>
            <a:off x="987552" y="3995928"/>
            <a:ext cx="438912" cy="438912"/>
          </a:xfrm>
          <a:prstGeom prst="ellipse">
            <a:avLst/>
          </a:prstGeom>
          <a:solidFill>
            <a:srgbClr val="D49A35"/>
          </a:solidFill>
          <a:ln w="12700">
            <a:solidFill>
              <a:srgbClr val="D49A35"/>
            </a:solidFill>
            <a:prstDash val="solid"/>
          </a:ln>
        </p:spPr>
        <p:txBody>
          <a:bodyPr/>
          <a:lstStyle/>
          <a:p>
            <a:endParaRPr lang="en-US"/>
          </a:p>
        </p:txBody>
      </p:sp>
      <p:sp>
        <p:nvSpPr>
          <p:cNvPr id="16" name="Text 14"/>
          <p:cNvSpPr txBox="1"/>
          <p:nvPr/>
        </p:nvSpPr>
        <p:spPr>
          <a:xfrm>
            <a:off x="987552" y="3995928"/>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7" name="Text 15"/>
          <p:cNvSpPr txBox="1"/>
          <p:nvPr/>
        </p:nvSpPr>
        <p:spPr>
          <a:xfrm>
            <a:off x="1600200" y="3886200"/>
            <a:ext cx="3337560" cy="256032"/>
          </a:xfrm>
          <a:prstGeom prst="rect">
            <a:avLst/>
          </a:prstGeom>
          <a:noFill/>
          <a:ln/>
        </p:spPr>
        <p:txBody>
          <a:bodyPr wrap="square" lIns="0" tIns="0" rIns="0" bIns="0" rtlCol="0" anchor="ctr">
            <a:normAutofit/>
          </a:bodyPr>
          <a:lstStyle/>
          <a:p>
            <a:pPr marL="0" indent="0" algn="l">
              <a:buNone/>
            </a:pPr>
            <a:r>
              <a:rPr lang="en-US" sz="1220" b="1" dirty="0">
                <a:solidFill>
                  <a:srgbClr val="1F2933"/>
                </a:solidFill>
                <a:latin typeface="Aptos" pitchFamily="34" charset="0"/>
                <a:ea typeface="Aptos" pitchFamily="34" charset="-122"/>
                <a:cs typeface="Aptos" pitchFamily="34" charset="-120"/>
              </a:rPr>
              <a:t>Low-score narratives are useful system diagnostics</a:t>
            </a:r>
            <a:endParaRPr lang="en-US" sz="1220" dirty="0"/>
          </a:p>
        </p:txBody>
      </p:sp>
      <p:sp>
        <p:nvSpPr>
          <p:cNvPr id="18" name="Text 16"/>
          <p:cNvSpPr txBox="1"/>
          <p:nvPr/>
        </p:nvSpPr>
        <p:spPr>
          <a:xfrm>
            <a:off x="4956048" y="3867912"/>
            <a:ext cx="6108192" cy="566928"/>
          </a:xfrm>
          <a:prstGeom prst="rect">
            <a:avLst/>
          </a:prstGeom>
          <a:noFill/>
          <a:ln/>
        </p:spPr>
        <p:txBody>
          <a:bodyPr wrap="square" lIns="0" tIns="0" rIns="0" bIns="0" rtlCol="0" anchor="t">
            <a:normAutofit/>
          </a:bodyPr>
          <a:lstStyle/>
          <a:p>
            <a:pPr marL="0" indent="0" algn="l">
              <a:buNone/>
            </a:pPr>
            <a:r>
              <a:rPr lang="en-US" sz="1000" dirty="0">
                <a:solidFill>
                  <a:srgbClr val="1F2933"/>
                </a:solidFill>
                <a:latin typeface="Aptos" pitchFamily="34" charset="0"/>
                <a:ea typeface="Aptos" pitchFamily="34" charset="-122"/>
                <a:cs typeface="Aptos" pitchFamily="34" charset="-120"/>
              </a:rPr>
              <a:t>They surface workflow barriers, workload, wellbeing, assessment, rotation, and equity context that a numeric score alone cannot explain.</a:t>
            </a:r>
            <a:endParaRPr lang="en-US" sz="1000" dirty="0"/>
          </a:p>
        </p:txBody>
      </p:sp>
      <p:sp>
        <p:nvSpPr>
          <p:cNvPr id="19" name="Shape 17"/>
          <p:cNvSpPr/>
          <p:nvPr/>
        </p:nvSpPr>
        <p:spPr>
          <a:xfrm>
            <a:off x="822960" y="4928616"/>
            <a:ext cx="10561320" cy="932688"/>
          </a:xfrm>
          <a:prstGeom prst="roundRect">
            <a:avLst/>
          </a:prstGeom>
          <a:solidFill>
            <a:srgbClr val="F9EFEF"/>
          </a:solidFill>
          <a:ln w="12700">
            <a:solidFill>
              <a:srgbClr val="D7DEE6"/>
            </a:solidFill>
            <a:prstDash val="solid"/>
          </a:ln>
        </p:spPr>
        <p:txBody>
          <a:bodyPr/>
          <a:lstStyle/>
          <a:p>
            <a:endParaRPr lang="en-US"/>
          </a:p>
        </p:txBody>
      </p:sp>
      <p:sp>
        <p:nvSpPr>
          <p:cNvPr id="20" name="Shape 18"/>
          <p:cNvSpPr/>
          <p:nvPr/>
        </p:nvSpPr>
        <p:spPr>
          <a:xfrm>
            <a:off x="987552" y="5166360"/>
            <a:ext cx="438912" cy="438912"/>
          </a:xfrm>
          <a:prstGeom prst="ellipse">
            <a:avLst/>
          </a:prstGeom>
          <a:solidFill>
            <a:srgbClr val="B64A4A"/>
          </a:solidFill>
          <a:ln w="12700">
            <a:solidFill>
              <a:srgbClr val="B64A4A"/>
            </a:solidFill>
            <a:prstDash val="solid"/>
          </a:ln>
        </p:spPr>
        <p:txBody>
          <a:bodyPr/>
          <a:lstStyle/>
          <a:p>
            <a:endParaRPr lang="en-US"/>
          </a:p>
        </p:txBody>
      </p:sp>
      <p:sp>
        <p:nvSpPr>
          <p:cNvPr id="21" name="Text 19"/>
          <p:cNvSpPr txBox="1"/>
          <p:nvPr/>
        </p:nvSpPr>
        <p:spPr>
          <a:xfrm>
            <a:off x="987552" y="5166360"/>
            <a:ext cx="438912" cy="4389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2" name="Text 20"/>
          <p:cNvSpPr txBox="1"/>
          <p:nvPr/>
        </p:nvSpPr>
        <p:spPr>
          <a:xfrm>
            <a:off x="1600200" y="5056632"/>
            <a:ext cx="3337560" cy="256032"/>
          </a:xfrm>
          <a:prstGeom prst="rect">
            <a:avLst/>
          </a:prstGeom>
          <a:noFill/>
          <a:ln/>
        </p:spPr>
        <p:txBody>
          <a:bodyPr wrap="square" lIns="0" tIns="0" rIns="0" bIns="0" rtlCol="0" anchor="ctr">
            <a:normAutofit/>
          </a:bodyPr>
          <a:lstStyle/>
          <a:p>
            <a:pPr marL="0" indent="0" algn="l">
              <a:buNone/>
            </a:pPr>
            <a:r>
              <a:rPr lang="en-US" sz="1220" b="1" dirty="0">
                <a:solidFill>
                  <a:srgbClr val="1F2933"/>
                </a:solidFill>
                <a:latin typeface="Aptos" pitchFamily="34" charset="0"/>
                <a:ea typeface="Aptos" pitchFamily="34" charset="-122"/>
                <a:cs typeface="Aptos" pitchFamily="34" charset="-120"/>
              </a:rPr>
              <a:t>The 100K analysis is strong for discovery, not final causality</a:t>
            </a:r>
            <a:endParaRPr lang="en-US" sz="1220" dirty="0"/>
          </a:p>
        </p:txBody>
      </p:sp>
      <p:sp>
        <p:nvSpPr>
          <p:cNvPr id="23" name="Text 21"/>
          <p:cNvSpPr txBox="1"/>
          <p:nvPr/>
        </p:nvSpPr>
        <p:spPr>
          <a:xfrm>
            <a:off x="4956048" y="5038344"/>
            <a:ext cx="6108192" cy="566928"/>
          </a:xfrm>
          <a:prstGeom prst="rect">
            <a:avLst/>
          </a:prstGeom>
          <a:noFill/>
          <a:ln/>
        </p:spPr>
        <p:txBody>
          <a:bodyPr wrap="square" lIns="0" tIns="0" rIns="0" bIns="0" rtlCol="0" anchor="t">
            <a:normAutofit/>
          </a:bodyPr>
          <a:lstStyle/>
          <a:p>
            <a:pPr marL="0" indent="0" algn="l">
              <a:buNone/>
            </a:pPr>
            <a:r>
              <a:rPr lang="en-US" sz="1000" dirty="0">
                <a:solidFill>
                  <a:srgbClr val="1F2933"/>
                </a:solidFill>
                <a:latin typeface="Aptos" pitchFamily="34" charset="0"/>
                <a:ea typeface="Aptos" pitchFamily="34" charset="-122"/>
                <a:cs typeface="Aptos" pitchFamily="34" charset="-120"/>
              </a:rPr>
              <a:t>The taxonomy appears close to saturation, but validation, row-level prevalence, and adjusted longitudinal/mixed-effects modeling are needed before causal or policy claims.</a:t>
            </a:r>
            <a:endParaRPr lang="en-US" sz="1000" dirty="0"/>
          </a:p>
        </p:txBody>
      </p:sp>
      <p:sp>
        <p:nvSpPr>
          <p:cNvPr id="24" name="Shape 22"/>
          <p:cNvSpPr/>
          <p:nvPr/>
        </p:nvSpPr>
        <p:spPr>
          <a:xfrm>
            <a:off x="1993392" y="6080760"/>
            <a:ext cx="8211312" cy="420624"/>
          </a:xfrm>
          <a:prstGeom prst="roundRect">
            <a:avLst/>
          </a:prstGeom>
          <a:solidFill>
            <a:srgbClr val="163A5F"/>
          </a:solidFill>
          <a:ln w="12700">
            <a:solidFill>
              <a:srgbClr val="163A5F"/>
            </a:solidFill>
            <a:prstDash val="solid"/>
          </a:ln>
        </p:spPr>
        <p:txBody>
          <a:bodyPr/>
          <a:lstStyle/>
          <a:p>
            <a:endParaRPr lang="en-US"/>
          </a:p>
        </p:txBody>
      </p:sp>
      <p:sp>
        <p:nvSpPr>
          <p:cNvPr id="25" name="Text 23"/>
          <p:cNvSpPr txBox="1"/>
          <p:nvPr/>
        </p:nvSpPr>
        <p:spPr>
          <a:xfrm>
            <a:off x="2240280" y="6153912"/>
            <a:ext cx="7726680" cy="201168"/>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Aptos" pitchFamily="34" charset="0"/>
                <a:ea typeface="Aptos" pitchFamily="34" charset="-122"/>
                <a:cs typeface="Aptos" pitchFamily="34" charset="-120"/>
              </a:rPr>
              <a:t>Next step: validate → model → intervene → measure again.</a:t>
            </a:r>
            <a:endParaRPr lang="en-US" sz="1150" dirty="0"/>
          </a:p>
        </p:txBody>
      </p:sp>
      <p:sp>
        <p:nvSpPr>
          <p:cNvPr id="26" name="Slide Number Placeholder 0"/>
          <p:cNvSpPr>
            <a:spLocks noGrp="1"/>
          </p:cNvSpPr>
          <p:nvPr>
            <p:ph type="sldNum" sz="quarter" idx="4294967295"/>
          </p:nvPr>
        </p:nvSpPr>
        <p:spPr>
          <a:xfrm>
            <a:off x="11759184" y="6510528"/>
            <a:ext cx="228600" cy="164592"/>
          </a:xfrm>
          <a:prstGeom prst="rect">
            <a:avLst/>
          </a:prstGeom>
          <a:extLst>
            <a:ext uri="{C572A759-6A51-4108-AA02-DFA0A04FC94B}">
              <ma14:wrappingTextBoxFlag xmlns="" xmlns:ma14="http://schemas.microsoft.com/office/mac/drawingml/2011/main" val="0"/>
            </a:ext>
          </a:extLst>
        </p:spPr>
        <p:txBody>
          <a:bodyPr/>
          <a:lstStyle>
            <a:lvl1pPr>
              <a:defRPr sz="850">
                <a:solidFill>
                  <a:srgbClr val="6D7781"/>
                </a:solidFill>
                <a:latin typeface="Aptos"/>
                <a:ea typeface="Aptos"/>
                <a:cs typeface="Aptos"/>
              </a:defRPr>
            </a:lvl1pPr>
          </a:lstStyle>
          <a:p>
            <a:pPr algn="r"/>
            <a:fld id="{F7021451-1387-4CA6-816F-3879F97B5CBC}" type="slidenum">
              <a:rPr lang="en-US" b="0"/>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4465</Words>
  <Application>Microsoft Macintosh PowerPoint</Application>
  <PresentationFormat>Widescreen</PresentationFormat>
  <Paragraphs>434</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Cleveland Clinic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GMETS Analysis — 100K Narrative Evaluations</dc:title>
  <dc:subject>GMETS 100K narrative evaluation analysis</dc:subject>
  <dc:creator>Rick Rejeleene</dc:creator>
  <cp:lastModifiedBy>Rejeleene, Rick</cp:lastModifiedBy>
  <cp:revision>4</cp:revision>
  <dcterms:created xsi:type="dcterms:W3CDTF">2026-10-06T23:32:22Z</dcterms:created>
  <dcterms:modified xsi:type="dcterms:W3CDTF">2026-10-09T17:28:12Z</dcterms:modified>
</cp:coreProperties>
</file>