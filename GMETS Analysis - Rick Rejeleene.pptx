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3" d="100"/>
          <a:sy n="123" d="100"/>
        </p:scale>
        <p:origin x="6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8728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summarizes the GMETS narrative-analysis pipeline and explains what each result means. The emphasis is on interpretation rather than simply presenting charts.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narrative corpus tells a coherent story: learning appears to be built around feedback, supervision, psychological safety, and structured teaching. Developmental outcomes are not just technical; communication, self-directed learning, reasoning, and autonomy are prominent. The results are descriptive and should not be treated as causal without multivariable modeling and validation.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 starts with narrative rows plus structured scores and metadata. The LLM produces multi-label codes. Those row-level labels are aggregated at the evaluation-event level for prevalence, associations, and trend analyses. Because categories are multi-label, percentages across bars are not expected to add to 100%.</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Faculty teaching, feedback, and mentorship is the dominant learning-environment feature, followed by teaching infrastructure and psychological safety. Workload, wellbeing, supervision, and assessment also occur in a large share of events. A major caveat is that “No explicit learning-environment feature described” is also extremely common, which is logically difficult to reconcile with the high prevalence of explicit features and should be audited as a coding-rule problem.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and teamwork development is the most common developmental outcome, followed by feedback receptivity and self-directed learning, clinical reasoning, and autonomy/confidence. This suggests that the evaluation system captures relational, reflective, and reasoning-oriented development at least as strongly as technical competence. The “No explicit developmental effect” label remains common and should be interpreted as an absence of clear developmental language in many events.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mechanisms are iterative feedback, coaching and modeling, followed by direct supervision, scaffolding and availability. Reflection and goal setting are also common. Together, these results suggest a feedback-rich and supervision-dependent model of learning, with autonomy and repeated clinical exposure functioning as additional mechanisms.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classifier confidence distribution is concentrated around the 70–80 range, above the visual threshold at 60, but the spike at zero needs separate investigation. It may reflect missing confidence assignments, skipped content, or genuine uncertainty. The performance signal is overwhelmingly positive; neutral, mixed, and concern classes are rare. That may reflect the source data, but it also means that accuracy alone would be misleading for validation. Precision, recall, and targeted review of minority classes are more informative.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vertical reference line is an odds ratio of 1, meaning no difference between high- and low-score events. Many categories sit below 1, indicating that they occur more often in lower-score evaluations. The strongest negative association is seen for equity, inclusion and discrimination climate. Workflow barriers, clinical workload, wellbeing strain, and several other categories also appear more frequently in low-score evaluations. Faculty teaching, feedback and mentorship is the only point estimate above 1, but its interval appears to cross 1, so the evidence for a high-score association is not definitive. These are associations, not causal effects.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meaningful co-occurrences involve faculty teaching and feedback with teaching infrastructure, psychological safety, workload, wellbeing, supervision, and assessment. This supports an ecosystem interpretation rather than isolated themes. However, the most frequent pair includes “No explicit learning-environment feature described” alongside an explicit feature, which should not happen under a clean mutually exclusive rule. That is a major taxonomy-logic issue to fix before using co-occurrence as a substantive finding.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Psychological safety is the most prominent sensitizing construct, followed by supervision availability. Workload/fatigue and wellbeing/burnout are also common. Handoff failures, serious patient outcomes, discrimination/bias, and error disclosure are much rarer. Those rare constructs may still be critically important, so they should be analyzed with event counts and qualitative review rather than dismissed because of low prevalence.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feedback-quality averages fall around 2.8 to 3.4 out of 5. Actionability is slightly higher than specificity in every evaluation type. Resident evaluations of faculty appear to have the highest mean ratings, while faculty evaluations of the program or hospital are the lowest. This suggests an opportunity to improve concrete detail and next-step guidance, particularly in the weaker evaluation channels.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Faculty teaching, feedback and mentorship stays very high across the timeline. Teaching infrastructure, psychological safety, workload, wellbeing, and supervision fluctuate more strongly. Several categories appear to decline in the latest years. That pattern could reflect a real change, but it could also be driven by changes in the number or type of evaluations, specialties, programs, or data coverage. A formal trend analysis should therefore use event counts and adjusted models rather than the raw percentages alone.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first-to-last difference distribution is concentrated around zero and extends in both directions. Some evaluatees improve substantially and others decline, but the overall distribution does not show a strong uniform shift. Because this comparison ignores the number and timing of observations and the context of each evaluation, the preferred next step is a longitudinal mixed-effects model rather than relying on first-versus-last change alone.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is dominated by NaN values, followed by duplicate variants of “no explicit learning-environment feature described.” The genuinely novel concepts occur only a few times each. This suggests that the existing taxonomy is broadly comprehensive, but the gap-extraction logic needs housekeeping so that missing fields and placeholders are not treated as conceptual discoveries.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Taken together, the charts suggest a coherent conceptual model. The dominant environment is one with active faculty teaching, feedback, psychologically safe relationships, and available supervision. The dominant mechanisms are coaching, scaffolding, reflection, and structured teaching. The dominant developmental outcomes are communication, feedback receptivity, reasoning, and autonomy. This is a strong hypothesis-generating pattern, but it still requires validation and causal or longitudinal analysis.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messages that can be defended from the descriptive outputs. The most important substantive finding is the centrality of feedback, supervision, and psychological safety. The most important methodological finding is that the coding taxonomy needs a small amount of rule cleanup and human validation before stronger claims are made.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step should not be another descriptive chart. First clean the taxonomy rules and create a human validation set. Then run adjusted mixed-effects models that respect repeated observations and program context. Once the associations are stable, convert the strongest and most actionable themes—feedback quality, psychological safety, supervision, workload, and wellbeing—into recurring program indicators and targeted improvement work.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63A5F"/>
          </a:solidFill>
          <a:ln w="12700">
            <a:solidFill>
              <a:srgbClr val="163A5F"/>
            </a:solidFill>
            <a:prstDash val="solid"/>
          </a:ln>
        </p:spPr>
        <p:txBody>
          <a:bodyPr/>
          <a:lstStyle/>
          <a:p>
            <a:endParaRPr lang="en-US"/>
          </a:p>
        </p:txBody>
      </p:sp>
      <p:sp>
        <p:nvSpPr>
          <p:cNvPr id="3" name="Text 1"/>
          <p:cNvSpPr/>
          <p:nvPr/>
        </p:nvSpPr>
        <p:spPr>
          <a:xfrm>
            <a:off x="347472" y="6492240"/>
            <a:ext cx="2377440" cy="164592"/>
          </a:xfrm>
          <a:prstGeom prst="rect">
            <a:avLst/>
          </a:prstGeom>
          <a:noFill/>
          <a:ln/>
        </p:spPr>
        <p:txBody>
          <a:bodyPr wrap="square" lIns="0" tIns="0" rIns="0" bIns="0" rtlCol="0" anchor="ctr"/>
          <a:lstStyle/>
          <a:p>
            <a:pPr marL="0" indent="0">
              <a:buNone/>
            </a:pPr>
            <a:r>
              <a:rPr lang="en-US" sz="850" dirty="0">
                <a:solidFill>
                  <a:srgbClr val="6B7785"/>
                </a:solidFill>
                <a:latin typeface="Aptos" pitchFamily="34" charset="0"/>
                <a:ea typeface="Aptos" pitchFamily="34" charset="-122"/>
                <a:cs typeface="Aptos" pitchFamily="34" charset="-120"/>
              </a:rPr>
              <a:t>GMETS Analysis</a:t>
            </a:r>
            <a:endParaRPr lang="en-US" sz="850" dirty="0"/>
          </a:p>
        </p:txBody>
      </p:sp>
      <p:sp>
        <p:nvSpPr>
          <p:cNvPr id="4" name="Text 2"/>
          <p:cNvSpPr/>
          <p:nvPr/>
        </p:nvSpPr>
        <p:spPr>
          <a:xfrm>
            <a:off x="9555480" y="6492240"/>
            <a:ext cx="2240280" cy="164592"/>
          </a:xfrm>
          <a:prstGeom prst="rect">
            <a:avLst/>
          </a:prstGeom>
          <a:noFill/>
          <a:ln/>
        </p:spPr>
        <p:txBody>
          <a:bodyPr wrap="square" lIns="0" tIns="0" rIns="0" bIns="0" rtlCol="0" anchor="ctr"/>
          <a:lstStyle/>
          <a:p>
            <a:pPr marL="0" indent="0" algn="r">
              <a:buNone/>
            </a:pPr>
            <a:r>
              <a:rPr lang="en-US" sz="850" dirty="0">
                <a:solidFill>
                  <a:srgbClr val="6B7785"/>
                </a:solidFill>
                <a:latin typeface="Aptos" pitchFamily="34" charset="0"/>
                <a:ea typeface="Aptos" pitchFamily="34" charset="-122"/>
                <a:cs typeface="Aptos" pitchFamily="34" charset="-120"/>
              </a:rPr>
              <a:t>Rick Rejeleene</a:t>
            </a:r>
            <a:endParaRPr lang="en-US" sz="850" dirty="0"/>
          </a:p>
        </p:txBody>
      </p:sp>
      <p:sp>
        <p:nvSpPr>
          <p:cNvPr id="5" name="Shape 3"/>
          <p:cNvSpPr/>
          <p:nvPr/>
        </p:nvSpPr>
        <p:spPr>
          <a:xfrm>
            <a:off x="347472" y="6419088"/>
            <a:ext cx="11475720" cy="0"/>
          </a:xfrm>
          <a:prstGeom prst="line">
            <a:avLst/>
          </a:prstGeom>
          <a:noFill/>
          <a:ln w="10160">
            <a:solidFill>
              <a:srgbClr val="D7DEE6"/>
            </a:solidFill>
            <a:prstDash val="solid"/>
          </a:ln>
        </p:spPr>
        <p:txBody>
          <a:bodyPr/>
          <a:lstStyle/>
          <a:p>
            <a:endParaRPr lang="en-US"/>
          </a:p>
        </p:txBody>
      </p:sp>
      <p:sp>
        <p:nvSpPr>
          <p:cNvPr id="25" name="Slide Number Placeholder 0"/>
          <p:cNvSpPr>
            <a:spLocks noGrp="1"/>
          </p:cNvSpPr>
          <p:nvPr>
            <p:ph type="sldNum" sz="quarter" idx="4294967295"/>
          </p:nvPr>
        </p:nvSpPr>
        <p:spPr>
          <a:xfrm>
            <a:off x="11823192" y="6492240"/>
            <a:ext cx="201168"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6B7785"/>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823192" y="6492240"/>
            <a:ext cx="201168"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6B7785"/>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A5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3A5F"/>
          </a:solidFill>
          <a:ln w="12700">
            <a:solidFill>
              <a:srgbClr val="163A5F"/>
            </a:solidFill>
            <a:prstDash val="solid"/>
          </a:ln>
        </p:spPr>
        <p:txBody>
          <a:bodyPr/>
          <a:lstStyle/>
          <a:p>
            <a:endParaRPr lang="en-US"/>
          </a:p>
        </p:txBody>
      </p:sp>
      <p:sp>
        <p:nvSpPr>
          <p:cNvPr id="3" name="Shape 1"/>
          <p:cNvSpPr/>
          <p:nvPr/>
        </p:nvSpPr>
        <p:spPr>
          <a:xfrm>
            <a:off x="658368" y="1078992"/>
            <a:ext cx="91440" cy="3977640"/>
          </a:xfrm>
          <a:prstGeom prst="rect">
            <a:avLst/>
          </a:prstGeom>
          <a:solidFill>
            <a:srgbClr val="5AB0A7"/>
          </a:solidFill>
          <a:ln w="12700">
            <a:solidFill>
              <a:srgbClr val="5AB0A7"/>
            </a:solidFill>
            <a:prstDash val="solid"/>
          </a:ln>
        </p:spPr>
        <p:txBody>
          <a:bodyPr/>
          <a:lstStyle/>
          <a:p>
            <a:endParaRPr lang="en-US"/>
          </a:p>
        </p:txBody>
      </p:sp>
      <p:sp>
        <p:nvSpPr>
          <p:cNvPr id="4" name="Text 2"/>
          <p:cNvSpPr/>
          <p:nvPr/>
        </p:nvSpPr>
        <p:spPr>
          <a:xfrm>
            <a:off x="1005840" y="1234440"/>
            <a:ext cx="8046720" cy="777240"/>
          </a:xfrm>
          <a:prstGeom prst="rect">
            <a:avLst/>
          </a:prstGeom>
          <a:noFill/>
          <a:ln/>
        </p:spPr>
        <p:txBody>
          <a:bodyPr wrap="square" lIns="0" tIns="0" rIns="0" bIns="0" rtlCol="0" anchor="ctr"/>
          <a:lstStyle/>
          <a:p>
            <a:pPr marL="0" indent="0">
              <a:buNone/>
            </a:pPr>
            <a:r>
              <a:rPr lang="en-US" sz="3400" b="1" dirty="0">
                <a:solidFill>
                  <a:srgbClr val="FFFFFF"/>
                </a:solidFill>
                <a:latin typeface="Aptos Display" pitchFamily="34" charset="0"/>
                <a:ea typeface="Aptos Display" pitchFamily="34" charset="-122"/>
                <a:cs typeface="Aptos Display" pitchFamily="34" charset="-120"/>
              </a:rPr>
              <a:t>GMETS Analysis</a:t>
            </a:r>
            <a:endParaRPr lang="en-US" sz="3400" dirty="0"/>
          </a:p>
        </p:txBody>
      </p:sp>
      <p:sp>
        <p:nvSpPr>
          <p:cNvPr id="5" name="Text 3"/>
          <p:cNvSpPr/>
          <p:nvPr/>
        </p:nvSpPr>
        <p:spPr>
          <a:xfrm>
            <a:off x="1005840" y="2075688"/>
            <a:ext cx="8046720" cy="384048"/>
          </a:xfrm>
          <a:prstGeom prst="rect">
            <a:avLst/>
          </a:prstGeom>
          <a:noFill/>
          <a:ln/>
        </p:spPr>
        <p:txBody>
          <a:bodyPr wrap="square" lIns="0" tIns="0" rIns="0" bIns="0" rtlCol="0" anchor="ctr"/>
          <a:lstStyle/>
          <a:p>
            <a:pPr marL="0" indent="0">
              <a:buNone/>
            </a:pPr>
            <a:r>
              <a:rPr lang="en-US" sz="1800" dirty="0">
                <a:solidFill>
                  <a:srgbClr val="D7E5F0"/>
                </a:solidFill>
                <a:latin typeface="Aptos" pitchFamily="34" charset="0"/>
                <a:ea typeface="Aptos" pitchFamily="34" charset="-122"/>
                <a:cs typeface="Aptos" pitchFamily="34" charset="-120"/>
              </a:rPr>
              <a:t>Grounded-theory analysis of narrative evaluations</a:t>
            </a:r>
            <a:endParaRPr lang="en-US" sz="1800" dirty="0"/>
          </a:p>
        </p:txBody>
      </p:sp>
      <p:sp>
        <p:nvSpPr>
          <p:cNvPr id="6" name="Text 4"/>
          <p:cNvSpPr/>
          <p:nvPr/>
        </p:nvSpPr>
        <p:spPr>
          <a:xfrm>
            <a:off x="1005840" y="2587752"/>
            <a:ext cx="8778240" cy="365760"/>
          </a:xfrm>
          <a:prstGeom prst="rect">
            <a:avLst/>
          </a:prstGeom>
          <a:noFill/>
          <a:ln/>
        </p:spPr>
        <p:txBody>
          <a:bodyPr wrap="square" lIns="0" tIns="0" rIns="0" bIns="0" rtlCol="0" anchor="ctr"/>
          <a:lstStyle/>
          <a:p>
            <a:pPr marL="0" indent="0">
              <a:buNone/>
            </a:pPr>
            <a:r>
              <a:rPr lang="en-US" sz="1350" dirty="0">
                <a:solidFill>
                  <a:srgbClr val="B9CBD9"/>
                </a:solidFill>
                <a:latin typeface="Aptos" pitchFamily="34" charset="0"/>
                <a:ea typeface="Aptos" pitchFamily="34" charset="-122"/>
                <a:cs typeface="Aptos" pitchFamily="34" charset="-120"/>
              </a:rPr>
              <a:t>Inputs, outputs, interpretation, key takeaways, and action items</a:t>
            </a:r>
            <a:endParaRPr lang="en-US" sz="1350" dirty="0"/>
          </a:p>
        </p:txBody>
      </p:sp>
      <p:sp>
        <p:nvSpPr>
          <p:cNvPr id="7" name="Shape 5"/>
          <p:cNvSpPr/>
          <p:nvPr/>
        </p:nvSpPr>
        <p:spPr>
          <a:xfrm>
            <a:off x="1005840" y="3977640"/>
            <a:ext cx="2880360" cy="603504"/>
          </a:xfrm>
          <a:prstGeom prst="roundRect">
            <a:avLst/>
          </a:prstGeom>
          <a:solidFill>
            <a:srgbClr val="214B70">
              <a:alpha val="88000"/>
            </a:srgbClr>
          </a:solidFill>
          <a:ln w="13970">
            <a:solidFill>
              <a:srgbClr val="5AB0A7"/>
            </a:solidFill>
            <a:prstDash val="solid"/>
          </a:ln>
        </p:spPr>
        <p:txBody>
          <a:bodyPr/>
          <a:lstStyle/>
          <a:p>
            <a:endParaRPr lang="en-US"/>
          </a:p>
        </p:txBody>
      </p:sp>
      <p:sp>
        <p:nvSpPr>
          <p:cNvPr id="8" name="Text 6"/>
          <p:cNvSpPr/>
          <p:nvPr/>
        </p:nvSpPr>
        <p:spPr>
          <a:xfrm>
            <a:off x="1170432" y="4160520"/>
            <a:ext cx="2560320" cy="228600"/>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50,000 narrative rows</a:t>
            </a:r>
            <a:endParaRPr lang="en-US" sz="1300" dirty="0"/>
          </a:p>
        </p:txBody>
      </p:sp>
      <p:sp>
        <p:nvSpPr>
          <p:cNvPr id="9" name="Shape 7"/>
          <p:cNvSpPr/>
          <p:nvPr/>
        </p:nvSpPr>
        <p:spPr>
          <a:xfrm>
            <a:off x="4096512" y="3977640"/>
            <a:ext cx="2880360" cy="603504"/>
          </a:xfrm>
          <a:prstGeom prst="roundRect">
            <a:avLst/>
          </a:prstGeom>
          <a:solidFill>
            <a:srgbClr val="214B70">
              <a:alpha val="88000"/>
            </a:srgbClr>
          </a:solidFill>
          <a:ln w="13970">
            <a:solidFill>
              <a:srgbClr val="5AB0A7"/>
            </a:solidFill>
            <a:prstDash val="solid"/>
          </a:ln>
        </p:spPr>
        <p:txBody>
          <a:bodyPr/>
          <a:lstStyle/>
          <a:p>
            <a:endParaRPr lang="en-US"/>
          </a:p>
        </p:txBody>
      </p:sp>
      <p:sp>
        <p:nvSpPr>
          <p:cNvPr id="10" name="Text 8"/>
          <p:cNvSpPr/>
          <p:nvPr/>
        </p:nvSpPr>
        <p:spPr>
          <a:xfrm>
            <a:off x="4224528" y="4160520"/>
            <a:ext cx="2615184" cy="228600"/>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1,727 evaluation events</a:t>
            </a:r>
            <a:endParaRPr lang="en-US" sz="1300" dirty="0"/>
          </a:p>
        </p:txBody>
      </p:sp>
      <p:sp>
        <p:nvSpPr>
          <p:cNvPr id="11" name="Text 9"/>
          <p:cNvSpPr/>
          <p:nvPr/>
        </p:nvSpPr>
        <p:spPr>
          <a:xfrm>
            <a:off x="1005840" y="5641848"/>
            <a:ext cx="4572000" cy="320040"/>
          </a:xfrm>
          <a:prstGeom prst="rect">
            <a:avLst/>
          </a:prstGeom>
          <a:noFill/>
          <a:ln/>
        </p:spPr>
        <p:txBody>
          <a:bodyPr wrap="square" lIns="0" tIns="0" rIns="0" bIns="0" rtlCol="0" anchor="ctr"/>
          <a:lstStyle/>
          <a:p>
            <a:pPr marL="0" indent="0">
              <a:buNone/>
            </a:pPr>
            <a:r>
              <a:rPr lang="en-US" sz="1500" b="1" dirty="0">
                <a:solidFill>
                  <a:srgbClr val="FFFFFF"/>
                </a:solidFill>
                <a:latin typeface="Aptos" pitchFamily="34" charset="0"/>
                <a:ea typeface="Aptos" pitchFamily="34" charset="-122"/>
                <a:cs typeface="Aptos" pitchFamily="34" charset="-120"/>
              </a:rPr>
              <a:t>Rick Rejeleene</a:t>
            </a:r>
            <a:endParaRPr lang="en-US" sz="1500" dirty="0"/>
          </a:p>
        </p:txBody>
      </p:sp>
      <p:sp>
        <p:nvSpPr>
          <p:cNvPr id="12" name="Text 10"/>
          <p:cNvSpPr/>
          <p:nvPr/>
        </p:nvSpPr>
        <p:spPr>
          <a:xfrm>
            <a:off x="1005840" y="5998464"/>
            <a:ext cx="4572000" cy="256032"/>
          </a:xfrm>
          <a:prstGeom prst="rect">
            <a:avLst/>
          </a:prstGeom>
          <a:noFill/>
          <a:ln/>
        </p:spPr>
        <p:txBody>
          <a:bodyPr wrap="square" lIns="0" tIns="0" rIns="0" bIns="0" rtlCol="0" anchor="ctr"/>
          <a:lstStyle/>
          <a:p>
            <a:pPr marL="0" indent="0">
              <a:buNone/>
            </a:pPr>
            <a:r>
              <a:rPr lang="en-US" sz="1150" dirty="0">
                <a:solidFill>
                  <a:srgbClr val="B9CBD9"/>
                </a:solidFill>
                <a:latin typeface="Aptos" pitchFamily="34" charset="0"/>
                <a:ea typeface="Aptos" pitchFamily="34" charset="-122"/>
                <a:cs typeface="Aptos" pitchFamily="34" charset="-120"/>
              </a:rPr>
              <a:t>October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75488" y="274320"/>
            <a:ext cx="11064240" cy="365760"/>
          </a:xfrm>
          <a:prstGeom prst="rect">
            <a:avLst/>
          </a:prstGeom>
          <a:noFill/>
          <a:ln/>
        </p:spPr>
        <p:txBody>
          <a:bodyPr wrap="square" lIns="0" tIns="0" rIns="0" bIns="0" rtlCol="0" anchor="ctr"/>
          <a:lstStyle/>
          <a:p>
            <a:pPr marL="0" indent="0">
              <a:buNone/>
            </a:pPr>
            <a:r>
              <a:rPr lang="en-US" sz="2400" b="1" dirty="0">
                <a:solidFill>
                  <a:srgbClr val="1E2A35"/>
                </a:solidFill>
                <a:latin typeface="Aptos Display" pitchFamily="34" charset="0"/>
                <a:ea typeface="Aptos Display" pitchFamily="34" charset="-122"/>
                <a:cs typeface="Aptos Display" pitchFamily="34" charset="-120"/>
              </a:rPr>
              <a:t>Executive summary</a:t>
            </a:r>
            <a:endParaRPr lang="en-US" sz="2400" dirty="0"/>
          </a:p>
        </p:txBody>
      </p:sp>
      <p:sp>
        <p:nvSpPr>
          <p:cNvPr id="3" name="Text 1"/>
          <p:cNvSpPr/>
          <p:nvPr/>
        </p:nvSpPr>
        <p:spPr>
          <a:xfrm>
            <a:off x="484632" y="694944"/>
            <a:ext cx="11064240" cy="320040"/>
          </a:xfrm>
          <a:prstGeom prst="rect">
            <a:avLst/>
          </a:prstGeom>
          <a:noFill/>
          <a:ln/>
        </p:spPr>
        <p:txBody>
          <a:bodyPr wrap="square" lIns="0" tIns="0" rIns="0" bIns="0" rtlCol="0" anchor="ctr"/>
          <a:lstStyle/>
          <a:p>
            <a:pPr marL="0" indent="0">
              <a:buNone/>
            </a:pPr>
            <a:r>
              <a:rPr lang="en-US" sz="1150" dirty="0">
                <a:solidFill>
                  <a:srgbClr val="5D6976"/>
                </a:solidFill>
                <a:latin typeface="Aptos" pitchFamily="34" charset="0"/>
                <a:ea typeface="Aptos" pitchFamily="34" charset="-122"/>
                <a:cs typeface="Aptos" pitchFamily="34" charset="-120"/>
              </a:rPr>
              <a:t>What the narrative data say at a high level</a:t>
            </a:r>
            <a:endParaRPr lang="en-US" sz="1150" dirty="0"/>
          </a:p>
        </p:txBody>
      </p:sp>
      <p:sp>
        <p:nvSpPr>
          <p:cNvPr id="4" name="Shape 2"/>
          <p:cNvSpPr/>
          <p:nvPr/>
        </p:nvSpPr>
        <p:spPr>
          <a:xfrm>
            <a:off x="566928" y="1325880"/>
            <a:ext cx="5303520" cy="1243584"/>
          </a:xfrm>
          <a:prstGeom prst="roundRect">
            <a:avLst>
              <a:gd name="adj" fmla="val 4412"/>
            </a:avLst>
          </a:prstGeom>
          <a:solidFill>
            <a:srgbClr val="EDF5FA"/>
          </a:solidFill>
          <a:ln w="10160">
            <a:solidFill>
              <a:srgbClr val="D7DEE6"/>
            </a:solidFill>
            <a:prstDash val="solid"/>
          </a:ln>
        </p:spPr>
        <p:txBody>
          <a:bodyPr/>
          <a:lstStyle/>
          <a:p>
            <a:endParaRPr lang="en-US"/>
          </a:p>
        </p:txBody>
      </p:sp>
      <p:sp>
        <p:nvSpPr>
          <p:cNvPr id="5" name="Shape 3"/>
          <p:cNvSpPr/>
          <p:nvPr/>
        </p:nvSpPr>
        <p:spPr>
          <a:xfrm>
            <a:off x="768096" y="1563624"/>
            <a:ext cx="512064" cy="512064"/>
          </a:xfrm>
          <a:prstGeom prst="ellipse">
            <a:avLst/>
          </a:prstGeom>
          <a:solidFill>
            <a:srgbClr val="2A6F9E"/>
          </a:solidFill>
          <a:ln w="12700">
            <a:solidFill>
              <a:srgbClr val="2A6F9E"/>
            </a:solidFill>
            <a:prstDash val="solid"/>
          </a:ln>
        </p:spPr>
        <p:txBody>
          <a:bodyPr/>
          <a:lstStyle/>
          <a:p>
            <a:endParaRPr lang="en-US"/>
          </a:p>
        </p:txBody>
      </p:sp>
      <p:sp>
        <p:nvSpPr>
          <p:cNvPr id="6" name="Text 4"/>
          <p:cNvSpPr/>
          <p:nvPr/>
        </p:nvSpPr>
        <p:spPr>
          <a:xfrm>
            <a:off x="768096" y="1655064"/>
            <a:ext cx="512064" cy="201168"/>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7" name="Text 5"/>
          <p:cNvSpPr/>
          <p:nvPr/>
        </p:nvSpPr>
        <p:spPr>
          <a:xfrm>
            <a:off x="1444752" y="1508760"/>
            <a:ext cx="4160520" cy="274320"/>
          </a:xfrm>
          <a:prstGeom prst="rect">
            <a:avLst/>
          </a:prstGeom>
          <a:noFill/>
          <a:ln/>
        </p:spPr>
        <p:txBody>
          <a:bodyPr wrap="square" lIns="0" tIns="0" rIns="0" bIns="0" rtlCol="0" anchor="ctr"/>
          <a:lstStyle/>
          <a:p>
            <a:pPr marL="0" indent="0">
              <a:buNone/>
            </a:pPr>
            <a:r>
              <a:rPr lang="en-US" sz="1300" b="1" dirty="0">
                <a:solidFill>
                  <a:srgbClr val="1E2A35"/>
                </a:solidFill>
              </a:rPr>
              <a:t>Learning is strongly feedback-centered</a:t>
            </a:r>
            <a:endParaRPr lang="en-US" sz="1300" dirty="0"/>
          </a:p>
        </p:txBody>
      </p:sp>
      <p:sp>
        <p:nvSpPr>
          <p:cNvPr id="8" name="Text 6"/>
          <p:cNvSpPr/>
          <p:nvPr/>
        </p:nvSpPr>
        <p:spPr>
          <a:xfrm>
            <a:off x="1444752" y="1837944"/>
            <a:ext cx="4160520" cy="557784"/>
          </a:xfrm>
          <a:prstGeom prst="rect">
            <a:avLst/>
          </a:prstGeom>
          <a:noFill/>
          <a:ln/>
        </p:spPr>
        <p:txBody>
          <a:bodyPr wrap="square" lIns="127" tIns="127" rIns="127" bIns="127" rtlCol="0" anchor="ctr">
            <a:normAutofit/>
          </a:bodyPr>
          <a:lstStyle/>
          <a:p>
            <a:pPr marL="0" indent="0">
              <a:buNone/>
            </a:pPr>
            <a:r>
              <a:rPr lang="en-US" sz="1030" dirty="0">
                <a:solidFill>
                  <a:srgbClr val="5D6976"/>
                </a:solidFill>
              </a:rPr>
              <a:t>Faculty teaching, feedback and mentorship is the most prevalent environment feature; iterative feedback and coaching is the most prevalent learning mechanism.</a:t>
            </a:r>
            <a:endParaRPr lang="en-US" sz="1030" dirty="0"/>
          </a:p>
        </p:txBody>
      </p:sp>
      <p:sp>
        <p:nvSpPr>
          <p:cNvPr id="9" name="Shape 7"/>
          <p:cNvSpPr/>
          <p:nvPr/>
        </p:nvSpPr>
        <p:spPr>
          <a:xfrm>
            <a:off x="6144768" y="1325880"/>
            <a:ext cx="5303520" cy="1243584"/>
          </a:xfrm>
          <a:prstGeom prst="roundRect">
            <a:avLst>
              <a:gd name="adj" fmla="val 4412"/>
            </a:avLst>
          </a:prstGeom>
          <a:solidFill>
            <a:srgbClr val="EDF7F5"/>
          </a:solidFill>
          <a:ln w="10160">
            <a:solidFill>
              <a:srgbClr val="D7DEE6"/>
            </a:solidFill>
            <a:prstDash val="solid"/>
          </a:ln>
        </p:spPr>
        <p:txBody>
          <a:bodyPr/>
          <a:lstStyle/>
          <a:p>
            <a:endParaRPr lang="en-US"/>
          </a:p>
        </p:txBody>
      </p:sp>
      <p:sp>
        <p:nvSpPr>
          <p:cNvPr id="10" name="Shape 8"/>
          <p:cNvSpPr/>
          <p:nvPr/>
        </p:nvSpPr>
        <p:spPr>
          <a:xfrm>
            <a:off x="6345936" y="1563624"/>
            <a:ext cx="512064" cy="512064"/>
          </a:xfrm>
          <a:prstGeom prst="ellipse">
            <a:avLst/>
          </a:prstGeom>
          <a:solidFill>
            <a:srgbClr val="2B8C87"/>
          </a:solidFill>
          <a:ln w="12700">
            <a:solidFill>
              <a:srgbClr val="2B8C87"/>
            </a:solidFill>
            <a:prstDash val="solid"/>
          </a:ln>
        </p:spPr>
        <p:txBody>
          <a:bodyPr/>
          <a:lstStyle/>
          <a:p>
            <a:endParaRPr lang="en-US"/>
          </a:p>
        </p:txBody>
      </p:sp>
      <p:sp>
        <p:nvSpPr>
          <p:cNvPr id="11" name="Text 9"/>
          <p:cNvSpPr/>
          <p:nvPr/>
        </p:nvSpPr>
        <p:spPr>
          <a:xfrm>
            <a:off x="6345936" y="1655064"/>
            <a:ext cx="512064" cy="201168"/>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2" name="Text 10"/>
          <p:cNvSpPr/>
          <p:nvPr/>
        </p:nvSpPr>
        <p:spPr>
          <a:xfrm>
            <a:off x="7022592" y="1508760"/>
            <a:ext cx="4160520" cy="274320"/>
          </a:xfrm>
          <a:prstGeom prst="rect">
            <a:avLst/>
          </a:prstGeom>
          <a:noFill/>
          <a:ln/>
        </p:spPr>
        <p:txBody>
          <a:bodyPr wrap="square" lIns="0" tIns="0" rIns="0" bIns="0" rtlCol="0" anchor="ctr"/>
          <a:lstStyle/>
          <a:p>
            <a:pPr marL="0" indent="0">
              <a:buNone/>
            </a:pPr>
            <a:r>
              <a:rPr lang="en-US" sz="1300" b="1" dirty="0">
                <a:solidFill>
                  <a:srgbClr val="1E2A35"/>
                </a:solidFill>
              </a:rPr>
              <a:t>Psychological safety and supervision matter</a:t>
            </a:r>
            <a:endParaRPr lang="en-US" sz="1300" dirty="0"/>
          </a:p>
        </p:txBody>
      </p:sp>
      <p:sp>
        <p:nvSpPr>
          <p:cNvPr id="13" name="Text 11"/>
          <p:cNvSpPr/>
          <p:nvPr/>
        </p:nvSpPr>
        <p:spPr>
          <a:xfrm>
            <a:off x="7022592" y="1837944"/>
            <a:ext cx="4160520" cy="557784"/>
          </a:xfrm>
          <a:prstGeom prst="rect">
            <a:avLst/>
          </a:prstGeom>
          <a:noFill/>
          <a:ln/>
        </p:spPr>
        <p:txBody>
          <a:bodyPr wrap="square" lIns="127" tIns="127" rIns="127" bIns="127" rtlCol="0" anchor="ctr">
            <a:normAutofit/>
          </a:bodyPr>
          <a:lstStyle/>
          <a:p>
            <a:pPr marL="0" indent="0">
              <a:buNone/>
            </a:pPr>
            <a:r>
              <a:rPr lang="en-US" sz="1030" dirty="0">
                <a:solidFill>
                  <a:srgbClr val="5D6976"/>
                </a:solidFill>
              </a:rPr>
              <a:t>Psychological safety and supervision availability are among the most commonly surfaced constructs across the narrative corpus.</a:t>
            </a:r>
            <a:endParaRPr lang="en-US" sz="1030" dirty="0"/>
          </a:p>
        </p:txBody>
      </p:sp>
      <p:sp>
        <p:nvSpPr>
          <p:cNvPr id="14" name="Shape 12"/>
          <p:cNvSpPr/>
          <p:nvPr/>
        </p:nvSpPr>
        <p:spPr>
          <a:xfrm>
            <a:off x="566928" y="2834640"/>
            <a:ext cx="5303520" cy="1243584"/>
          </a:xfrm>
          <a:prstGeom prst="roundRect">
            <a:avLst>
              <a:gd name="adj" fmla="val 4412"/>
            </a:avLst>
          </a:prstGeom>
          <a:solidFill>
            <a:srgbClr val="EDF5FA"/>
          </a:solidFill>
          <a:ln w="10160">
            <a:solidFill>
              <a:srgbClr val="D7DEE6"/>
            </a:solidFill>
            <a:prstDash val="solid"/>
          </a:ln>
        </p:spPr>
        <p:txBody>
          <a:bodyPr/>
          <a:lstStyle/>
          <a:p>
            <a:endParaRPr lang="en-US"/>
          </a:p>
        </p:txBody>
      </p:sp>
      <p:sp>
        <p:nvSpPr>
          <p:cNvPr id="15" name="Shape 13"/>
          <p:cNvSpPr/>
          <p:nvPr/>
        </p:nvSpPr>
        <p:spPr>
          <a:xfrm>
            <a:off x="768096" y="3072384"/>
            <a:ext cx="512064" cy="512064"/>
          </a:xfrm>
          <a:prstGeom prst="ellipse">
            <a:avLst/>
          </a:prstGeom>
          <a:solidFill>
            <a:srgbClr val="2A6F9E"/>
          </a:solidFill>
          <a:ln w="12700">
            <a:solidFill>
              <a:srgbClr val="2A6F9E"/>
            </a:solidFill>
            <a:prstDash val="solid"/>
          </a:ln>
        </p:spPr>
        <p:txBody>
          <a:bodyPr/>
          <a:lstStyle/>
          <a:p>
            <a:endParaRPr lang="en-US"/>
          </a:p>
        </p:txBody>
      </p:sp>
      <p:sp>
        <p:nvSpPr>
          <p:cNvPr id="16" name="Text 14"/>
          <p:cNvSpPr/>
          <p:nvPr/>
        </p:nvSpPr>
        <p:spPr>
          <a:xfrm>
            <a:off x="768096" y="3163824"/>
            <a:ext cx="512064" cy="201168"/>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17" name="Text 15"/>
          <p:cNvSpPr/>
          <p:nvPr/>
        </p:nvSpPr>
        <p:spPr>
          <a:xfrm>
            <a:off x="1444752" y="3017520"/>
            <a:ext cx="4160520" cy="274320"/>
          </a:xfrm>
          <a:prstGeom prst="rect">
            <a:avLst/>
          </a:prstGeom>
          <a:noFill/>
          <a:ln/>
        </p:spPr>
        <p:txBody>
          <a:bodyPr wrap="square" lIns="0" tIns="0" rIns="0" bIns="0" rtlCol="0" anchor="ctr"/>
          <a:lstStyle/>
          <a:p>
            <a:pPr marL="0" indent="0">
              <a:buNone/>
            </a:pPr>
            <a:r>
              <a:rPr lang="en-US" sz="1300" b="1" dirty="0">
                <a:solidFill>
                  <a:srgbClr val="1E2A35"/>
                </a:solidFill>
              </a:rPr>
              <a:t>Development is broader than technical skill</a:t>
            </a:r>
            <a:endParaRPr lang="en-US" sz="1300" dirty="0"/>
          </a:p>
        </p:txBody>
      </p:sp>
      <p:sp>
        <p:nvSpPr>
          <p:cNvPr id="18" name="Text 16"/>
          <p:cNvSpPr/>
          <p:nvPr/>
        </p:nvSpPr>
        <p:spPr>
          <a:xfrm>
            <a:off x="1444752" y="3346704"/>
            <a:ext cx="4160520" cy="557784"/>
          </a:xfrm>
          <a:prstGeom prst="rect">
            <a:avLst/>
          </a:prstGeom>
          <a:noFill/>
          <a:ln/>
        </p:spPr>
        <p:txBody>
          <a:bodyPr wrap="square" lIns="127" tIns="127" rIns="127" bIns="127" rtlCol="0" anchor="ctr">
            <a:normAutofit/>
          </a:bodyPr>
          <a:lstStyle/>
          <a:p>
            <a:pPr marL="0" indent="0">
              <a:buNone/>
            </a:pPr>
            <a:r>
              <a:rPr lang="en-US" sz="1030" dirty="0">
                <a:solidFill>
                  <a:srgbClr val="5D6976"/>
                </a:solidFill>
              </a:rPr>
              <a:t>Communication/teamwork, feedback receptivity, clinical reasoning, and autonomy dominate the developmental-outcome profile.</a:t>
            </a:r>
            <a:endParaRPr lang="en-US" sz="1030" dirty="0"/>
          </a:p>
        </p:txBody>
      </p:sp>
      <p:sp>
        <p:nvSpPr>
          <p:cNvPr id="19" name="Shape 17"/>
          <p:cNvSpPr/>
          <p:nvPr/>
        </p:nvSpPr>
        <p:spPr>
          <a:xfrm>
            <a:off x="6144768" y="2834640"/>
            <a:ext cx="5303520" cy="1243584"/>
          </a:xfrm>
          <a:prstGeom prst="roundRect">
            <a:avLst>
              <a:gd name="adj" fmla="val 4412"/>
            </a:avLst>
          </a:prstGeom>
          <a:solidFill>
            <a:srgbClr val="EDF7F5"/>
          </a:solidFill>
          <a:ln w="10160">
            <a:solidFill>
              <a:srgbClr val="D7DEE6"/>
            </a:solidFill>
            <a:prstDash val="solid"/>
          </a:ln>
        </p:spPr>
        <p:txBody>
          <a:bodyPr/>
          <a:lstStyle/>
          <a:p>
            <a:endParaRPr lang="en-US"/>
          </a:p>
        </p:txBody>
      </p:sp>
      <p:sp>
        <p:nvSpPr>
          <p:cNvPr id="20" name="Shape 18"/>
          <p:cNvSpPr/>
          <p:nvPr/>
        </p:nvSpPr>
        <p:spPr>
          <a:xfrm>
            <a:off x="6345936" y="3072384"/>
            <a:ext cx="512064" cy="512064"/>
          </a:xfrm>
          <a:prstGeom prst="ellipse">
            <a:avLst/>
          </a:prstGeom>
          <a:solidFill>
            <a:srgbClr val="2B8C87"/>
          </a:solidFill>
          <a:ln w="12700">
            <a:solidFill>
              <a:srgbClr val="2B8C87"/>
            </a:solidFill>
            <a:prstDash val="solid"/>
          </a:ln>
        </p:spPr>
        <p:txBody>
          <a:bodyPr/>
          <a:lstStyle/>
          <a:p>
            <a:endParaRPr lang="en-US"/>
          </a:p>
        </p:txBody>
      </p:sp>
      <p:sp>
        <p:nvSpPr>
          <p:cNvPr id="21" name="Text 19"/>
          <p:cNvSpPr/>
          <p:nvPr/>
        </p:nvSpPr>
        <p:spPr>
          <a:xfrm>
            <a:off x="6345936" y="3163824"/>
            <a:ext cx="512064" cy="201168"/>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22" name="Text 20"/>
          <p:cNvSpPr/>
          <p:nvPr/>
        </p:nvSpPr>
        <p:spPr>
          <a:xfrm>
            <a:off x="7022592" y="3017520"/>
            <a:ext cx="4160520" cy="274320"/>
          </a:xfrm>
          <a:prstGeom prst="rect">
            <a:avLst/>
          </a:prstGeom>
          <a:noFill/>
          <a:ln/>
        </p:spPr>
        <p:txBody>
          <a:bodyPr wrap="square" lIns="0" tIns="0" rIns="0" bIns="0" rtlCol="0" anchor="ctr"/>
          <a:lstStyle/>
          <a:p>
            <a:pPr marL="0" indent="0">
              <a:buNone/>
            </a:pPr>
            <a:r>
              <a:rPr lang="en-US" sz="1300" b="1" dirty="0">
                <a:solidFill>
                  <a:srgbClr val="1E2A35"/>
                </a:solidFill>
              </a:rPr>
              <a:t>Narratives are overwhelmingly positive</a:t>
            </a:r>
            <a:endParaRPr lang="en-US" sz="1300" dirty="0"/>
          </a:p>
        </p:txBody>
      </p:sp>
      <p:sp>
        <p:nvSpPr>
          <p:cNvPr id="23" name="Text 21"/>
          <p:cNvSpPr/>
          <p:nvPr/>
        </p:nvSpPr>
        <p:spPr>
          <a:xfrm>
            <a:off x="7022592" y="3346704"/>
            <a:ext cx="4160520" cy="557784"/>
          </a:xfrm>
          <a:prstGeom prst="rect">
            <a:avLst/>
          </a:prstGeom>
          <a:noFill/>
          <a:ln/>
        </p:spPr>
        <p:txBody>
          <a:bodyPr wrap="square" lIns="127" tIns="127" rIns="127" bIns="127" rtlCol="0" anchor="ctr">
            <a:normAutofit/>
          </a:bodyPr>
          <a:lstStyle/>
          <a:p>
            <a:pPr marL="0" indent="0">
              <a:buNone/>
            </a:pPr>
            <a:r>
              <a:rPr lang="en-US" sz="1030" dirty="0">
                <a:solidFill>
                  <a:srgbClr val="5D6976"/>
                </a:solidFill>
              </a:rPr>
              <a:t>Roughly nine in ten evaluation events carry a positive performance signal, creating a strong class imbalance for concern detection.</a:t>
            </a:r>
            <a:endParaRPr lang="en-US" sz="1030" dirty="0"/>
          </a:p>
        </p:txBody>
      </p:sp>
      <p:sp>
        <p:nvSpPr>
          <p:cNvPr id="24" name="Shape 22"/>
          <p:cNvSpPr/>
          <p:nvPr/>
        </p:nvSpPr>
        <p:spPr>
          <a:xfrm>
            <a:off x="566928" y="4343400"/>
            <a:ext cx="5303520" cy="1243584"/>
          </a:xfrm>
          <a:prstGeom prst="roundRect">
            <a:avLst>
              <a:gd name="adj" fmla="val 4412"/>
            </a:avLst>
          </a:prstGeom>
          <a:solidFill>
            <a:srgbClr val="EDF5FA"/>
          </a:solidFill>
          <a:ln w="10160">
            <a:solidFill>
              <a:srgbClr val="D7DEE6"/>
            </a:solidFill>
            <a:prstDash val="solid"/>
          </a:ln>
        </p:spPr>
        <p:txBody>
          <a:bodyPr/>
          <a:lstStyle/>
          <a:p>
            <a:endParaRPr lang="en-US"/>
          </a:p>
        </p:txBody>
      </p:sp>
      <p:sp>
        <p:nvSpPr>
          <p:cNvPr id="25" name="Shape 23"/>
          <p:cNvSpPr/>
          <p:nvPr/>
        </p:nvSpPr>
        <p:spPr>
          <a:xfrm>
            <a:off x="768096" y="4581144"/>
            <a:ext cx="512064" cy="512064"/>
          </a:xfrm>
          <a:prstGeom prst="ellipse">
            <a:avLst/>
          </a:prstGeom>
          <a:solidFill>
            <a:srgbClr val="2A6F9E"/>
          </a:solidFill>
          <a:ln w="12700">
            <a:solidFill>
              <a:srgbClr val="2A6F9E"/>
            </a:solidFill>
            <a:prstDash val="solid"/>
          </a:ln>
        </p:spPr>
        <p:txBody>
          <a:bodyPr/>
          <a:lstStyle/>
          <a:p>
            <a:endParaRPr lang="en-US"/>
          </a:p>
        </p:txBody>
      </p:sp>
      <p:sp>
        <p:nvSpPr>
          <p:cNvPr id="26" name="Text 24"/>
          <p:cNvSpPr/>
          <p:nvPr/>
        </p:nvSpPr>
        <p:spPr>
          <a:xfrm>
            <a:off x="768096" y="4672584"/>
            <a:ext cx="512064" cy="201168"/>
          </a:xfrm>
          <a:prstGeom prst="rect">
            <a:avLst/>
          </a:prstGeom>
          <a:noFill/>
          <a:ln/>
        </p:spPr>
        <p:txBody>
          <a:bodyPr wrap="square" lIns="0" tIns="0" rIns="0" bIns="0" rtlCol="0" anchor="ctr"/>
          <a:lstStyle/>
          <a:p>
            <a:pPr marL="0" indent="0" algn="ctr">
              <a:buNone/>
            </a:pPr>
            <a:r>
              <a:rPr lang="en-US" sz="1100" b="1" dirty="0">
                <a:solidFill>
                  <a:srgbClr val="FFFFFF"/>
                </a:solidFill>
              </a:rPr>
              <a:t>5</a:t>
            </a:r>
            <a:endParaRPr lang="en-US" sz="1100" dirty="0"/>
          </a:p>
        </p:txBody>
      </p:sp>
      <p:sp>
        <p:nvSpPr>
          <p:cNvPr id="27" name="Text 25"/>
          <p:cNvSpPr/>
          <p:nvPr/>
        </p:nvSpPr>
        <p:spPr>
          <a:xfrm>
            <a:off x="1444752" y="4526280"/>
            <a:ext cx="4160520" cy="274320"/>
          </a:xfrm>
          <a:prstGeom prst="rect">
            <a:avLst/>
          </a:prstGeom>
          <a:noFill/>
          <a:ln/>
        </p:spPr>
        <p:txBody>
          <a:bodyPr wrap="square" lIns="0" tIns="0" rIns="0" bIns="0" rtlCol="0" anchor="ctr"/>
          <a:lstStyle/>
          <a:p>
            <a:pPr marL="0" indent="0">
              <a:buNone/>
            </a:pPr>
            <a:r>
              <a:rPr lang="en-US" sz="1300" b="1" dirty="0">
                <a:solidFill>
                  <a:srgbClr val="1E2A35"/>
                </a:solidFill>
              </a:rPr>
              <a:t>Feedback quality is moderate, not excellent</a:t>
            </a:r>
            <a:endParaRPr lang="en-US" sz="1300" dirty="0"/>
          </a:p>
        </p:txBody>
      </p:sp>
      <p:sp>
        <p:nvSpPr>
          <p:cNvPr id="28" name="Text 26"/>
          <p:cNvSpPr/>
          <p:nvPr/>
        </p:nvSpPr>
        <p:spPr>
          <a:xfrm>
            <a:off x="1444752" y="4855464"/>
            <a:ext cx="4160520" cy="557784"/>
          </a:xfrm>
          <a:prstGeom prst="rect">
            <a:avLst/>
          </a:prstGeom>
          <a:noFill/>
          <a:ln/>
        </p:spPr>
        <p:txBody>
          <a:bodyPr wrap="square" lIns="127" tIns="127" rIns="127" bIns="127" rtlCol="0" anchor="ctr">
            <a:normAutofit/>
          </a:bodyPr>
          <a:lstStyle/>
          <a:p>
            <a:pPr marL="0" indent="0">
              <a:buNone/>
            </a:pPr>
            <a:r>
              <a:rPr lang="en-US" sz="1030" dirty="0">
                <a:solidFill>
                  <a:srgbClr val="5D6976"/>
                </a:solidFill>
              </a:rPr>
              <a:t>Specificity and actionability mostly sit around 3 out of 5, leaving room for targeted improvement in feedback-writing quality.</a:t>
            </a:r>
            <a:endParaRPr lang="en-US" sz="1030" dirty="0"/>
          </a:p>
        </p:txBody>
      </p:sp>
      <p:sp>
        <p:nvSpPr>
          <p:cNvPr id="29" name="Shape 27"/>
          <p:cNvSpPr/>
          <p:nvPr/>
        </p:nvSpPr>
        <p:spPr>
          <a:xfrm>
            <a:off x="6144768" y="4343400"/>
            <a:ext cx="5303520" cy="1243584"/>
          </a:xfrm>
          <a:prstGeom prst="roundRect">
            <a:avLst>
              <a:gd name="adj" fmla="val 4412"/>
            </a:avLst>
          </a:prstGeom>
          <a:solidFill>
            <a:srgbClr val="EDF7F5"/>
          </a:solidFill>
          <a:ln w="10160">
            <a:solidFill>
              <a:srgbClr val="D7DEE6"/>
            </a:solidFill>
            <a:prstDash val="solid"/>
          </a:ln>
        </p:spPr>
        <p:txBody>
          <a:bodyPr/>
          <a:lstStyle/>
          <a:p>
            <a:endParaRPr lang="en-US"/>
          </a:p>
        </p:txBody>
      </p:sp>
      <p:sp>
        <p:nvSpPr>
          <p:cNvPr id="30" name="Shape 28"/>
          <p:cNvSpPr/>
          <p:nvPr/>
        </p:nvSpPr>
        <p:spPr>
          <a:xfrm>
            <a:off x="6345936" y="4581144"/>
            <a:ext cx="512064" cy="512064"/>
          </a:xfrm>
          <a:prstGeom prst="ellipse">
            <a:avLst/>
          </a:prstGeom>
          <a:solidFill>
            <a:srgbClr val="2B8C87"/>
          </a:solidFill>
          <a:ln w="12700">
            <a:solidFill>
              <a:srgbClr val="2B8C87"/>
            </a:solidFill>
            <a:prstDash val="solid"/>
          </a:ln>
        </p:spPr>
        <p:txBody>
          <a:bodyPr/>
          <a:lstStyle/>
          <a:p>
            <a:endParaRPr lang="en-US"/>
          </a:p>
        </p:txBody>
      </p:sp>
      <p:sp>
        <p:nvSpPr>
          <p:cNvPr id="31" name="Text 29"/>
          <p:cNvSpPr/>
          <p:nvPr/>
        </p:nvSpPr>
        <p:spPr>
          <a:xfrm>
            <a:off x="6345936" y="4672584"/>
            <a:ext cx="512064" cy="201168"/>
          </a:xfrm>
          <a:prstGeom prst="rect">
            <a:avLst/>
          </a:prstGeom>
          <a:noFill/>
          <a:ln/>
        </p:spPr>
        <p:txBody>
          <a:bodyPr wrap="square" lIns="0" tIns="0" rIns="0" bIns="0" rtlCol="0" anchor="ctr"/>
          <a:lstStyle/>
          <a:p>
            <a:pPr marL="0" indent="0" algn="ctr">
              <a:buNone/>
            </a:pPr>
            <a:r>
              <a:rPr lang="en-US" sz="1100" b="1" dirty="0">
                <a:solidFill>
                  <a:srgbClr val="FFFFFF"/>
                </a:solidFill>
              </a:rPr>
              <a:t>6</a:t>
            </a:r>
            <a:endParaRPr lang="en-US" sz="1100" dirty="0"/>
          </a:p>
        </p:txBody>
      </p:sp>
      <p:sp>
        <p:nvSpPr>
          <p:cNvPr id="32" name="Text 30"/>
          <p:cNvSpPr/>
          <p:nvPr/>
        </p:nvSpPr>
        <p:spPr>
          <a:xfrm>
            <a:off x="7022592" y="4526280"/>
            <a:ext cx="4160520" cy="274320"/>
          </a:xfrm>
          <a:prstGeom prst="rect">
            <a:avLst/>
          </a:prstGeom>
          <a:noFill/>
          <a:ln/>
        </p:spPr>
        <p:txBody>
          <a:bodyPr wrap="square" lIns="0" tIns="0" rIns="0" bIns="0" rtlCol="0" anchor="ctr"/>
          <a:lstStyle/>
          <a:p>
            <a:pPr marL="0" indent="0">
              <a:buNone/>
            </a:pPr>
            <a:r>
              <a:rPr lang="en-US" sz="1300" b="1" dirty="0">
                <a:solidFill>
                  <a:srgbClr val="1E2A35"/>
                </a:solidFill>
              </a:rPr>
              <a:t>Data-quality rules need tightening</a:t>
            </a:r>
            <a:endParaRPr lang="en-US" sz="1300" dirty="0"/>
          </a:p>
        </p:txBody>
      </p:sp>
      <p:sp>
        <p:nvSpPr>
          <p:cNvPr id="33" name="Text 31"/>
          <p:cNvSpPr/>
          <p:nvPr/>
        </p:nvSpPr>
        <p:spPr>
          <a:xfrm>
            <a:off x="7022592" y="4855464"/>
            <a:ext cx="4160520" cy="557784"/>
          </a:xfrm>
          <a:prstGeom prst="rect">
            <a:avLst/>
          </a:prstGeom>
          <a:noFill/>
          <a:ln/>
        </p:spPr>
        <p:txBody>
          <a:bodyPr wrap="square" lIns="127" tIns="127" rIns="127" bIns="127" rtlCol="0" anchor="ctr">
            <a:normAutofit/>
          </a:bodyPr>
          <a:lstStyle/>
          <a:p>
            <a:pPr marL="0" indent="0">
              <a:buNone/>
            </a:pPr>
            <a:r>
              <a:rPr lang="en-US" sz="1030" dirty="0">
                <a:solidFill>
                  <a:srgbClr val="5D6976"/>
                </a:solidFill>
              </a:rPr>
              <a:t>“No explicit feature” co-occurs with explicit categories, and taxonomy-gap outputs are dominated by missing/duplicate labels—both should be corrected before inferential use.</a:t>
            </a:r>
            <a:endParaRPr lang="en-US" sz="1030" dirty="0"/>
          </a:p>
        </p:txBody>
      </p:sp>
      <p:sp>
        <p:nvSpPr>
          <p:cNvPr id="34" name="Slide Number Placeholder 0"/>
          <p:cNvSpPr>
            <a:spLocks noGrp="1"/>
          </p:cNvSpPr>
          <p:nvPr>
            <p:ph type="sldNum" sz="quarter" idx="4294967295"/>
          </p:nvPr>
        </p:nvSpPr>
        <p:spPr>
          <a:xfrm>
            <a:off x="11823192" y="6492240"/>
            <a:ext cx="201168"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6B7785"/>
                </a:solidFill>
                <a:latin typeface="Aptos"/>
                <a:ea typeface="Aptos"/>
                <a:cs typeface="Aptos"/>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75488" y="274320"/>
            <a:ext cx="11064240" cy="365760"/>
          </a:xfrm>
          <a:prstGeom prst="rect">
            <a:avLst/>
          </a:prstGeom>
          <a:noFill/>
          <a:ln/>
        </p:spPr>
        <p:txBody>
          <a:bodyPr wrap="square" lIns="0" tIns="0" rIns="0" bIns="0" rtlCol="0" anchor="ctr"/>
          <a:lstStyle/>
          <a:p>
            <a:pPr marL="0" indent="0">
              <a:buNone/>
            </a:pPr>
            <a:r>
              <a:rPr lang="en-US" sz="2400" b="1" dirty="0">
                <a:solidFill>
                  <a:srgbClr val="1E2A35"/>
                </a:solidFill>
                <a:latin typeface="Aptos Display" pitchFamily="34" charset="0"/>
                <a:ea typeface="Aptos Display" pitchFamily="34" charset="-122"/>
                <a:cs typeface="Aptos Display" pitchFamily="34" charset="-120"/>
              </a:rPr>
              <a:t>What went into the analysis—and what came out</a:t>
            </a:r>
            <a:endParaRPr lang="en-US" sz="2400" dirty="0"/>
          </a:p>
        </p:txBody>
      </p:sp>
      <p:sp>
        <p:nvSpPr>
          <p:cNvPr id="3" name="Text 1"/>
          <p:cNvSpPr/>
          <p:nvPr/>
        </p:nvSpPr>
        <p:spPr>
          <a:xfrm>
            <a:off x="484632" y="694944"/>
            <a:ext cx="11064240" cy="320040"/>
          </a:xfrm>
          <a:prstGeom prst="rect">
            <a:avLst/>
          </a:prstGeom>
          <a:noFill/>
          <a:ln/>
        </p:spPr>
        <p:txBody>
          <a:bodyPr wrap="square" lIns="0" tIns="0" rIns="0" bIns="0" rtlCol="0" anchor="ctr"/>
          <a:lstStyle/>
          <a:p>
            <a:pPr marL="0" indent="0">
              <a:buNone/>
            </a:pPr>
            <a:r>
              <a:rPr lang="en-US" sz="1150" dirty="0">
                <a:solidFill>
                  <a:srgbClr val="5D6976"/>
                </a:solidFill>
                <a:latin typeface="Aptos" pitchFamily="34" charset="0"/>
                <a:ea typeface="Aptos" pitchFamily="34" charset="-122"/>
                <a:cs typeface="Aptos" pitchFamily="34" charset="-120"/>
              </a:rPr>
              <a:t>Unit of interpretation: evaluation events aggregated from narrative rows</a:t>
            </a:r>
            <a:endParaRPr lang="en-US" sz="1150" dirty="0"/>
          </a:p>
        </p:txBody>
      </p:sp>
      <p:sp>
        <p:nvSpPr>
          <p:cNvPr id="4" name="Shape 2"/>
          <p:cNvSpPr/>
          <p:nvPr/>
        </p:nvSpPr>
        <p:spPr>
          <a:xfrm>
            <a:off x="658368" y="1901952"/>
            <a:ext cx="2240280" cy="2240280"/>
          </a:xfrm>
          <a:prstGeom prst="roundRect">
            <a:avLst>
              <a:gd name="adj" fmla="val 3265"/>
            </a:avLst>
          </a:prstGeom>
          <a:solidFill>
            <a:srgbClr val="EDF5FA"/>
          </a:solidFill>
          <a:ln w="11430">
            <a:solidFill>
              <a:srgbClr val="D7DEE6"/>
            </a:solidFill>
            <a:prstDash val="solid"/>
          </a:ln>
        </p:spPr>
        <p:txBody>
          <a:bodyPr/>
          <a:lstStyle/>
          <a:p>
            <a:endParaRPr lang="en-US"/>
          </a:p>
        </p:txBody>
      </p:sp>
      <p:sp>
        <p:nvSpPr>
          <p:cNvPr id="5" name="Text 3"/>
          <p:cNvSpPr/>
          <p:nvPr/>
        </p:nvSpPr>
        <p:spPr>
          <a:xfrm>
            <a:off x="822960" y="2066544"/>
            <a:ext cx="1911096" cy="201168"/>
          </a:xfrm>
          <a:prstGeom prst="rect">
            <a:avLst/>
          </a:prstGeom>
          <a:noFill/>
          <a:ln/>
        </p:spPr>
        <p:txBody>
          <a:bodyPr wrap="square" lIns="0" tIns="0" rIns="0" bIns="0" rtlCol="0" anchor="ctr"/>
          <a:lstStyle/>
          <a:p>
            <a:pPr marL="0" indent="0">
              <a:buNone/>
            </a:pPr>
            <a:r>
              <a:rPr lang="en-US" sz="900" b="1" kern="0" spc="50" dirty="0">
                <a:solidFill>
                  <a:srgbClr val="2A6F9E"/>
                </a:solidFill>
              </a:rPr>
              <a:t>INPUT</a:t>
            </a:r>
            <a:endParaRPr lang="en-US" sz="900" dirty="0"/>
          </a:p>
        </p:txBody>
      </p:sp>
      <p:sp>
        <p:nvSpPr>
          <p:cNvPr id="6" name="Text 4"/>
          <p:cNvSpPr/>
          <p:nvPr/>
        </p:nvSpPr>
        <p:spPr>
          <a:xfrm>
            <a:off x="822960" y="2414016"/>
            <a:ext cx="1911096" cy="1481328"/>
          </a:xfrm>
          <a:prstGeom prst="rect">
            <a:avLst/>
          </a:prstGeom>
          <a:noFill/>
          <a:ln/>
        </p:spPr>
        <p:txBody>
          <a:bodyPr wrap="square" lIns="254" tIns="254" rIns="254" bIns="254" rtlCol="0" anchor="ctr">
            <a:normAutofit/>
          </a:bodyPr>
          <a:lstStyle/>
          <a:p>
            <a:pPr marL="0" indent="0">
              <a:buNone/>
            </a:pPr>
            <a:r>
              <a:rPr lang="en-US" sz="1120" dirty="0">
                <a:solidFill>
                  <a:srgbClr val="1E2A35"/>
                </a:solidFill>
              </a:rPr>
              <a:t>50,000 narrative rows</a:t>
            </a:r>
            <a:endParaRPr lang="en-US" sz="1120" dirty="0"/>
          </a:p>
          <a:p>
            <a:pPr marL="0" indent="0">
              <a:buNone/>
            </a:pPr>
            <a:r>
              <a:rPr lang="en-US" sz="1120" dirty="0">
                <a:solidFill>
                  <a:srgbClr val="1E2A35"/>
                </a:solidFill>
              </a:rPr>
              <a:t>Structured scores</a:t>
            </a:r>
            <a:endParaRPr lang="en-US" sz="1120" dirty="0"/>
          </a:p>
          <a:p>
            <a:pPr marL="0" indent="0">
              <a:buNone/>
            </a:pPr>
            <a:r>
              <a:rPr lang="en-US" sz="1120" dirty="0">
                <a:solidFill>
                  <a:srgbClr val="1E2A35"/>
                </a:solidFill>
              </a:rPr>
              <a:t>Year / evaluation type / evaluatee metadata</a:t>
            </a:r>
            <a:endParaRPr lang="en-US" sz="1120" dirty="0"/>
          </a:p>
        </p:txBody>
      </p:sp>
      <p:sp>
        <p:nvSpPr>
          <p:cNvPr id="7" name="Shape 5"/>
          <p:cNvSpPr/>
          <p:nvPr/>
        </p:nvSpPr>
        <p:spPr>
          <a:xfrm>
            <a:off x="3081528" y="2706624"/>
            <a:ext cx="420624" cy="621792"/>
          </a:xfrm>
          <a:prstGeom prst="chevron">
            <a:avLst/>
          </a:prstGeom>
          <a:solidFill>
            <a:srgbClr val="A8B5C1"/>
          </a:solidFill>
          <a:ln w="12700">
            <a:solidFill>
              <a:srgbClr val="A8B5C1"/>
            </a:solidFill>
            <a:prstDash val="solid"/>
          </a:ln>
        </p:spPr>
        <p:txBody>
          <a:bodyPr/>
          <a:lstStyle/>
          <a:p>
            <a:endParaRPr lang="en-US"/>
          </a:p>
        </p:txBody>
      </p:sp>
      <p:sp>
        <p:nvSpPr>
          <p:cNvPr id="8" name="Shape 6"/>
          <p:cNvSpPr/>
          <p:nvPr/>
        </p:nvSpPr>
        <p:spPr>
          <a:xfrm>
            <a:off x="3246120" y="1901952"/>
            <a:ext cx="2286000" cy="2240280"/>
          </a:xfrm>
          <a:prstGeom prst="roundRect">
            <a:avLst>
              <a:gd name="adj" fmla="val 3265"/>
            </a:avLst>
          </a:prstGeom>
          <a:solidFill>
            <a:srgbClr val="EDF7F5"/>
          </a:solidFill>
          <a:ln w="11430">
            <a:solidFill>
              <a:srgbClr val="D7DEE6"/>
            </a:solidFill>
            <a:prstDash val="solid"/>
          </a:ln>
        </p:spPr>
        <p:txBody>
          <a:bodyPr/>
          <a:lstStyle/>
          <a:p>
            <a:endParaRPr lang="en-US"/>
          </a:p>
        </p:txBody>
      </p:sp>
      <p:sp>
        <p:nvSpPr>
          <p:cNvPr id="9" name="Text 7"/>
          <p:cNvSpPr/>
          <p:nvPr/>
        </p:nvSpPr>
        <p:spPr>
          <a:xfrm>
            <a:off x="3410712" y="2066544"/>
            <a:ext cx="1956816" cy="201168"/>
          </a:xfrm>
          <a:prstGeom prst="rect">
            <a:avLst/>
          </a:prstGeom>
          <a:noFill/>
          <a:ln/>
        </p:spPr>
        <p:txBody>
          <a:bodyPr wrap="square" lIns="0" tIns="0" rIns="0" bIns="0" rtlCol="0" anchor="ctr"/>
          <a:lstStyle/>
          <a:p>
            <a:pPr marL="0" indent="0">
              <a:buNone/>
            </a:pPr>
            <a:r>
              <a:rPr lang="en-US" sz="900" b="1" kern="0" spc="50" dirty="0">
                <a:solidFill>
                  <a:srgbClr val="2B8C87"/>
                </a:solidFill>
              </a:rPr>
              <a:t>CODING</a:t>
            </a:r>
            <a:endParaRPr lang="en-US" sz="900" dirty="0"/>
          </a:p>
        </p:txBody>
      </p:sp>
      <p:sp>
        <p:nvSpPr>
          <p:cNvPr id="10" name="Text 8"/>
          <p:cNvSpPr/>
          <p:nvPr/>
        </p:nvSpPr>
        <p:spPr>
          <a:xfrm>
            <a:off x="3410712" y="2414016"/>
            <a:ext cx="1956816" cy="1481328"/>
          </a:xfrm>
          <a:prstGeom prst="rect">
            <a:avLst/>
          </a:prstGeom>
          <a:noFill/>
          <a:ln/>
        </p:spPr>
        <p:txBody>
          <a:bodyPr wrap="square" lIns="254" tIns="254" rIns="254" bIns="254" rtlCol="0" anchor="ctr">
            <a:normAutofit/>
          </a:bodyPr>
          <a:lstStyle/>
          <a:p>
            <a:pPr marL="0" indent="0">
              <a:buNone/>
            </a:pPr>
            <a:r>
              <a:rPr lang="en-US" sz="1120" dirty="0">
                <a:solidFill>
                  <a:srgbClr val="1E2A35"/>
                </a:solidFill>
              </a:rPr>
              <a:t>GPT-5 nano multi-label classification</a:t>
            </a:r>
            <a:endParaRPr lang="en-US" sz="1120" dirty="0"/>
          </a:p>
          <a:p>
            <a:pPr marL="0" indent="0">
              <a:buNone/>
            </a:pPr>
            <a:r>
              <a:rPr lang="en-US" sz="1120" dirty="0">
                <a:solidFill>
                  <a:srgbClr val="1E2A35"/>
                </a:solidFill>
              </a:rPr>
              <a:t>Environment</a:t>
            </a:r>
            <a:endParaRPr lang="en-US" sz="1120" dirty="0"/>
          </a:p>
          <a:p>
            <a:pPr marL="0" indent="0">
              <a:buNone/>
            </a:pPr>
            <a:r>
              <a:rPr lang="en-US" sz="1120" dirty="0">
                <a:solidFill>
                  <a:srgbClr val="1E2A35"/>
                </a:solidFill>
              </a:rPr>
              <a:t>Mechanism</a:t>
            </a:r>
            <a:endParaRPr lang="en-US" sz="1120" dirty="0"/>
          </a:p>
          <a:p>
            <a:pPr marL="0" indent="0">
              <a:buNone/>
            </a:pPr>
            <a:r>
              <a:rPr lang="en-US" sz="1120" dirty="0">
                <a:solidFill>
                  <a:srgbClr val="1E2A35"/>
                </a:solidFill>
              </a:rPr>
              <a:t>Development</a:t>
            </a:r>
            <a:endParaRPr lang="en-US" sz="1120" dirty="0"/>
          </a:p>
          <a:p>
            <a:pPr marL="0" indent="0">
              <a:buNone/>
            </a:pPr>
            <a:r>
              <a:rPr lang="en-US" sz="1120" dirty="0">
                <a:solidFill>
                  <a:srgbClr val="1E2A35"/>
                </a:solidFill>
              </a:rPr>
              <a:t>Performance signal</a:t>
            </a:r>
            <a:endParaRPr lang="en-US" sz="1120" dirty="0"/>
          </a:p>
          <a:p>
            <a:pPr marL="0" indent="0">
              <a:buNone/>
            </a:pPr>
            <a:r>
              <a:rPr lang="en-US" sz="1120" dirty="0">
                <a:solidFill>
                  <a:srgbClr val="1E2A35"/>
                </a:solidFill>
              </a:rPr>
              <a:t>Confidence</a:t>
            </a:r>
            <a:endParaRPr lang="en-US" sz="1120" dirty="0"/>
          </a:p>
        </p:txBody>
      </p:sp>
      <p:sp>
        <p:nvSpPr>
          <p:cNvPr id="11" name="Shape 9"/>
          <p:cNvSpPr/>
          <p:nvPr/>
        </p:nvSpPr>
        <p:spPr>
          <a:xfrm>
            <a:off x="5715000" y="2706624"/>
            <a:ext cx="420624" cy="621792"/>
          </a:xfrm>
          <a:prstGeom prst="chevron">
            <a:avLst/>
          </a:prstGeom>
          <a:solidFill>
            <a:srgbClr val="A8B5C1"/>
          </a:solidFill>
          <a:ln w="12700">
            <a:solidFill>
              <a:srgbClr val="A8B5C1"/>
            </a:solidFill>
            <a:prstDash val="solid"/>
          </a:ln>
        </p:spPr>
        <p:txBody>
          <a:bodyPr/>
          <a:lstStyle/>
          <a:p>
            <a:endParaRPr lang="en-US"/>
          </a:p>
        </p:txBody>
      </p:sp>
      <p:sp>
        <p:nvSpPr>
          <p:cNvPr id="12" name="Shape 10"/>
          <p:cNvSpPr/>
          <p:nvPr/>
        </p:nvSpPr>
        <p:spPr>
          <a:xfrm>
            <a:off x="5943600" y="1901952"/>
            <a:ext cx="2148840" cy="2240280"/>
          </a:xfrm>
          <a:prstGeom prst="roundRect">
            <a:avLst>
              <a:gd name="adj" fmla="val 3404"/>
            </a:avLst>
          </a:prstGeom>
          <a:solidFill>
            <a:srgbClr val="FBF5E9"/>
          </a:solidFill>
          <a:ln w="11430">
            <a:solidFill>
              <a:srgbClr val="D7DEE6"/>
            </a:solidFill>
            <a:prstDash val="solid"/>
          </a:ln>
        </p:spPr>
        <p:txBody>
          <a:bodyPr/>
          <a:lstStyle/>
          <a:p>
            <a:endParaRPr lang="en-US"/>
          </a:p>
        </p:txBody>
      </p:sp>
      <p:sp>
        <p:nvSpPr>
          <p:cNvPr id="13" name="Text 11"/>
          <p:cNvSpPr/>
          <p:nvPr/>
        </p:nvSpPr>
        <p:spPr>
          <a:xfrm>
            <a:off x="6108192" y="2066544"/>
            <a:ext cx="1819656" cy="201168"/>
          </a:xfrm>
          <a:prstGeom prst="rect">
            <a:avLst/>
          </a:prstGeom>
          <a:noFill/>
          <a:ln/>
        </p:spPr>
        <p:txBody>
          <a:bodyPr wrap="square" lIns="0" tIns="0" rIns="0" bIns="0" rtlCol="0" anchor="ctr"/>
          <a:lstStyle/>
          <a:p>
            <a:pPr marL="0" indent="0">
              <a:buNone/>
            </a:pPr>
            <a:r>
              <a:rPr lang="en-US" sz="900" b="1" kern="0" spc="50" dirty="0">
                <a:solidFill>
                  <a:srgbClr val="D49A35"/>
                </a:solidFill>
              </a:rPr>
              <a:t>AGGREGATION</a:t>
            </a:r>
            <a:endParaRPr lang="en-US" sz="900" dirty="0"/>
          </a:p>
        </p:txBody>
      </p:sp>
      <p:sp>
        <p:nvSpPr>
          <p:cNvPr id="14" name="Text 12"/>
          <p:cNvSpPr/>
          <p:nvPr/>
        </p:nvSpPr>
        <p:spPr>
          <a:xfrm>
            <a:off x="6108192" y="2414016"/>
            <a:ext cx="1819656" cy="1481328"/>
          </a:xfrm>
          <a:prstGeom prst="rect">
            <a:avLst/>
          </a:prstGeom>
          <a:noFill/>
          <a:ln/>
        </p:spPr>
        <p:txBody>
          <a:bodyPr wrap="square" lIns="254" tIns="254" rIns="254" bIns="254" rtlCol="0" anchor="ctr">
            <a:normAutofit/>
          </a:bodyPr>
          <a:lstStyle/>
          <a:p>
            <a:pPr marL="0" indent="0">
              <a:buNone/>
            </a:pPr>
            <a:r>
              <a:rPr lang="en-US" sz="1120" dirty="0">
                <a:solidFill>
                  <a:srgbClr val="1E2A35"/>
                </a:solidFill>
              </a:rPr>
              <a:t>Rows consolidated into 1,727 evaluation events</a:t>
            </a:r>
            <a:endParaRPr lang="en-US" sz="1120" dirty="0"/>
          </a:p>
          <a:p>
            <a:pPr marL="0" indent="0">
              <a:buNone/>
            </a:pPr>
            <a:r>
              <a:rPr lang="en-US" sz="1120" dirty="0">
                <a:solidFill>
                  <a:srgbClr val="1E2A35"/>
                </a:solidFill>
              </a:rPr>
              <a:t>Event-level prevalence and co-occurrence</a:t>
            </a:r>
            <a:endParaRPr lang="en-US" sz="1120" dirty="0"/>
          </a:p>
        </p:txBody>
      </p:sp>
      <p:sp>
        <p:nvSpPr>
          <p:cNvPr id="15" name="Shape 13"/>
          <p:cNvSpPr/>
          <p:nvPr/>
        </p:nvSpPr>
        <p:spPr>
          <a:xfrm>
            <a:off x="8275320" y="2706624"/>
            <a:ext cx="420624" cy="621792"/>
          </a:xfrm>
          <a:prstGeom prst="chevron">
            <a:avLst/>
          </a:prstGeom>
          <a:solidFill>
            <a:srgbClr val="A8B5C1"/>
          </a:solidFill>
          <a:ln w="12700">
            <a:solidFill>
              <a:srgbClr val="A8B5C1"/>
            </a:solidFill>
            <a:prstDash val="solid"/>
          </a:ln>
        </p:spPr>
        <p:txBody>
          <a:bodyPr/>
          <a:lstStyle/>
          <a:p>
            <a:endParaRPr lang="en-US"/>
          </a:p>
        </p:txBody>
      </p:sp>
      <p:sp>
        <p:nvSpPr>
          <p:cNvPr id="16" name="Shape 14"/>
          <p:cNvSpPr/>
          <p:nvPr/>
        </p:nvSpPr>
        <p:spPr>
          <a:xfrm>
            <a:off x="8503920" y="1901952"/>
            <a:ext cx="2834640" cy="2240280"/>
          </a:xfrm>
          <a:prstGeom prst="roundRect">
            <a:avLst>
              <a:gd name="adj" fmla="val 3265"/>
            </a:avLst>
          </a:prstGeom>
          <a:solidFill>
            <a:srgbClr val="F4F2F8"/>
          </a:solidFill>
          <a:ln w="11430">
            <a:solidFill>
              <a:srgbClr val="D7DEE6"/>
            </a:solidFill>
            <a:prstDash val="solid"/>
          </a:ln>
        </p:spPr>
        <p:txBody>
          <a:bodyPr/>
          <a:lstStyle/>
          <a:p>
            <a:endParaRPr lang="en-US"/>
          </a:p>
        </p:txBody>
      </p:sp>
      <p:sp>
        <p:nvSpPr>
          <p:cNvPr id="17" name="Text 15"/>
          <p:cNvSpPr/>
          <p:nvPr/>
        </p:nvSpPr>
        <p:spPr>
          <a:xfrm>
            <a:off x="8668512" y="2066544"/>
            <a:ext cx="2505456" cy="201168"/>
          </a:xfrm>
          <a:prstGeom prst="rect">
            <a:avLst/>
          </a:prstGeom>
          <a:noFill/>
          <a:ln/>
        </p:spPr>
        <p:txBody>
          <a:bodyPr wrap="square" lIns="0" tIns="0" rIns="0" bIns="0" rtlCol="0" anchor="ctr"/>
          <a:lstStyle/>
          <a:p>
            <a:pPr marL="0" indent="0">
              <a:buNone/>
            </a:pPr>
            <a:r>
              <a:rPr lang="en-US" sz="900" b="1" kern="0" spc="50" dirty="0">
                <a:solidFill>
                  <a:srgbClr val="7A5FA3"/>
                </a:solidFill>
              </a:rPr>
              <a:t>OUTPUTS</a:t>
            </a:r>
            <a:endParaRPr lang="en-US" sz="900" dirty="0"/>
          </a:p>
        </p:txBody>
      </p:sp>
      <p:sp>
        <p:nvSpPr>
          <p:cNvPr id="18" name="Text 16"/>
          <p:cNvSpPr/>
          <p:nvPr/>
        </p:nvSpPr>
        <p:spPr>
          <a:xfrm>
            <a:off x="8668512" y="2414016"/>
            <a:ext cx="2505456" cy="1481328"/>
          </a:xfrm>
          <a:prstGeom prst="rect">
            <a:avLst/>
          </a:prstGeom>
          <a:noFill/>
          <a:ln/>
        </p:spPr>
        <p:txBody>
          <a:bodyPr wrap="square" lIns="254" tIns="254" rIns="254" bIns="254" rtlCol="0" anchor="ctr">
            <a:normAutofit/>
          </a:bodyPr>
          <a:lstStyle/>
          <a:p>
            <a:pPr marL="0" indent="0">
              <a:buNone/>
            </a:pPr>
            <a:r>
              <a:rPr lang="en-US" sz="1120" dirty="0">
                <a:solidFill>
                  <a:srgbClr val="1E2A35"/>
                </a:solidFill>
              </a:rPr>
              <a:t>Prevalence</a:t>
            </a:r>
            <a:endParaRPr lang="en-US" sz="1120" dirty="0"/>
          </a:p>
          <a:p>
            <a:pPr marL="0" indent="0">
              <a:buNone/>
            </a:pPr>
            <a:r>
              <a:rPr lang="en-US" sz="1120" dirty="0">
                <a:solidFill>
                  <a:srgbClr val="1E2A35"/>
                </a:solidFill>
              </a:rPr>
              <a:t>Score associations</a:t>
            </a:r>
            <a:endParaRPr lang="en-US" sz="1120" dirty="0"/>
          </a:p>
          <a:p>
            <a:pPr marL="0" indent="0">
              <a:buNone/>
            </a:pPr>
            <a:r>
              <a:rPr lang="en-US" sz="1120" dirty="0">
                <a:solidFill>
                  <a:srgbClr val="1E2A35"/>
                </a:solidFill>
              </a:rPr>
              <a:t>Co-occurrence</a:t>
            </a:r>
            <a:endParaRPr lang="en-US" sz="1120" dirty="0"/>
          </a:p>
          <a:p>
            <a:pPr marL="0" indent="0">
              <a:buNone/>
            </a:pPr>
            <a:r>
              <a:rPr lang="en-US" sz="1120" dirty="0">
                <a:solidFill>
                  <a:srgbClr val="1E2A35"/>
                </a:solidFill>
              </a:rPr>
              <a:t>Feedback quality</a:t>
            </a:r>
            <a:endParaRPr lang="en-US" sz="1120" dirty="0"/>
          </a:p>
          <a:p>
            <a:pPr marL="0" indent="0">
              <a:buNone/>
            </a:pPr>
            <a:r>
              <a:rPr lang="en-US" sz="1120" dirty="0">
                <a:solidFill>
                  <a:srgbClr val="1E2A35"/>
                </a:solidFill>
              </a:rPr>
              <a:t>Time trends</a:t>
            </a:r>
            <a:endParaRPr lang="en-US" sz="1120" dirty="0"/>
          </a:p>
          <a:p>
            <a:pPr marL="0" indent="0">
              <a:buNone/>
            </a:pPr>
            <a:r>
              <a:rPr lang="en-US" sz="1120" dirty="0">
                <a:solidFill>
                  <a:srgbClr val="1E2A35"/>
                </a:solidFill>
              </a:rPr>
              <a:t>Repeated-score change</a:t>
            </a:r>
            <a:endParaRPr lang="en-US" sz="1120" dirty="0"/>
          </a:p>
          <a:p>
            <a:pPr marL="0" indent="0">
              <a:buNone/>
            </a:pPr>
            <a:r>
              <a:rPr lang="en-US" sz="1120" dirty="0">
                <a:solidFill>
                  <a:srgbClr val="1E2A35"/>
                </a:solidFill>
              </a:rPr>
              <a:t>Taxonomy gaps</a:t>
            </a:r>
            <a:endParaRPr lang="en-US" sz="1120" dirty="0"/>
          </a:p>
        </p:txBody>
      </p:sp>
      <p:sp>
        <p:nvSpPr>
          <p:cNvPr id="19" name="Shape 17"/>
          <p:cNvSpPr/>
          <p:nvPr/>
        </p:nvSpPr>
        <p:spPr>
          <a:xfrm>
            <a:off x="658368" y="4617720"/>
            <a:ext cx="3383280" cy="1005840"/>
          </a:xfrm>
          <a:prstGeom prst="roundRect">
            <a:avLst>
              <a:gd name="adj" fmla="val 6364"/>
            </a:avLst>
          </a:prstGeom>
          <a:solidFill>
            <a:srgbClr val="F4F7F9"/>
          </a:solidFill>
          <a:ln w="10160">
            <a:solidFill>
              <a:srgbClr val="D7DEE6"/>
            </a:solidFill>
            <a:prstDash val="solid"/>
          </a:ln>
        </p:spPr>
        <p:txBody>
          <a:bodyPr/>
          <a:lstStyle/>
          <a:p>
            <a:endParaRPr lang="en-US"/>
          </a:p>
        </p:txBody>
      </p:sp>
      <p:sp>
        <p:nvSpPr>
          <p:cNvPr id="20" name="Shape 18"/>
          <p:cNvSpPr/>
          <p:nvPr/>
        </p:nvSpPr>
        <p:spPr>
          <a:xfrm>
            <a:off x="658368" y="4617720"/>
            <a:ext cx="64008" cy="1005840"/>
          </a:xfrm>
          <a:prstGeom prst="rect">
            <a:avLst/>
          </a:prstGeom>
          <a:solidFill>
            <a:srgbClr val="2A6F9E"/>
          </a:solidFill>
          <a:ln w="12700">
            <a:solidFill>
              <a:srgbClr val="2A6F9E"/>
            </a:solidFill>
            <a:prstDash val="solid"/>
          </a:ln>
        </p:spPr>
        <p:txBody>
          <a:bodyPr/>
          <a:lstStyle/>
          <a:p>
            <a:endParaRPr lang="en-US"/>
          </a:p>
        </p:txBody>
      </p:sp>
      <p:sp>
        <p:nvSpPr>
          <p:cNvPr id="21" name="Text 19"/>
          <p:cNvSpPr/>
          <p:nvPr/>
        </p:nvSpPr>
        <p:spPr>
          <a:xfrm>
            <a:off x="822960" y="4718304"/>
            <a:ext cx="3108960" cy="182880"/>
          </a:xfrm>
          <a:prstGeom prst="rect">
            <a:avLst/>
          </a:prstGeom>
          <a:noFill/>
          <a:ln/>
        </p:spPr>
        <p:txBody>
          <a:bodyPr wrap="square" lIns="0" tIns="0" rIns="0" bIns="0" rtlCol="0" anchor="ctr"/>
          <a:lstStyle/>
          <a:p>
            <a:pPr marL="0" indent="0">
              <a:buNone/>
            </a:pPr>
            <a:r>
              <a:rPr lang="en-US" sz="850" b="1" kern="0" spc="40" dirty="0">
                <a:solidFill>
                  <a:srgbClr val="2A6F9E"/>
                </a:solidFill>
                <a:latin typeface="Aptos" pitchFamily="34" charset="0"/>
                <a:ea typeface="Aptos" pitchFamily="34" charset="-122"/>
                <a:cs typeface="Aptos" pitchFamily="34" charset="-120"/>
              </a:rPr>
              <a:t>IMPORTANT READING RULE</a:t>
            </a:r>
            <a:endParaRPr lang="en-US" sz="850" dirty="0"/>
          </a:p>
        </p:txBody>
      </p:sp>
      <p:sp>
        <p:nvSpPr>
          <p:cNvPr id="22" name="Text 20"/>
          <p:cNvSpPr/>
          <p:nvPr/>
        </p:nvSpPr>
        <p:spPr>
          <a:xfrm>
            <a:off x="822960" y="4919472"/>
            <a:ext cx="3108960" cy="621792"/>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These are multi-label outputs. One evaluation event can contain several categories, so percentages can sum to more than 100%.</a:t>
            </a:r>
            <a:endParaRPr lang="en-US" sz="1030" dirty="0"/>
          </a:p>
        </p:txBody>
      </p:sp>
      <p:sp>
        <p:nvSpPr>
          <p:cNvPr id="23" name="Shape 21"/>
          <p:cNvSpPr/>
          <p:nvPr/>
        </p:nvSpPr>
        <p:spPr>
          <a:xfrm>
            <a:off x="4297680" y="4617720"/>
            <a:ext cx="3383280" cy="1005840"/>
          </a:xfrm>
          <a:prstGeom prst="roundRect">
            <a:avLst>
              <a:gd name="adj" fmla="val 6364"/>
            </a:avLst>
          </a:prstGeom>
          <a:solidFill>
            <a:srgbClr val="F4F7F9"/>
          </a:solidFill>
          <a:ln w="10160">
            <a:solidFill>
              <a:srgbClr val="D7DEE6"/>
            </a:solidFill>
            <a:prstDash val="solid"/>
          </a:ln>
        </p:spPr>
        <p:txBody>
          <a:bodyPr/>
          <a:lstStyle/>
          <a:p>
            <a:endParaRPr lang="en-US"/>
          </a:p>
        </p:txBody>
      </p:sp>
      <p:sp>
        <p:nvSpPr>
          <p:cNvPr id="24" name="Shape 22"/>
          <p:cNvSpPr/>
          <p:nvPr/>
        </p:nvSpPr>
        <p:spPr>
          <a:xfrm>
            <a:off x="4297680" y="4617720"/>
            <a:ext cx="64008" cy="1005840"/>
          </a:xfrm>
          <a:prstGeom prst="rect">
            <a:avLst/>
          </a:prstGeom>
          <a:solidFill>
            <a:srgbClr val="D49A35"/>
          </a:solidFill>
          <a:ln w="12700">
            <a:solidFill>
              <a:srgbClr val="D49A35"/>
            </a:solidFill>
            <a:prstDash val="solid"/>
          </a:ln>
        </p:spPr>
        <p:txBody>
          <a:bodyPr/>
          <a:lstStyle/>
          <a:p>
            <a:endParaRPr lang="en-US"/>
          </a:p>
        </p:txBody>
      </p:sp>
      <p:sp>
        <p:nvSpPr>
          <p:cNvPr id="25" name="Text 23"/>
          <p:cNvSpPr/>
          <p:nvPr/>
        </p:nvSpPr>
        <p:spPr>
          <a:xfrm>
            <a:off x="4462272" y="4718304"/>
            <a:ext cx="3108960" cy="182880"/>
          </a:xfrm>
          <a:prstGeom prst="rect">
            <a:avLst/>
          </a:prstGeom>
          <a:noFill/>
          <a:ln/>
        </p:spPr>
        <p:txBody>
          <a:bodyPr wrap="square" lIns="0" tIns="0" rIns="0" bIns="0" rtlCol="0" anchor="ctr"/>
          <a:lstStyle/>
          <a:p>
            <a:pPr marL="0" indent="0">
              <a:buNone/>
            </a:pPr>
            <a:r>
              <a:rPr lang="en-US" sz="850" b="1" kern="0" spc="40" dirty="0">
                <a:solidFill>
                  <a:srgbClr val="D49A35"/>
                </a:solidFill>
                <a:latin typeface="Aptos" pitchFamily="34" charset="0"/>
                <a:ea typeface="Aptos" pitchFamily="34" charset="-122"/>
                <a:cs typeface="Aptos" pitchFamily="34" charset="-120"/>
              </a:rPr>
              <a:t>ASSOCIATION ≠ CAUSATION</a:t>
            </a:r>
            <a:endParaRPr lang="en-US" sz="850" dirty="0"/>
          </a:p>
        </p:txBody>
      </p:sp>
      <p:sp>
        <p:nvSpPr>
          <p:cNvPr id="26" name="Text 24"/>
          <p:cNvSpPr/>
          <p:nvPr/>
        </p:nvSpPr>
        <p:spPr>
          <a:xfrm>
            <a:off x="4462272" y="4919472"/>
            <a:ext cx="3108960" cy="621792"/>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Odds ratios describe whether a coded category is more common in high- versus low-score evaluations. They do not show that the category caused the score.</a:t>
            </a:r>
            <a:endParaRPr lang="en-US" sz="1030" dirty="0"/>
          </a:p>
        </p:txBody>
      </p:sp>
      <p:sp>
        <p:nvSpPr>
          <p:cNvPr id="27" name="Shape 25"/>
          <p:cNvSpPr/>
          <p:nvPr/>
        </p:nvSpPr>
        <p:spPr>
          <a:xfrm>
            <a:off x="7936992" y="4617720"/>
            <a:ext cx="3383280" cy="1005840"/>
          </a:xfrm>
          <a:prstGeom prst="roundRect">
            <a:avLst>
              <a:gd name="adj" fmla="val 6364"/>
            </a:avLst>
          </a:prstGeom>
          <a:solidFill>
            <a:srgbClr val="F4F7F9"/>
          </a:solidFill>
          <a:ln w="10160">
            <a:solidFill>
              <a:srgbClr val="D7DEE6"/>
            </a:solidFill>
            <a:prstDash val="solid"/>
          </a:ln>
        </p:spPr>
        <p:txBody>
          <a:bodyPr/>
          <a:lstStyle/>
          <a:p>
            <a:endParaRPr lang="en-US"/>
          </a:p>
        </p:txBody>
      </p:sp>
      <p:sp>
        <p:nvSpPr>
          <p:cNvPr id="28" name="Shape 26"/>
          <p:cNvSpPr/>
          <p:nvPr/>
        </p:nvSpPr>
        <p:spPr>
          <a:xfrm>
            <a:off x="7936992" y="4617720"/>
            <a:ext cx="64008" cy="1005840"/>
          </a:xfrm>
          <a:prstGeom prst="rect">
            <a:avLst/>
          </a:prstGeom>
          <a:solidFill>
            <a:srgbClr val="B64A4A"/>
          </a:solidFill>
          <a:ln w="12700">
            <a:solidFill>
              <a:srgbClr val="B64A4A"/>
            </a:solidFill>
            <a:prstDash val="solid"/>
          </a:ln>
        </p:spPr>
        <p:txBody>
          <a:bodyPr/>
          <a:lstStyle/>
          <a:p>
            <a:endParaRPr lang="en-US"/>
          </a:p>
        </p:txBody>
      </p:sp>
      <p:sp>
        <p:nvSpPr>
          <p:cNvPr id="29" name="Text 27"/>
          <p:cNvSpPr/>
          <p:nvPr/>
        </p:nvSpPr>
        <p:spPr>
          <a:xfrm>
            <a:off x="8101584" y="4718304"/>
            <a:ext cx="3108960" cy="182880"/>
          </a:xfrm>
          <a:prstGeom prst="rect">
            <a:avLst/>
          </a:prstGeom>
          <a:noFill/>
          <a:ln/>
        </p:spPr>
        <p:txBody>
          <a:bodyPr wrap="square" lIns="0" tIns="0" rIns="0" bIns="0" rtlCol="0" anchor="ctr"/>
          <a:lstStyle/>
          <a:p>
            <a:pPr marL="0" indent="0">
              <a:buNone/>
            </a:pPr>
            <a:r>
              <a:rPr lang="en-US" sz="850" b="1" kern="0" spc="40" dirty="0">
                <a:solidFill>
                  <a:srgbClr val="B64A4A"/>
                </a:solidFill>
                <a:latin typeface="Aptos" pitchFamily="34" charset="0"/>
                <a:ea typeface="Aptos" pitchFamily="34" charset="-122"/>
                <a:cs typeface="Aptos" pitchFamily="34" charset="-120"/>
              </a:rPr>
              <a:t>QUALITY FLAG</a:t>
            </a:r>
            <a:endParaRPr lang="en-US" sz="850" dirty="0"/>
          </a:p>
        </p:txBody>
      </p:sp>
      <p:sp>
        <p:nvSpPr>
          <p:cNvPr id="30" name="Text 28"/>
          <p:cNvSpPr/>
          <p:nvPr/>
        </p:nvSpPr>
        <p:spPr>
          <a:xfrm>
            <a:off x="8101584" y="4919472"/>
            <a:ext cx="3108960" cy="621792"/>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“No explicit feature” should normally be mutually exclusive with explicit environment labels. Its high co-occurrence indicates a coding-rule issue to fix.</a:t>
            </a:r>
            <a:endParaRPr lang="en-US" sz="1030" dirty="0"/>
          </a:p>
        </p:txBody>
      </p:sp>
      <p:sp>
        <p:nvSpPr>
          <p:cNvPr id="31" name="Slide Number Placeholder 0"/>
          <p:cNvSpPr>
            <a:spLocks noGrp="1"/>
          </p:cNvSpPr>
          <p:nvPr>
            <p:ph type="sldNum" sz="quarter" idx="4294967295"/>
          </p:nvPr>
        </p:nvSpPr>
        <p:spPr>
          <a:xfrm>
            <a:off x="11823192" y="6492240"/>
            <a:ext cx="201168"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6B7785"/>
                </a:solidFill>
                <a:latin typeface="Aptos"/>
                <a:ea typeface="Aptos"/>
                <a:cs typeface="Aptos"/>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75488" y="274320"/>
            <a:ext cx="11064240" cy="365760"/>
          </a:xfrm>
          <a:prstGeom prst="rect">
            <a:avLst/>
          </a:prstGeom>
          <a:noFill/>
          <a:ln/>
        </p:spPr>
        <p:txBody>
          <a:bodyPr wrap="square" lIns="0" tIns="0" rIns="0" bIns="0" rtlCol="0" anchor="ctr"/>
          <a:lstStyle/>
          <a:p>
            <a:pPr marL="0" indent="0">
              <a:buNone/>
            </a:pPr>
            <a:r>
              <a:rPr lang="en-US" sz="2400" b="1" dirty="0">
                <a:solidFill>
                  <a:srgbClr val="1E2A35"/>
                </a:solidFill>
                <a:latin typeface="Aptos Display" pitchFamily="34" charset="0"/>
                <a:ea typeface="Aptos Display" pitchFamily="34" charset="-122"/>
                <a:cs typeface="Aptos Display" pitchFamily="34" charset="-120"/>
              </a:rPr>
              <a:t>Learning-environment prevalence</a:t>
            </a:r>
            <a:endParaRPr lang="en-US" sz="2400" dirty="0"/>
          </a:p>
        </p:txBody>
      </p:sp>
      <p:sp>
        <p:nvSpPr>
          <p:cNvPr id="3" name="Text 1"/>
          <p:cNvSpPr/>
          <p:nvPr/>
        </p:nvSpPr>
        <p:spPr>
          <a:xfrm>
            <a:off x="484632" y="694944"/>
            <a:ext cx="11064240" cy="320040"/>
          </a:xfrm>
          <a:prstGeom prst="rect">
            <a:avLst/>
          </a:prstGeom>
          <a:noFill/>
          <a:ln/>
        </p:spPr>
        <p:txBody>
          <a:bodyPr wrap="square" lIns="0" tIns="0" rIns="0" bIns="0" rtlCol="0" anchor="ctr"/>
          <a:lstStyle/>
          <a:p>
            <a:pPr marL="0" indent="0">
              <a:buNone/>
            </a:pPr>
            <a:r>
              <a:rPr lang="en-US" sz="1150" dirty="0">
                <a:solidFill>
                  <a:srgbClr val="5D6976"/>
                </a:solidFill>
                <a:latin typeface="Aptos" pitchFamily="34" charset="0"/>
                <a:ea typeface="Aptos" pitchFamily="34" charset="-122"/>
                <a:cs typeface="Aptos" pitchFamily="34" charset="-120"/>
              </a:rPr>
              <a:t>What features of the learning environment are most often present in evaluation narratives?</a:t>
            </a:r>
            <a:endParaRPr lang="en-US" sz="1150" dirty="0"/>
          </a:p>
        </p:txBody>
      </p:sp>
      <p:sp>
        <p:nvSpPr>
          <p:cNvPr id="4" name="Shape 2"/>
          <p:cNvSpPr/>
          <p:nvPr/>
        </p:nvSpPr>
        <p:spPr>
          <a:xfrm>
            <a:off x="475488" y="1005840"/>
            <a:ext cx="11247120" cy="530352"/>
          </a:xfrm>
          <a:prstGeom prst="roundRect">
            <a:avLst>
              <a:gd name="adj" fmla="val 13793"/>
            </a:avLst>
          </a:prstGeom>
          <a:solidFill>
            <a:srgbClr val="EDF5FA"/>
          </a:solidFill>
          <a:ln w="10160">
            <a:solidFill>
              <a:srgbClr val="D7E6EF"/>
            </a:solidFill>
            <a:prstDash val="solid"/>
          </a:ln>
        </p:spPr>
        <p:txBody>
          <a:bodyPr/>
          <a:lstStyle/>
          <a:p>
            <a:endParaRPr lang="en-US"/>
          </a:p>
        </p:txBody>
      </p:sp>
      <p:sp>
        <p:nvSpPr>
          <p:cNvPr id="5" name="Text 3"/>
          <p:cNvSpPr/>
          <p:nvPr/>
        </p:nvSpPr>
        <p:spPr>
          <a:xfrm>
            <a:off x="658368" y="1152144"/>
            <a:ext cx="10881360" cy="237744"/>
          </a:xfrm>
          <a:prstGeom prst="rect">
            <a:avLst/>
          </a:prstGeom>
          <a:noFill/>
          <a:ln/>
        </p:spPr>
        <p:txBody>
          <a:bodyPr wrap="square" lIns="0" tIns="0" rIns="0" bIns="0" rtlCol="0" anchor="ctr"/>
          <a:lstStyle/>
          <a:p>
            <a:pPr marL="0" indent="0">
              <a:buNone/>
            </a:pPr>
            <a:r>
              <a:rPr lang="en-US" sz="1150" b="1" dirty="0">
                <a:solidFill>
                  <a:srgbClr val="163A5F"/>
                </a:solidFill>
                <a:latin typeface="Aptos" pitchFamily="34" charset="0"/>
                <a:ea typeface="Aptos" pitchFamily="34" charset="-122"/>
                <a:cs typeface="Aptos" pitchFamily="34" charset="-120"/>
              </a:rPr>
              <a:t>Key message: </a:t>
            </a:r>
            <a:r>
              <a:rPr lang="en-US" sz="1150" dirty="0">
                <a:solidFill>
                  <a:srgbClr val="1E2A35"/>
                </a:solidFill>
                <a:latin typeface="Aptos" pitchFamily="34" charset="0"/>
                <a:ea typeface="Aptos" pitchFamily="34" charset="-122"/>
                <a:cs typeface="Aptos" pitchFamily="34" charset="-120"/>
              </a:rPr>
              <a:t>Faculty teaching/feedback/mentorship is nearly universal, while psychological safety, teaching infrastructure, workload, wellbeing, supervision, and assessment also appear frequently.</a:t>
            </a:r>
            <a:endParaRPr lang="en-US" sz="1150" dirty="0"/>
          </a:p>
        </p:txBody>
      </p:sp>
      <p:sp>
        <p:nvSpPr>
          <p:cNvPr id="6" name="Shape 4"/>
          <p:cNvSpPr/>
          <p:nvPr/>
        </p:nvSpPr>
        <p:spPr>
          <a:xfrm>
            <a:off x="475488"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7" name="Shape 5"/>
          <p:cNvSpPr/>
          <p:nvPr/>
        </p:nvSpPr>
        <p:spPr>
          <a:xfrm>
            <a:off x="475488" y="1682496"/>
            <a:ext cx="64008" cy="850392"/>
          </a:xfrm>
          <a:prstGeom prst="rect">
            <a:avLst/>
          </a:prstGeom>
          <a:solidFill>
            <a:srgbClr val="2A6F9E"/>
          </a:solidFill>
          <a:ln w="12700">
            <a:solidFill>
              <a:srgbClr val="2A6F9E"/>
            </a:solidFill>
            <a:prstDash val="solid"/>
          </a:ln>
        </p:spPr>
        <p:txBody>
          <a:bodyPr/>
          <a:lstStyle/>
          <a:p>
            <a:endParaRPr lang="en-US"/>
          </a:p>
        </p:txBody>
      </p:sp>
      <p:sp>
        <p:nvSpPr>
          <p:cNvPr id="8" name="Text 6"/>
          <p:cNvSpPr/>
          <p:nvPr/>
        </p:nvSpPr>
        <p:spPr>
          <a:xfrm>
            <a:off x="640080" y="1783080"/>
            <a:ext cx="3401568" cy="182880"/>
          </a:xfrm>
          <a:prstGeom prst="rect">
            <a:avLst/>
          </a:prstGeom>
          <a:noFill/>
          <a:ln/>
        </p:spPr>
        <p:txBody>
          <a:bodyPr wrap="square" lIns="0" tIns="0" rIns="0" bIns="0" rtlCol="0" anchor="ctr"/>
          <a:lstStyle/>
          <a:p>
            <a:pPr marL="0" indent="0">
              <a:buNone/>
            </a:pPr>
            <a:r>
              <a:rPr lang="en-US" sz="850" b="1" kern="0" spc="40" dirty="0">
                <a:solidFill>
                  <a:srgbClr val="2A6F9E"/>
                </a:solidFill>
                <a:latin typeface="Aptos" pitchFamily="34" charset="0"/>
                <a:ea typeface="Aptos" pitchFamily="34" charset="-122"/>
                <a:cs typeface="Aptos" pitchFamily="34" charset="-120"/>
              </a:rPr>
              <a:t>INPUT</a:t>
            </a:r>
            <a:endParaRPr lang="en-US" sz="850" dirty="0"/>
          </a:p>
        </p:txBody>
      </p:sp>
      <p:sp>
        <p:nvSpPr>
          <p:cNvPr id="9" name="Text 7"/>
          <p:cNvSpPr/>
          <p:nvPr/>
        </p:nvSpPr>
        <p:spPr>
          <a:xfrm>
            <a:off x="640080"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All evaluation events with coded learning-environment labels.</a:t>
            </a:r>
            <a:endParaRPr lang="en-US" sz="1030" dirty="0"/>
          </a:p>
        </p:txBody>
      </p:sp>
      <p:sp>
        <p:nvSpPr>
          <p:cNvPr id="10" name="Shape 8"/>
          <p:cNvSpPr/>
          <p:nvPr/>
        </p:nvSpPr>
        <p:spPr>
          <a:xfrm>
            <a:off x="4261104"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11" name="Shape 9"/>
          <p:cNvSpPr/>
          <p:nvPr/>
        </p:nvSpPr>
        <p:spPr>
          <a:xfrm>
            <a:off x="4261104" y="1682496"/>
            <a:ext cx="64008" cy="850392"/>
          </a:xfrm>
          <a:prstGeom prst="rect">
            <a:avLst/>
          </a:prstGeom>
          <a:solidFill>
            <a:srgbClr val="2B8C87"/>
          </a:solidFill>
          <a:ln w="12700">
            <a:solidFill>
              <a:srgbClr val="2B8C87"/>
            </a:solidFill>
            <a:prstDash val="solid"/>
          </a:ln>
        </p:spPr>
        <p:txBody>
          <a:bodyPr/>
          <a:lstStyle/>
          <a:p>
            <a:endParaRPr lang="en-US"/>
          </a:p>
        </p:txBody>
      </p:sp>
      <p:sp>
        <p:nvSpPr>
          <p:cNvPr id="12" name="Text 10"/>
          <p:cNvSpPr/>
          <p:nvPr/>
        </p:nvSpPr>
        <p:spPr>
          <a:xfrm>
            <a:off x="4425696" y="1783080"/>
            <a:ext cx="3401568" cy="182880"/>
          </a:xfrm>
          <a:prstGeom prst="rect">
            <a:avLst/>
          </a:prstGeom>
          <a:noFill/>
          <a:ln/>
        </p:spPr>
        <p:txBody>
          <a:bodyPr wrap="square" lIns="0" tIns="0" rIns="0" bIns="0" rtlCol="0" anchor="ctr"/>
          <a:lstStyle/>
          <a:p>
            <a:pPr marL="0" indent="0">
              <a:buNone/>
            </a:pPr>
            <a:r>
              <a:rPr lang="en-US" sz="850" b="1" kern="0" spc="40" dirty="0">
                <a:solidFill>
                  <a:srgbClr val="2B8C87"/>
                </a:solidFill>
                <a:latin typeface="Aptos" pitchFamily="34" charset="0"/>
                <a:ea typeface="Aptos" pitchFamily="34" charset="-122"/>
                <a:cs typeface="Aptos" pitchFamily="34" charset="-120"/>
              </a:rPr>
              <a:t>OUTPUT</a:t>
            </a:r>
            <a:endParaRPr lang="en-US" sz="850" dirty="0"/>
          </a:p>
        </p:txBody>
      </p:sp>
      <p:sp>
        <p:nvSpPr>
          <p:cNvPr id="13" name="Text 11"/>
          <p:cNvSpPr/>
          <p:nvPr/>
        </p:nvSpPr>
        <p:spPr>
          <a:xfrm>
            <a:off x="4425696"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Percent of evaluation events containing each environment category.</a:t>
            </a:r>
            <a:endParaRPr lang="en-US" sz="1030" dirty="0"/>
          </a:p>
        </p:txBody>
      </p:sp>
      <p:sp>
        <p:nvSpPr>
          <p:cNvPr id="14" name="Shape 12"/>
          <p:cNvSpPr/>
          <p:nvPr/>
        </p:nvSpPr>
        <p:spPr>
          <a:xfrm>
            <a:off x="8046720"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15" name="Shape 13"/>
          <p:cNvSpPr/>
          <p:nvPr/>
        </p:nvSpPr>
        <p:spPr>
          <a:xfrm>
            <a:off x="8046720" y="1682496"/>
            <a:ext cx="64008" cy="850392"/>
          </a:xfrm>
          <a:prstGeom prst="rect">
            <a:avLst/>
          </a:prstGeom>
          <a:solidFill>
            <a:srgbClr val="D49A35"/>
          </a:solidFill>
          <a:ln w="12700">
            <a:solidFill>
              <a:srgbClr val="D49A35"/>
            </a:solidFill>
            <a:prstDash val="solid"/>
          </a:ln>
        </p:spPr>
        <p:txBody>
          <a:bodyPr/>
          <a:lstStyle/>
          <a:p>
            <a:endParaRPr lang="en-US"/>
          </a:p>
        </p:txBody>
      </p:sp>
      <p:sp>
        <p:nvSpPr>
          <p:cNvPr id="16" name="Text 14"/>
          <p:cNvSpPr/>
          <p:nvPr/>
        </p:nvSpPr>
        <p:spPr>
          <a:xfrm>
            <a:off x="8211312" y="1783080"/>
            <a:ext cx="3401568" cy="182880"/>
          </a:xfrm>
          <a:prstGeom prst="rect">
            <a:avLst/>
          </a:prstGeom>
          <a:noFill/>
          <a:ln/>
        </p:spPr>
        <p:txBody>
          <a:bodyPr wrap="square" lIns="0" tIns="0" rIns="0" bIns="0" rtlCol="0" anchor="ctr"/>
          <a:lstStyle/>
          <a:p>
            <a:pPr marL="0" indent="0">
              <a:buNone/>
            </a:pPr>
            <a:r>
              <a:rPr lang="en-US" sz="850" b="1" kern="0" spc="40" dirty="0">
                <a:solidFill>
                  <a:srgbClr val="D49A35"/>
                </a:solidFill>
                <a:latin typeface="Aptos" pitchFamily="34" charset="0"/>
                <a:ea typeface="Aptos" pitchFamily="34" charset="-122"/>
                <a:cs typeface="Aptos" pitchFamily="34" charset="-120"/>
              </a:rPr>
              <a:t>HOW TO INTERPRET</a:t>
            </a:r>
            <a:endParaRPr lang="en-US" sz="850" dirty="0"/>
          </a:p>
        </p:txBody>
      </p:sp>
      <p:sp>
        <p:nvSpPr>
          <p:cNvPr id="17" name="Text 15"/>
          <p:cNvSpPr/>
          <p:nvPr/>
        </p:nvSpPr>
        <p:spPr>
          <a:xfrm>
            <a:off x="8211312"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Longer bars mean the category is mentioned in more events. Multiple labels can occur in one event.</a:t>
            </a:r>
            <a:endParaRPr lang="en-US" sz="1030" dirty="0"/>
          </a:p>
        </p:txBody>
      </p:sp>
      <p:sp>
        <p:nvSpPr>
          <p:cNvPr id="18" name="Shape 16"/>
          <p:cNvSpPr/>
          <p:nvPr/>
        </p:nvSpPr>
        <p:spPr>
          <a:xfrm>
            <a:off x="475488" y="2670048"/>
            <a:ext cx="11247120" cy="3547872"/>
          </a:xfrm>
          <a:prstGeom prst="roundRect">
            <a:avLst>
              <a:gd name="adj" fmla="val 1031"/>
            </a:avLst>
          </a:prstGeom>
          <a:solidFill>
            <a:srgbClr val="FFFFFF"/>
          </a:solidFill>
          <a:ln w="10160">
            <a:solidFill>
              <a:srgbClr val="D7DEE6"/>
            </a:solidFill>
            <a:prstDash val="solid"/>
          </a:ln>
        </p:spPr>
        <p:txBody>
          <a:bodyPr/>
          <a:lstStyle/>
          <a:p>
            <a:endParaRPr lang="en-US"/>
          </a:p>
        </p:txBody>
      </p:sp>
      <p:pic>
        <p:nvPicPr>
          <p:cNvPr id="19" name="Image 0" descr="/mnt/data/01_environment_prevalence(2).png"/>
          <p:cNvPicPr>
            <a:picLocks noChangeAspect="1"/>
          </p:cNvPicPr>
          <p:nvPr/>
        </p:nvPicPr>
        <p:blipFill>
          <a:blip r:embed="rId3"/>
          <a:stretch>
            <a:fillRect/>
          </a:stretch>
        </p:blipFill>
        <p:spPr>
          <a:xfrm>
            <a:off x="2818801" y="2715768"/>
            <a:ext cx="6560494" cy="3456432"/>
          </a:xfrm>
          <a:prstGeom prst="rect">
            <a:avLst/>
          </a:prstGeom>
        </p:spPr>
      </p:pic>
      <p:sp>
        <p:nvSpPr>
          <p:cNvPr id="25" name="Slide Number Placeholder 0"/>
          <p:cNvSpPr>
            <a:spLocks noGrp="1"/>
          </p:cNvSpPr>
          <p:nvPr>
            <p:ph type="sldNum" sz="quarter" idx="4294967295"/>
          </p:nvPr>
        </p:nvSpPr>
        <p:spPr>
          <a:xfrm>
            <a:off x="11823192" y="6492240"/>
            <a:ext cx="201168"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6B7785"/>
                </a:solidFill>
                <a:latin typeface="Aptos"/>
                <a:ea typeface="Aptos"/>
                <a:cs typeface="Apto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75488" y="274320"/>
            <a:ext cx="11064240" cy="365760"/>
          </a:xfrm>
          <a:prstGeom prst="rect">
            <a:avLst/>
          </a:prstGeom>
          <a:noFill/>
          <a:ln/>
        </p:spPr>
        <p:txBody>
          <a:bodyPr wrap="square" lIns="0" tIns="0" rIns="0" bIns="0" rtlCol="0" anchor="ctr"/>
          <a:lstStyle/>
          <a:p>
            <a:pPr marL="0" indent="0">
              <a:buNone/>
            </a:pPr>
            <a:r>
              <a:rPr lang="en-US" sz="2400" b="1" dirty="0">
                <a:solidFill>
                  <a:srgbClr val="1E2A35"/>
                </a:solidFill>
                <a:latin typeface="Aptos Display" pitchFamily="34" charset="0"/>
                <a:ea typeface="Aptos Display" pitchFamily="34" charset="-122"/>
                <a:cs typeface="Aptos Display" pitchFamily="34" charset="-120"/>
              </a:rPr>
              <a:t>Developmental-outcome prevalence</a:t>
            </a:r>
            <a:endParaRPr lang="en-US" sz="2400" dirty="0"/>
          </a:p>
        </p:txBody>
      </p:sp>
      <p:sp>
        <p:nvSpPr>
          <p:cNvPr id="3" name="Text 1"/>
          <p:cNvSpPr/>
          <p:nvPr/>
        </p:nvSpPr>
        <p:spPr>
          <a:xfrm>
            <a:off x="484632" y="694944"/>
            <a:ext cx="11064240" cy="320040"/>
          </a:xfrm>
          <a:prstGeom prst="rect">
            <a:avLst/>
          </a:prstGeom>
          <a:noFill/>
          <a:ln/>
        </p:spPr>
        <p:txBody>
          <a:bodyPr wrap="square" lIns="0" tIns="0" rIns="0" bIns="0" rtlCol="0" anchor="ctr"/>
          <a:lstStyle/>
          <a:p>
            <a:pPr marL="0" indent="0">
              <a:buNone/>
            </a:pPr>
            <a:r>
              <a:rPr lang="en-US" sz="1150" dirty="0">
                <a:solidFill>
                  <a:srgbClr val="5D6976"/>
                </a:solidFill>
                <a:latin typeface="Aptos" pitchFamily="34" charset="0"/>
                <a:ea typeface="Aptos" pitchFamily="34" charset="-122"/>
                <a:cs typeface="Aptos" pitchFamily="34" charset="-120"/>
              </a:rPr>
              <a:t>What kinds of trainee development are described in the narratives?</a:t>
            </a:r>
            <a:endParaRPr lang="en-US" sz="1150" dirty="0"/>
          </a:p>
        </p:txBody>
      </p:sp>
      <p:sp>
        <p:nvSpPr>
          <p:cNvPr id="4" name="Shape 2"/>
          <p:cNvSpPr/>
          <p:nvPr/>
        </p:nvSpPr>
        <p:spPr>
          <a:xfrm>
            <a:off x="475488" y="1005840"/>
            <a:ext cx="11247120" cy="530352"/>
          </a:xfrm>
          <a:prstGeom prst="roundRect">
            <a:avLst>
              <a:gd name="adj" fmla="val 13793"/>
            </a:avLst>
          </a:prstGeom>
          <a:solidFill>
            <a:srgbClr val="EDF5FA"/>
          </a:solidFill>
          <a:ln w="10160">
            <a:solidFill>
              <a:srgbClr val="D7E6EF"/>
            </a:solidFill>
            <a:prstDash val="solid"/>
          </a:ln>
        </p:spPr>
        <p:txBody>
          <a:bodyPr/>
          <a:lstStyle/>
          <a:p>
            <a:endParaRPr lang="en-US"/>
          </a:p>
        </p:txBody>
      </p:sp>
      <p:sp>
        <p:nvSpPr>
          <p:cNvPr id="5" name="Text 3"/>
          <p:cNvSpPr/>
          <p:nvPr/>
        </p:nvSpPr>
        <p:spPr>
          <a:xfrm>
            <a:off x="658368" y="1152144"/>
            <a:ext cx="10881360" cy="237744"/>
          </a:xfrm>
          <a:prstGeom prst="rect">
            <a:avLst/>
          </a:prstGeom>
          <a:noFill/>
          <a:ln/>
        </p:spPr>
        <p:txBody>
          <a:bodyPr wrap="square" lIns="0" tIns="0" rIns="0" bIns="0" rtlCol="0" anchor="ctr"/>
          <a:lstStyle/>
          <a:p>
            <a:pPr marL="0" indent="0">
              <a:buNone/>
            </a:pPr>
            <a:r>
              <a:rPr lang="en-US" sz="1150" b="1" dirty="0">
                <a:solidFill>
                  <a:srgbClr val="163A5F"/>
                </a:solidFill>
                <a:latin typeface="Aptos" pitchFamily="34" charset="0"/>
                <a:ea typeface="Aptos" pitchFamily="34" charset="-122"/>
                <a:cs typeface="Aptos" pitchFamily="34" charset="-120"/>
              </a:rPr>
              <a:t>Key message: </a:t>
            </a:r>
            <a:r>
              <a:rPr lang="en-US" sz="1150" dirty="0">
                <a:solidFill>
                  <a:srgbClr val="1E2A35"/>
                </a:solidFill>
                <a:latin typeface="Aptos" pitchFamily="34" charset="0"/>
                <a:ea typeface="Aptos" pitchFamily="34" charset="-122"/>
                <a:cs typeface="Aptos" pitchFamily="34" charset="-120"/>
              </a:rPr>
              <a:t>The narratives emphasize communication/teamwork, feedback receptivity, clinical reasoning, and autonomy more than scholarship or procedural/technical development.</a:t>
            </a:r>
            <a:endParaRPr lang="en-US" sz="1150" dirty="0"/>
          </a:p>
        </p:txBody>
      </p:sp>
      <p:sp>
        <p:nvSpPr>
          <p:cNvPr id="6" name="Shape 4"/>
          <p:cNvSpPr/>
          <p:nvPr/>
        </p:nvSpPr>
        <p:spPr>
          <a:xfrm>
            <a:off x="475488"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7" name="Shape 5"/>
          <p:cNvSpPr/>
          <p:nvPr/>
        </p:nvSpPr>
        <p:spPr>
          <a:xfrm>
            <a:off x="475488" y="1682496"/>
            <a:ext cx="64008" cy="850392"/>
          </a:xfrm>
          <a:prstGeom prst="rect">
            <a:avLst/>
          </a:prstGeom>
          <a:solidFill>
            <a:srgbClr val="2A6F9E"/>
          </a:solidFill>
          <a:ln w="12700">
            <a:solidFill>
              <a:srgbClr val="2A6F9E"/>
            </a:solidFill>
            <a:prstDash val="solid"/>
          </a:ln>
        </p:spPr>
        <p:txBody>
          <a:bodyPr/>
          <a:lstStyle/>
          <a:p>
            <a:endParaRPr lang="en-US"/>
          </a:p>
        </p:txBody>
      </p:sp>
      <p:sp>
        <p:nvSpPr>
          <p:cNvPr id="8" name="Text 6"/>
          <p:cNvSpPr/>
          <p:nvPr/>
        </p:nvSpPr>
        <p:spPr>
          <a:xfrm>
            <a:off x="640080" y="1783080"/>
            <a:ext cx="3401568" cy="182880"/>
          </a:xfrm>
          <a:prstGeom prst="rect">
            <a:avLst/>
          </a:prstGeom>
          <a:noFill/>
          <a:ln/>
        </p:spPr>
        <p:txBody>
          <a:bodyPr wrap="square" lIns="0" tIns="0" rIns="0" bIns="0" rtlCol="0" anchor="ctr"/>
          <a:lstStyle/>
          <a:p>
            <a:pPr marL="0" indent="0">
              <a:buNone/>
            </a:pPr>
            <a:r>
              <a:rPr lang="en-US" sz="850" b="1" kern="0" spc="40" dirty="0">
                <a:solidFill>
                  <a:srgbClr val="2A6F9E"/>
                </a:solidFill>
                <a:latin typeface="Aptos" pitchFamily="34" charset="0"/>
                <a:ea typeface="Aptos" pitchFamily="34" charset="-122"/>
                <a:cs typeface="Aptos" pitchFamily="34" charset="-120"/>
              </a:rPr>
              <a:t>INPUT</a:t>
            </a:r>
            <a:endParaRPr lang="en-US" sz="850" dirty="0"/>
          </a:p>
        </p:txBody>
      </p:sp>
      <p:sp>
        <p:nvSpPr>
          <p:cNvPr id="9" name="Text 7"/>
          <p:cNvSpPr/>
          <p:nvPr/>
        </p:nvSpPr>
        <p:spPr>
          <a:xfrm>
            <a:off x="640080"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Evaluation events with developmental-outcome codes.</a:t>
            </a:r>
            <a:endParaRPr lang="en-US" sz="1030" dirty="0"/>
          </a:p>
        </p:txBody>
      </p:sp>
      <p:sp>
        <p:nvSpPr>
          <p:cNvPr id="10" name="Shape 8"/>
          <p:cNvSpPr/>
          <p:nvPr/>
        </p:nvSpPr>
        <p:spPr>
          <a:xfrm>
            <a:off x="4261104"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11" name="Shape 9"/>
          <p:cNvSpPr/>
          <p:nvPr/>
        </p:nvSpPr>
        <p:spPr>
          <a:xfrm>
            <a:off x="4261104" y="1682496"/>
            <a:ext cx="64008" cy="850392"/>
          </a:xfrm>
          <a:prstGeom prst="rect">
            <a:avLst/>
          </a:prstGeom>
          <a:solidFill>
            <a:srgbClr val="2B8C87"/>
          </a:solidFill>
          <a:ln w="12700">
            <a:solidFill>
              <a:srgbClr val="2B8C87"/>
            </a:solidFill>
            <a:prstDash val="solid"/>
          </a:ln>
        </p:spPr>
        <p:txBody>
          <a:bodyPr/>
          <a:lstStyle/>
          <a:p>
            <a:endParaRPr lang="en-US"/>
          </a:p>
        </p:txBody>
      </p:sp>
      <p:sp>
        <p:nvSpPr>
          <p:cNvPr id="12" name="Text 10"/>
          <p:cNvSpPr/>
          <p:nvPr/>
        </p:nvSpPr>
        <p:spPr>
          <a:xfrm>
            <a:off x="4425696" y="1783080"/>
            <a:ext cx="3401568" cy="182880"/>
          </a:xfrm>
          <a:prstGeom prst="rect">
            <a:avLst/>
          </a:prstGeom>
          <a:noFill/>
          <a:ln/>
        </p:spPr>
        <p:txBody>
          <a:bodyPr wrap="square" lIns="0" tIns="0" rIns="0" bIns="0" rtlCol="0" anchor="ctr"/>
          <a:lstStyle/>
          <a:p>
            <a:pPr marL="0" indent="0">
              <a:buNone/>
            </a:pPr>
            <a:r>
              <a:rPr lang="en-US" sz="850" b="1" kern="0" spc="40" dirty="0">
                <a:solidFill>
                  <a:srgbClr val="2B8C87"/>
                </a:solidFill>
                <a:latin typeface="Aptos" pitchFamily="34" charset="0"/>
                <a:ea typeface="Aptos" pitchFamily="34" charset="-122"/>
                <a:cs typeface="Aptos" pitchFamily="34" charset="-120"/>
              </a:rPr>
              <a:t>OUTPUT</a:t>
            </a:r>
            <a:endParaRPr lang="en-US" sz="850" dirty="0"/>
          </a:p>
        </p:txBody>
      </p:sp>
      <p:sp>
        <p:nvSpPr>
          <p:cNvPr id="13" name="Text 11"/>
          <p:cNvSpPr/>
          <p:nvPr/>
        </p:nvSpPr>
        <p:spPr>
          <a:xfrm>
            <a:off x="4425696"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Percent of events containing each developmental outcome.</a:t>
            </a:r>
            <a:endParaRPr lang="en-US" sz="1030" dirty="0"/>
          </a:p>
        </p:txBody>
      </p:sp>
      <p:sp>
        <p:nvSpPr>
          <p:cNvPr id="14" name="Shape 12"/>
          <p:cNvSpPr/>
          <p:nvPr/>
        </p:nvSpPr>
        <p:spPr>
          <a:xfrm>
            <a:off x="8046720"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15" name="Shape 13"/>
          <p:cNvSpPr/>
          <p:nvPr/>
        </p:nvSpPr>
        <p:spPr>
          <a:xfrm>
            <a:off x="8046720" y="1682496"/>
            <a:ext cx="64008" cy="850392"/>
          </a:xfrm>
          <a:prstGeom prst="rect">
            <a:avLst/>
          </a:prstGeom>
          <a:solidFill>
            <a:srgbClr val="D49A35"/>
          </a:solidFill>
          <a:ln w="12700">
            <a:solidFill>
              <a:srgbClr val="D49A35"/>
            </a:solidFill>
            <a:prstDash val="solid"/>
          </a:ln>
        </p:spPr>
        <p:txBody>
          <a:bodyPr/>
          <a:lstStyle/>
          <a:p>
            <a:endParaRPr lang="en-US"/>
          </a:p>
        </p:txBody>
      </p:sp>
      <p:sp>
        <p:nvSpPr>
          <p:cNvPr id="16" name="Text 14"/>
          <p:cNvSpPr/>
          <p:nvPr/>
        </p:nvSpPr>
        <p:spPr>
          <a:xfrm>
            <a:off x="8211312" y="1783080"/>
            <a:ext cx="3401568" cy="182880"/>
          </a:xfrm>
          <a:prstGeom prst="rect">
            <a:avLst/>
          </a:prstGeom>
          <a:noFill/>
          <a:ln/>
        </p:spPr>
        <p:txBody>
          <a:bodyPr wrap="square" lIns="0" tIns="0" rIns="0" bIns="0" rtlCol="0" anchor="ctr"/>
          <a:lstStyle/>
          <a:p>
            <a:pPr marL="0" indent="0">
              <a:buNone/>
            </a:pPr>
            <a:r>
              <a:rPr lang="en-US" sz="850" b="1" kern="0" spc="40" dirty="0">
                <a:solidFill>
                  <a:srgbClr val="D49A35"/>
                </a:solidFill>
                <a:latin typeface="Aptos" pitchFamily="34" charset="0"/>
                <a:ea typeface="Aptos" pitchFamily="34" charset="-122"/>
                <a:cs typeface="Aptos" pitchFamily="34" charset="-120"/>
              </a:rPr>
              <a:t>HOW TO INTERPRET</a:t>
            </a:r>
            <a:endParaRPr lang="en-US" sz="850" dirty="0"/>
          </a:p>
        </p:txBody>
      </p:sp>
      <p:sp>
        <p:nvSpPr>
          <p:cNvPr id="17" name="Text 15"/>
          <p:cNvSpPr/>
          <p:nvPr/>
        </p:nvSpPr>
        <p:spPr>
          <a:xfrm>
            <a:off x="8211312"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This is the developmental content being described—not necessarily a causal effect of the environment.</a:t>
            </a:r>
            <a:endParaRPr lang="en-US" sz="1030" dirty="0"/>
          </a:p>
        </p:txBody>
      </p:sp>
      <p:sp>
        <p:nvSpPr>
          <p:cNvPr id="18" name="Shape 16"/>
          <p:cNvSpPr/>
          <p:nvPr/>
        </p:nvSpPr>
        <p:spPr>
          <a:xfrm>
            <a:off x="475488" y="2670048"/>
            <a:ext cx="11247120" cy="3547872"/>
          </a:xfrm>
          <a:prstGeom prst="roundRect">
            <a:avLst>
              <a:gd name="adj" fmla="val 1031"/>
            </a:avLst>
          </a:prstGeom>
          <a:solidFill>
            <a:srgbClr val="FFFFFF"/>
          </a:solidFill>
          <a:ln w="10160">
            <a:solidFill>
              <a:srgbClr val="D7DEE6"/>
            </a:solidFill>
            <a:prstDash val="solid"/>
          </a:ln>
        </p:spPr>
        <p:txBody>
          <a:bodyPr/>
          <a:lstStyle/>
          <a:p>
            <a:endParaRPr lang="en-US"/>
          </a:p>
        </p:txBody>
      </p:sp>
      <p:pic>
        <p:nvPicPr>
          <p:cNvPr id="19" name="Image 0" descr="/mnt/data/02_development_prevalence(1).png"/>
          <p:cNvPicPr>
            <a:picLocks noChangeAspect="1"/>
          </p:cNvPicPr>
          <p:nvPr/>
        </p:nvPicPr>
        <p:blipFill>
          <a:blip r:embed="rId3"/>
          <a:stretch>
            <a:fillRect/>
          </a:stretch>
        </p:blipFill>
        <p:spPr>
          <a:xfrm>
            <a:off x="2699061" y="2715768"/>
            <a:ext cx="6799974" cy="3456432"/>
          </a:xfrm>
          <a:prstGeom prst="rect">
            <a:avLst/>
          </a:prstGeom>
        </p:spPr>
      </p:pic>
      <p:sp>
        <p:nvSpPr>
          <p:cNvPr id="25" name="Slide Number Placeholder 0"/>
          <p:cNvSpPr>
            <a:spLocks noGrp="1"/>
          </p:cNvSpPr>
          <p:nvPr>
            <p:ph type="sldNum" sz="quarter" idx="4294967295"/>
          </p:nvPr>
        </p:nvSpPr>
        <p:spPr>
          <a:xfrm>
            <a:off x="11823192" y="6492240"/>
            <a:ext cx="201168"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6B7785"/>
                </a:solidFill>
                <a:latin typeface="Aptos"/>
                <a:ea typeface="Aptos"/>
                <a:cs typeface="Aptos"/>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75488" y="274320"/>
            <a:ext cx="11064240" cy="365760"/>
          </a:xfrm>
          <a:prstGeom prst="rect">
            <a:avLst/>
          </a:prstGeom>
          <a:noFill/>
          <a:ln/>
        </p:spPr>
        <p:txBody>
          <a:bodyPr wrap="square" lIns="0" tIns="0" rIns="0" bIns="0" rtlCol="0" anchor="ctr"/>
          <a:lstStyle/>
          <a:p>
            <a:pPr marL="0" indent="0">
              <a:buNone/>
            </a:pPr>
            <a:r>
              <a:rPr lang="en-US" sz="2400" b="1" dirty="0">
                <a:solidFill>
                  <a:srgbClr val="1E2A35"/>
                </a:solidFill>
                <a:latin typeface="Aptos Display" pitchFamily="34" charset="0"/>
                <a:ea typeface="Aptos Display" pitchFamily="34" charset="-122"/>
                <a:cs typeface="Aptos Display" pitchFamily="34" charset="-120"/>
              </a:rPr>
              <a:t>Learning and development mechanisms</a:t>
            </a:r>
            <a:endParaRPr lang="en-US" sz="2400" dirty="0"/>
          </a:p>
        </p:txBody>
      </p:sp>
      <p:sp>
        <p:nvSpPr>
          <p:cNvPr id="3" name="Text 1"/>
          <p:cNvSpPr/>
          <p:nvPr/>
        </p:nvSpPr>
        <p:spPr>
          <a:xfrm>
            <a:off x="484632" y="694944"/>
            <a:ext cx="11064240" cy="320040"/>
          </a:xfrm>
          <a:prstGeom prst="rect">
            <a:avLst/>
          </a:prstGeom>
          <a:noFill/>
          <a:ln/>
        </p:spPr>
        <p:txBody>
          <a:bodyPr wrap="square" lIns="0" tIns="0" rIns="0" bIns="0" rtlCol="0" anchor="ctr"/>
          <a:lstStyle/>
          <a:p>
            <a:pPr marL="0" indent="0">
              <a:buNone/>
            </a:pPr>
            <a:r>
              <a:rPr lang="en-US" sz="1150" dirty="0">
                <a:solidFill>
                  <a:srgbClr val="5D6976"/>
                </a:solidFill>
                <a:latin typeface="Aptos" pitchFamily="34" charset="0"/>
                <a:ea typeface="Aptos" pitchFamily="34" charset="-122"/>
                <a:cs typeface="Aptos" pitchFamily="34" charset="-120"/>
              </a:rPr>
              <a:t>How is learning described as happening?</a:t>
            </a:r>
            <a:endParaRPr lang="en-US" sz="1150" dirty="0"/>
          </a:p>
        </p:txBody>
      </p:sp>
      <p:sp>
        <p:nvSpPr>
          <p:cNvPr id="4" name="Shape 2"/>
          <p:cNvSpPr/>
          <p:nvPr/>
        </p:nvSpPr>
        <p:spPr>
          <a:xfrm>
            <a:off x="475488" y="1005840"/>
            <a:ext cx="11247120" cy="530352"/>
          </a:xfrm>
          <a:prstGeom prst="roundRect">
            <a:avLst>
              <a:gd name="adj" fmla="val 13793"/>
            </a:avLst>
          </a:prstGeom>
          <a:solidFill>
            <a:srgbClr val="EDF5FA"/>
          </a:solidFill>
          <a:ln w="10160">
            <a:solidFill>
              <a:srgbClr val="D7E6EF"/>
            </a:solidFill>
            <a:prstDash val="solid"/>
          </a:ln>
        </p:spPr>
        <p:txBody>
          <a:bodyPr/>
          <a:lstStyle/>
          <a:p>
            <a:endParaRPr lang="en-US"/>
          </a:p>
        </p:txBody>
      </p:sp>
      <p:sp>
        <p:nvSpPr>
          <p:cNvPr id="5" name="Text 3"/>
          <p:cNvSpPr/>
          <p:nvPr/>
        </p:nvSpPr>
        <p:spPr>
          <a:xfrm>
            <a:off x="658368" y="1152144"/>
            <a:ext cx="10881360" cy="237744"/>
          </a:xfrm>
          <a:prstGeom prst="rect">
            <a:avLst/>
          </a:prstGeom>
          <a:noFill/>
          <a:ln/>
        </p:spPr>
        <p:txBody>
          <a:bodyPr wrap="square" lIns="0" tIns="0" rIns="0" bIns="0" rtlCol="0" anchor="ctr"/>
          <a:lstStyle/>
          <a:p>
            <a:pPr marL="0" indent="0">
              <a:buNone/>
            </a:pPr>
            <a:r>
              <a:rPr lang="en-US" sz="1150" b="1" dirty="0">
                <a:solidFill>
                  <a:srgbClr val="163A5F"/>
                </a:solidFill>
                <a:latin typeface="Aptos" pitchFamily="34" charset="0"/>
                <a:ea typeface="Aptos" pitchFamily="34" charset="-122"/>
                <a:cs typeface="Aptos" pitchFamily="34" charset="-120"/>
              </a:rPr>
              <a:t>Key message: </a:t>
            </a:r>
            <a:r>
              <a:rPr lang="en-US" sz="1150" dirty="0">
                <a:solidFill>
                  <a:srgbClr val="1E2A35"/>
                </a:solidFill>
                <a:latin typeface="Aptos" pitchFamily="34" charset="0"/>
                <a:ea typeface="Aptos" pitchFamily="34" charset="-122"/>
                <a:cs typeface="Aptos" pitchFamily="34" charset="-120"/>
              </a:rPr>
              <a:t>Feedback/coaching and direct supervision are the dominant mechanisms, with reflection, structured teaching, autonomy, and repeated clinical exposure forming the next layer.</a:t>
            </a:r>
            <a:endParaRPr lang="en-US" sz="1150" dirty="0"/>
          </a:p>
        </p:txBody>
      </p:sp>
      <p:sp>
        <p:nvSpPr>
          <p:cNvPr id="6" name="Shape 4"/>
          <p:cNvSpPr/>
          <p:nvPr/>
        </p:nvSpPr>
        <p:spPr>
          <a:xfrm>
            <a:off x="475488"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7" name="Shape 5"/>
          <p:cNvSpPr/>
          <p:nvPr/>
        </p:nvSpPr>
        <p:spPr>
          <a:xfrm>
            <a:off x="475488" y="1682496"/>
            <a:ext cx="64008" cy="850392"/>
          </a:xfrm>
          <a:prstGeom prst="rect">
            <a:avLst/>
          </a:prstGeom>
          <a:solidFill>
            <a:srgbClr val="2A6F9E"/>
          </a:solidFill>
          <a:ln w="12700">
            <a:solidFill>
              <a:srgbClr val="2A6F9E"/>
            </a:solidFill>
            <a:prstDash val="solid"/>
          </a:ln>
        </p:spPr>
        <p:txBody>
          <a:bodyPr/>
          <a:lstStyle/>
          <a:p>
            <a:endParaRPr lang="en-US"/>
          </a:p>
        </p:txBody>
      </p:sp>
      <p:sp>
        <p:nvSpPr>
          <p:cNvPr id="8" name="Text 6"/>
          <p:cNvSpPr/>
          <p:nvPr/>
        </p:nvSpPr>
        <p:spPr>
          <a:xfrm>
            <a:off x="640080" y="1783080"/>
            <a:ext cx="3401568" cy="182880"/>
          </a:xfrm>
          <a:prstGeom prst="rect">
            <a:avLst/>
          </a:prstGeom>
          <a:noFill/>
          <a:ln/>
        </p:spPr>
        <p:txBody>
          <a:bodyPr wrap="square" lIns="0" tIns="0" rIns="0" bIns="0" rtlCol="0" anchor="ctr"/>
          <a:lstStyle/>
          <a:p>
            <a:pPr marL="0" indent="0">
              <a:buNone/>
            </a:pPr>
            <a:r>
              <a:rPr lang="en-US" sz="850" b="1" kern="0" spc="40" dirty="0">
                <a:solidFill>
                  <a:srgbClr val="2A6F9E"/>
                </a:solidFill>
                <a:latin typeface="Aptos" pitchFamily="34" charset="0"/>
                <a:ea typeface="Aptos" pitchFamily="34" charset="-122"/>
                <a:cs typeface="Aptos" pitchFamily="34" charset="-120"/>
              </a:rPr>
              <a:t>INPUT</a:t>
            </a:r>
            <a:endParaRPr lang="en-US" sz="850" dirty="0"/>
          </a:p>
        </p:txBody>
      </p:sp>
      <p:sp>
        <p:nvSpPr>
          <p:cNvPr id="9" name="Text 7"/>
          <p:cNvSpPr/>
          <p:nvPr/>
        </p:nvSpPr>
        <p:spPr>
          <a:xfrm>
            <a:off x="640080"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Evaluation events with mechanism codes.</a:t>
            </a:r>
            <a:endParaRPr lang="en-US" sz="1030" dirty="0"/>
          </a:p>
        </p:txBody>
      </p:sp>
      <p:sp>
        <p:nvSpPr>
          <p:cNvPr id="10" name="Shape 8"/>
          <p:cNvSpPr/>
          <p:nvPr/>
        </p:nvSpPr>
        <p:spPr>
          <a:xfrm>
            <a:off x="4261104"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11" name="Shape 9"/>
          <p:cNvSpPr/>
          <p:nvPr/>
        </p:nvSpPr>
        <p:spPr>
          <a:xfrm>
            <a:off x="4261104" y="1682496"/>
            <a:ext cx="64008" cy="850392"/>
          </a:xfrm>
          <a:prstGeom prst="rect">
            <a:avLst/>
          </a:prstGeom>
          <a:solidFill>
            <a:srgbClr val="2B8C87"/>
          </a:solidFill>
          <a:ln w="12700">
            <a:solidFill>
              <a:srgbClr val="2B8C87"/>
            </a:solidFill>
            <a:prstDash val="solid"/>
          </a:ln>
        </p:spPr>
        <p:txBody>
          <a:bodyPr/>
          <a:lstStyle/>
          <a:p>
            <a:endParaRPr lang="en-US"/>
          </a:p>
        </p:txBody>
      </p:sp>
      <p:sp>
        <p:nvSpPr>
          <p:cNvPr id="12" name="Text 10"/>
          <p:cNvSpPr/>
          <p:nvPr/>
        </p:nvSpPr>
        <p:spPr>
          <a:xfrm>
            <a:off x="4425696" y="1783080"/>
            <a:ext cx="3401568" cy="182880"/>
          </a:xfrm>
          <a:prstGeom prst="rect">
            <a:avLst/>
          </a:prstGeom>
          <a:noFill/>
          <a:ln/>
        </p:spPr>
        <p:txBody>
          <a:bodyPr wrap="square" lIns="0" tIns="0" rIns="0" bIns="0" rtlCol="0" anchor="ctr"/>
          <a:lstStyle/>
          <a:p>
            <a:pPr marL="0" indent="0">
              <a:buNone/>
            </a:pPr>
            <a:r>
              <a:rPr lang="en-US" sz="850" b="1" kern="0" spc="40" dirty="0">
                <a:solidFill>
                  <a:srgbClr val="2B8C87"/>
                </a:solidFill>
                <a:latin typeface="Aptos" pitchFamily="34" charset="0"/>
                <a:ea typeface="Aptos" pitchFamily="34" charset="-122"/>
                <a:cs typeface="Aptos" pitchFamily="34" charset="-120"/>
              </a:rPr>
              <a:t>OUTPUT</a:t>
            </a:r>
            <a:endParaRPr lang="en-US" sz="850" dirty="0"/>
          </a:p>
        </p:txBody>
      </p:sp>
      <p:sp>
        <p:nvSpPr>
          <p:cNvPr id="13" name="Text 11"/>
          <p:cNvSpPr/>
          <p:nvPr/>
        </p:nvSpPr>
        <p:spPr>
          <a:xfrm>
            <a:off x="4425696"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Percent of events in which each learning mechanism is present.</a:t>
            </a:r>
            <a:endParaRPr lang="en-US" sz="1030" dirty="0"/>
          </a:p>
        </p:txBody>
      </p:sp>
      <p:sp>
        <p:nvSpPr>
          <p:cNvPr id="14" name="Shape 12"/>
          <p:cNvSpPr/>
          <p:nvPr/>
        </p:nvSpPr>
        <p:spPr>
          <a:xfrm>
            <a:off x="8046720"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15" name="Shape 13"/>
          <p:cNvSpPr/>
          <p:nvPr/>
        </p:nvSpPr>
        <p:spPr>
          <a:xfrm>
            <a:off x="8046720" y="1682496"/>
            <a:ext cx="64008" cy="850392"/>
          </a:xfrm>
          <a:prstGeom prst="rect">
            <a:avLst/>
          </a:prstGeom>
          <a:solidFill>
            <a:srgbClr val="D49A35"/>
          </a:solidFill>
          <a:ln w="12700">
            <a:solidFill>
              <a:srgbClr val="D49A35"/>
            </a:solidFill>
            <a:prstDash val="solid"/>
          </a:ln>
        </p:spPr>
        <p:txBody>
          <a:bodyPr/>
          <a:lstStyle/>
          <a:p>
            <a:endParaRPr lang="en-US"/>
          </a:p>
        </p:txBody>
      </p:sp>
      <p:sp>
        <p:nvSpPr>
          <p:cNvPr id="16" name="Text 14"/>
          <p:cNvSpPr/>
          <p:nvPr/>
        </p:nvSpPr>
        <p:spPr>
          <a:xfrm>
            <a:off x="8211312" y="1783080"/>
            <a:ext cx="3401568" cy="182880"/>
          </a:xfrm>
          <a:prstGeom prst="rect">
            <a:avLst/>
          </a:prstGeom>
          <a:noFill/>
          <a:ln/>
        </p:spPr>
        <p:txBody>
          <a:bodyPr wrap="square" lIns="0" tIns="0" rIns="0" bIns="0" rtlCol="0" anchor="ctr"/>
          <a:lstStyle/>
          <a:p>
            <a:pPr marL="0" indent="0">
              <a:buNone/>
            </a:pPr>
            <a:r>
              <a:rPr lang="en-US" sz="850" b="1" kern="0" spc="40" dirty="0">
                <a:solidFill>
                  <a:srgbClr val="D49A35"/>
                </a:solidFill>
                <a:latin typeface="Aptos" pitchFamily="34" charset="0"/>
                <a:ea typeface="Aptos" pitchFamily="34" charset="-122"/>
                <a:cs typeface="Aptos" pitchFamily="34" charset="-120"/>
              </a:rPr>
              <a:t>HOW TO INTERPRET</a:t>
            </a:r>
            <a:endParaRPr lang="en-US" sz="850" dirty="0"/>
          </a:p>
        </p:txBody>
      </p:sp>
      <p:sp>
        <p:nvSpPr>
          <p:cNvPr id="17" name="Text 15"/>
          <p:cNvSpPr/>
          <p:nvPr/>
        </p:nvSpPr>
        <p:spPr>
          <a:xfrm>
            <a:off x="8211312"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This chart describes the process of learning—the “how”—rather than the outcome.</a:t>
            </a:r>
            <a:endParaRPr lang="en-US" sz="1030" dirty="0"/>
          </a:p>
        </p:txBody>
      </p:sp>
      <p:sp>
        <p:nvSpPr>
          <p:cNvPr id="18" name="Shape 16"/>
          <p:cNvSpPr/>
          <p:nvPr/>
        </p:nvSpPr>
        <p:spPr>
          <a:xfrm>
            <a:off x="475488" y="2670048"/>
            <a:ext cx="11247120" cy="3547872"/>
          </a:xfrm>
          <a:prstGeom prst="roundRect">
            <a:avLst>
              <a:gd name="adj" fmla="val 1031"/>
            </a:avLst>
          </a:prstGeom>
          <a:solidFill>
            <a:srgbClr val="FFFFFF"/>
          </a:solidFill>
          <a:ln w="10160">
            <a:solidFill>
              <a:srgbClr val="D7DEE6"/>
            </a:solidFill>
            <a:prstDash val="solid"/>
          </a:ln>
        </p:spPr>
        <p:txBody>
          <a:bodyPr/>
          <a:lstStyle/>
          <a:p>
            <a:endParaRPr lang="en-US"/>
          </a:p>
        </p:txBody>
      </p:sp>
      <p:pic>
        <p:nvPicPr>
          <p:cNvPr id="19" name="Image 0" descr="/mnt/data/03_mechanism_prevalence(1).png"/>
          <p:cNvPicPr>
            <a:picLocks noChangeAspect="1"/>
          </p:cNvPicPr>
          <p:nvPr/>
        </p:nvPicPr>
        <p:blipFill>
          <a:blip r:embed="rId3"/>
          <a:stretch>
            <a:fillRect/>
          </a:stretch>
        </p:blipFill>
        <p:spPr>
          <a:xfrm>
            <a:off x="2775681" y="2715768"/>
            <a:ext cx="6646735" cy="3456432"/>
          </a:xfrm>
          <a:prstGeom prst="rect">
            <a:avLst/>
          </a:prstGeom>
        </p:spPr>
      </p:pic>
      <p:sp>
        <p:nvSpPr>
          <p:cNvPr id="25" name="Slide Number Placeholder 0"/>
          <p:cNvSpPr>
            <a:spLocks noGrp="1"/>
          </p:cNvSpPr>
          <p:nvPr>
            <p:ph type="sldNum" sz="quarter" idx="4294967295"/>
          </p:nvPr>
        </p:nvSpPr>
        <p:spPr>
          <a:xfrm>
            <a:off x="11823192" y="6492240"/>
            <a:ext cx="201168"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6B7785"/>
                </a:solidFill>
                <a:latin typeface="Aptos"/>
                <a:ea typeface="Aptos"/>
                <a:cs typeface="Aptos"/>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75488" y="274320"/>
            <a:ext cx="11064240" cy="365760"/>
          </a:xfrm>
          <a:prstGeom prst="rect">
            <a:avLst/>
          </a:prstGeom>
          <a:noFill/>
          <a:ln/>
        </p:spPr>
        <p:txBody>
          <a:bodyPr wrap="square" lIns="0" tIns="0" rIns="0" bIns="0" rtlCol="0" anchor="ctr"/>
          <a:lstStyle/>
          <a:p>
            <a:pPr marL="0" indent="0">
              <a:buNone/>
            </a:pPr>
            <a:r>
              <a:rPr lang="en-US" sz="2400" b="1" dirty="0">
                <a:solidFill>
                  <a:srgbClr val="1E2A35"/>
                </a:solidFill>
                <a:latin typeface="Aptos Display" pitchFamily="34" charset="0"/>
                <a:ea typeface="Aptos Display" pitchFamily="34" charset="-122"/>
                <a:cs typeface="Aptos Display" pitchFamily="34" charset="-120"/>
              </a:rPr>
              <a:t>Model confidence and performance-signal distribution</a:t>
            </a:r>
            <a:endParaRPr lang="en-US" sz="2400" dirty="0"/>
          </a:p>
        </p:txBody>
      </p:sp>
      <p:sp>
        <p:nvSpPr>
          <p:cNvPr id="3" name="Text 1"/>
          <p:cNvSpPr/>
          <p:nvPr/>
        </p:nvSpPr>
        <p:spPr>
          <a:xfrm>
            <a:off x="484632" y="694944"/>
            <a:ext cx="11064240" cy="320040"/>
          </a:xfrm>
          <a:prstGeom prst="rect">
            <a:avLst/>
          </a:prstGeom>
          <a:noFill/>
          <a:ln/>
        </p:spPr>
        <p:txBody>
          <a:bodyPr wrap="square" lIns="0" tIns="0" rIns="0" bIns="0" rtlCol="0" anchor="ctr"/>
          <a:lstStyle/>
          <a:p>
            <a:pPr marL="0" indent="0">
              <a:buNone/>
            </a:pPr>
            <a:r>
              <a:rPr lang="en-US" sz="1150" dirty="0">
                <a:solidFill>
                  <a:srgbClr val="5D6976"/>
                </a:solidFill>
                <a:latin typeface="Aptos" pitchFamily="34" charset="0"/>
                <a:ea typeface="Aptos" pitchFamily="34" charset="-122"/>
                <a:cs typeface="Aptos" pitchFamily="34" charset="-120"/>
              </a:rPr>
              <a:t>Two checks on the behavior of the row-level classifier</a:t>
            </a:r>
            <a:endParaRPr lang="en-US" sz="1150" dirty="0"/>
          </a:p>
        </p:txBody>
      </p:sp>
      <p:sp>
        <p:nvSpPr>
          <p:cNvPr id="4" name="Shape 2"/>
          <p:cNvSpPr/>
          <p:nvPr/>
        </p:nvSpPr>
        <p:spPr>
          <a:xfrm>
            <a:off x="475488" y="1005840"/>
            <a:ext cx="11247120" cy="530352"/>
          </a:xfrm>
          <a:prstGeom prst="roundRect">
            <a:avLst>
              <a:gd name="adj" fmla="val 13793"/>
            </a:avLst>
          </a:prstGeom>
          <a:solidFill>
            <a:srgbClr val="FBF5E9"/>
          </a:solidFill>
          <a:ln w="10160">
            <a:solidFill>
              <a:srgbClr val="D7E6EF"/>
            </a:solidFill>
            <a:prstDash val="solid"/>
          </a:ln>
        </p:spPr>
        <p:txBody>
          <a:bodyPr/>
          <a:lstStyle/>
          <a:p>
            <a:endParaRPr lang="en-US"/>
          </a:p>
        </p:txBody>
      </p:sp>
      <p:sp>
        <p:nvSpPr>
          <p:cNvPr id="5" name="Text 3"/>
          <p:cNvSpPr/>
          <p:nvPr/>
        </p:nvSpPr>
        <p:spPr>
          <a:xfrm>
            <a:off x="658368" y="1152144"/>
            <a:ext cx="10881360" cy="237744"/>
          </a:xfrm>
          <a:prstGeom prst="rect">
            <a:avLst/>
          </a:prstGeom>
          <a:noFill/>
          <a:ln/>
        </p:spPr>
        <p:txBody>
          <a:bodyPr wrap="square" lIns="0" tIns="0" rIns="0" bIns="0" rtlCol="0" anchor="ctr"/>
          <a:lstStyle/>
          <a:p>
            <a:pPr marL="0" indent="0">
              <a:buNone/>
            </a:pPr>
            <a:r>
              <a:rPr lang="en-US" sz="1150" b="1" dirty="0">
                <a:solidFill>
                  <a:srgbClr val="163A5F"/>
                </a:solidFill>
                <a:latin typeface="Aptos" pitchFamily="34" charset="0"/>
                <a:ea typeface="Aptos" pitchFamily="34" charset="-122"/>
                <a:cs typeface="Aptos" pitchFamily="34" charset="-120"/>
              </a:rPr>
              <a:t>Key message: </a:t>
            </a:r>
            <a:r>
              <a:rPr lang="en-US" sz="1150" dirty="0">
                <a:solidFill>
                  <a:srgbClr val="1E2A35"/>
                </a:solidFill>
                <a:latin typeface="Aptos" pitchFamily="34" charset="0"/>
                <a:ea typeface="Aptos" pitchFamily="34" charset="-122"/>
                <a:cs typeface="Aptos" pitchFamily="34" charset="-120"/>
              </a:rPr>
              <a:t>Most scored rows cluster above the 60-point confidence threshold, but there is a distinct spike at zero. Performance signals are overwhelmingly positive, which creates severe class imbalance.</a:t>
            </a:r>
            <a:endParaRPr lang="en-US" sz="1150" dirty="0"/>
          </a:p>
        </p:txBody>
      </p:sp>
      <p:sp>
        <p:nvSpPr>
          <p:cNvPr id="6" name="Shape 4"/>
          <p:cNvSpPr/>
          <p:nvPr/>
        </p:nvSpPr>
        <p:spPr>
          <a:xfrm>
            <a:off x="475488"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7" name="Shape 5"/>
          <p:cNvSpPr/>
          <p:nvPr/>
        </p:nvSpPr>
        <p:spPr>
          <a:xfrm>
            <a:off x="475488" y="1682496"/>
            <a:ext cx="64008" cy="850392"/>
          </a:xfrm>
          <a:prstGeom prst="rect">
            <a:avLst/>
          </a:prstGeom>
          <a:solidFill>
            <a:srgbClr val="2A6F9E"/>
          </a:solidFill>
          <a:ln w="12700">
            <a:solidFill>
              <a:srgbClr val="2A6F9E"/>
            </a:solidFill>
            <a:prstDash val="solid"/>
          </a:ln>
        </p:spPr>
        <p:txBody>
          <a:bodyPr/>
          <a:lstStyle/>
          <a:p>
            <a:endParaRPr lang="en-US"/>
          </a:p>
        </p:txBody>
      </p:sp>
      <p:sp>
        <p:nvSpPr>
          <p:cNvPr id="8" name="Text 6"/>
          <p:cNvSpPr/>
          <p:nvPr/>
        </p:nvSpPr>
        <p:spPr>
          <a:xfrm>
            <a:off x="640080" y="1783080"/>
            <a:ext cx="3401568" cy="182880"/>
          </a:xfrm>
          <a:prstGeom prst="rect">
            <a:avLst/>
          </a:prstGeom>
          <a:noFill/>
          <a:ln/>
        </p:spPr>
        <p:txBody>
          <a:bodyPr wrap="square" lIns="0" tIns="0" rIns="0" bIns="0" rtlCol="0" anchor="ctr"/>
          <a:lstStyle/>
          <a:p>
            <a:pPr marL="0" indent="0">
              <a:buNone/>
            </a:pPr>
            <a:r>
              <a:rPr lang="en-US" sz="850" b="1" kern="0" spc="40" dirty="0">
                <a:solidFill>
                  <a:srgbClr val="2A6F9E"/>
                </a:solidFill>
                <a:latin typeface="Aptos" pitchFamily="34" charset="0"/>
                <a:ea typeface="Aptos" pitchFamily="34" charset="-122"/>
                <a:cs typeface="Aptos" pitchFamily="34" charset="-120"/>
              </a:rPr>
              <a:t>INPUT</a:t>
            </a:r>
            <a:endParaRPr lang="en-US" sz="850" dirty="0"/>
          </a:p>
        </p:txBody>
      </p:sp>
      <p:sp>
        <p:nvSpPr>
          <p:cNvPr id="9" name="Text 7"/>
          <p:cNvSpPr/>
          <p:nvPr/>
        </p:nvSpPr>
        <p:spPr>
          <a:xfrm>
            <a:off x="640080"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Row-level classification outputs and confidence scores.</a:t>
            </a:r>
            <a:endParaRPr lang="en-US" sz="1030" dirty="0"/>
          </a:p>
        </p:txBody>
      </p:sp>
      <p:sp>
        <p:nvSpPr>
          <p:cNvPr id="10" name="Shape 8"/>
          <p:cNvSpPr/>
          <p:nvPr/>
        </p:nvSpPr>
        <p:spPr>
          <a:xfrm>
            <a:off x="4261104"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11" name="Shape 9"/>
          <p:cNvSpPr/>
          <p:nvPr/>
        </p:nvSpPr>
        <p:spPr>
          <a:xfrm>
            <a:off x="4261104" y="1682496"/>
            <a:ext cx="64008" cy="850392"/>
          </a:xfrm>
          <a:prstGeom prst="rect">
            <a:avLst/>
          </a:prstGeom>
          <a:solidFill>
            <a:srgbClr val="2B8C87"/>
          </a:solidFill>
          <a:ln w="12700">
            <a:solidFill>
              <a:srgbClr val="2B8C87"/>
            </a:solidFill>
            <a:prstDash val="solid"/>
          </a:ln>
        </p:spPr>
        <p:txBody>
          <a:bodyPr/>
          <a:lstStyle/>
          <a:p>
            <a:endParaRPr lang="en-US"/>
          </a:p>
        </p:txBody>
      </p:sp>
      <p:sp>
        <p:nvSpPr>
          <p:cNvPr id="12" name="Text 10"/>
          <p:cNvSpPr/>
          <p:nvPr/>
        </p:nvSpPr>
        <p:spPr>
          <a:xfrm>
            <a:off x="4425696" y="1783080"/>
            <a:ext cx="3401568" cy="182880"/>
          </a:xfrm>
          <a:prstGeom prst="rect">
            <a:avLst/>
          </a:prstGeom>
          <a:noFill/>
          <a:ln/>
        </p:spPr>
        <p:txBody>
          <a:bodyPr wrap="square" lIns="0" tIns="0" rIns="0" bIns="0" rtlCol="0" anchor="ctr"/>
          <a:lstStyle/>
          <a:p>
            <a:pPr marL="0" indent="0">
              <a:buNone/>
            </a:pPr>
            <a:r>
              <a:rPr lang="en-US" sz="850" b="1" kern="0" spc="40" dirty="0">
                <a:solidFill>
                  <a:srgbClr val="2B8C87"/>
                </a:solidFill>
                <a:latin typeface="Aptos" pitchFamily="34" charset="0"/>
                <a:ea typeface="Aptos" pitchFamily="34" charset="-122"/>
                <a:cs typeface="Aptos" pitchFamily="34" charset="-120"/>
              </a:rPr>
              <a:t>OUTPUT</a:t>
            </a:r>
            <a:endParaRPr lang="en-US" sz="850" dirty="0"/>
          </a:p>
        </p:txBody>
      </p:sp>
      <p:sp>
        <p:nvSpPr>
          <p:cNvPr id="13" name="Text 11"/>
          <p:cNvSpPr/>
          <p:nvPr/>
        </p:nvSpPr>
        <p:spPr>
          <a:xfrm>
            <a:off x="4425696"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Confidence distribution plus event-level performance-signal proportions.</a:t>
            </a:r>
            <a:endParaRPr lang="en-US" sz="1030" dirty="0"/>
          </a:p>
        </p:txBody>
      </p:sp>
      <p:sp>
        <p:nvSpPr>
          <p:cNvPr id="14" name="Shape 12"/>
          <p:cNvSpPr/>
          <p:nvPr/>
        </p:nvSpPr>
        <p:spPr>
          <a:xfrm>
            <a:off x="8046720"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15" name="Shape 13"/>
          <p:cNvSpPr/>
          <p:nvPr/>
        </p:nvSpPr>
        <p:spPr>
          <a:xfrm>
            <a:off x="8046720" y="1682496"/>
            <a:ext cx="64008" cy="850392"/>
          </a:xfrm>
          <a:prstGeom prst="rect">
            <a:avLst/>
          </a:prstGeom>
          <a:solidFill>
            <a:srgbClr val="D49A35"/>
          </a:solidFill>
          <a:ln w="12700">
            <a:solidFill>
              <a:srgbClr val="D49A35"/>
            </a:solidFill>
            <a:prstDash val="solid"/>
          </a:ln>
        </p:spPr>
        <p:txBody>
          <a:bodyPr/>
          <a:lstStyle/>
          <a:p>
            <a:endParaRPr lang="en-US"/>
          </a:p>
        </p:txBody>
      </p:sp>
      <p:sp>
        <p:nvSpPr>
          <p:cNvPr id="16" name="Text 14"/>
          <p:cNvSpPr/>
          <p:nvPr/>
        </p:nvSpPr>
        <p:spPr>
          <a:xfrm>
            <a:off x="8211312" y="1783080"/>
            <a:ext cx="3401568" cy="182880"/>
          </a:xfrm>
          <a:prstGeom prst="rect">
            <a:avLst/>
          </a:prstGeom>
          <a:noFill/>
          <a:ln/>
        </p:spPr>
        <p:txBody>
          <a:bodyPr wrap="square" lIns="0" tIns="0" rIns="0" bIns="0" rtlCol="0" anchor="ctr"/>
          <a:lstStyle/>
          <a:p>
            <a:pPr marL="0" indent="0">
              <a:buNone/>
            </a:pPr>
            <a:r>
              <a:rPr lang="en-US" sz="850" b="1" kern="0" spc="40" dirty="0">
                <a:solidFill>
                  <a:srgbClr val="D49A35"/>
                </a:solidFill>
                <a:latin typeface="Aptos" pitchFamily="34" charset="0"/>
                <a:ea typeface="Aptos" pitchFamily="34" charset="-122"/>
                <a:cs typeface="Aptos" pitchFamily="34" charset="-120"/>
              </a:rPr>
              <a:t>HOW TO INTERPRET</a:t>
            </a:r>
            <a:endParaRPr lang="en-US" sz="850" dirty="0"/>
          </a:p>
        </p:txBody>
      </p:sp>
      <p:sp>
        <p:nvSpPr>
          <p:cNvPr id="17" name="Text 15"/>
          <p:cNvSpPr/>
          <p:nvPr/>
        </p:nvSpPr>
        <p:spPr>
          <a:xfrm>
            <a:off x="8211312"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High confidence supports stable coding; zero/low-confidence rows and rare concern classes need targeted human validation.</a:t>
            </a:r>
            <a:endParaRPr lang="en-US" sz="1030" dirty="0"/>
          </a:p>
        </p:txBody>
      </p:sp>
      <p:sp>
        <p:nvSpPr>
          <p:cNvPr id="18" name="Shape 16"/>
          <p:cNvSpPr/>
          <p:nvPr/>
        </p:nvSpPr>
        <p:spPr>
          <a:xfrm>
            <a:off x="475488" y="2697480"/>
            <a:ext cx="5504688" cy="3438144"/>
          </a:xfrm>
          <a:prstGeom prst="roundRect">
            <a:avLst>
              <a:gd name="adj" fmla="val 1064"/>
            </a:avLst>
          </a:prstGeom>
          <a:solidFill>
            <a:srgbClr val="FFFFFF"/>
          </a:solidFill>
          <a:ln w="10160">
            <a:solidFill>
              <a:srgbClr val="D7DEE6"/>
            </a:solidFill>
            <a:prstDash val="solid"/>
          </a:ln>
        </p:spPr>
        <p:txBody>
          <a:bodyPr/>
          <a:lstStyle/>
          <a:p>
            <a:endParaRPr lang="en-US"/>
          </a:p>
        </p:txBody>
      </p:sp>
      <p:pic>
        <p:nvPicPr>
          <p:cNvPr id="19" name="Image 0" descr="/mnt/data/04_confidence_distribution(1).png"/>
          <p:cNvPicPr>
            <a:picLocks noChangeAspect="1"/>
          </p:cNvPicPr>
          <p:nvPr/>
        </p:nvPicPr>
        <p:blipFill>
          <a:blip r:embed="rId3"/>
          <a:stretch>
            <a:fillRect/>
          </a:stretch>
        </p:blipFill>
        <p:spPr>
          <a:xfrm>
            <a:off x="564983" y="2743200"/>
            <a:ext cx="5325697" cy="3346704"/>
          </a:xfrm>
          <a:prstGeom prst="rect">
            <a:avLst/>
          </a:prstGeom>
        </p:spPr>
      </p:pic>
      <p:sp>
        <p:nvSpPr>
          <p:cNvPr id="20" name="Shape 17"/>
          <p:cNvSpPr/>
          <p:nvPr/>
        </p:nvSpPr>
        <p:spPr>
          <a:xfrm>
            <a:off x="6217920" y="2697480"/>
            <a:ext cx="5504688" cy="3438144"/>
          </a:xfrm>
          <a:prstGeom prst="roundRect">
            <a:avLst>
              <a:gd name="adj" fmla="val 1064"/>
            </a:avLst>
          </a:prstGeom>
          <a:solidFill>
            <a:srgbClr val="FFFFFF"/>
          </a:solidFill>
          <a:ln w="10160">
            <a:solidFill>
              <a:srgbClr val="D7DEE6"/>
            </a:solidFill>
            <a:prstDash val="solid"/>
          </a:ln>
        </p:spPr>
        <p:txBody>
          <a:bodyPr/>
          <a:lstStyle/>
          <a:p>
            <a:endParaRPr lang="en-US"/>
          </a:p>
        </p:txBody>
      </p:sp>
      <p:pic>
        <p:nvPicPr>
          <p:cNvPr id="21" name="Image 1" descr="/mnt/data/05_performance_signal(1).png"/>
          <p:cNvPicPr>
            <a:picLocks noChangeAspect="1"/>
          </p:cNvPicPr>
          <p:nvPr/>
        </p:nvPicPr>
        <p:blipFill>
          <a:blip r:embed="rId4"/>
          <a:stretch>
            <a:fillRect/>
          </a:stretch>
        </p:blipFill>
        <p:spPr>
          <a:xfrm>
            <a:off x="6546141" y="2743200"/>
            <a:ext cx="4848245" cy="3346704"/>
          </a:xfrm>
          <a:prstGeom prst="rect">
            <a:avLst/>
          </a:prstGeom>
        </p:spPr>
      </p:pic>
      <p:sp>
        <p:nvSpPr>
          <p:cNvPr id="25" name="Slide Number Placeholder 0"/>
          <p:cNvSpPr>
            <a:spLocks noGrp="1"/>
          </p:cNvSpPr>
          <p:nvPr>
            <p:ph type="sldNum" sz="quarter" idx="4294967295"/>
          </p:nvPr>
        </p:nvSpPr>
        <p:spPr>
          <a:xfrm>
            <a:off x="11823192" y="6492240"/>
            <a:ext cx="201168"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6B7785"/>
                </a:solidFill>
                <a:latin typeface="Aptos"/>
                <a:ea typeface="Aptos"/>
                <a:cs typeface="Aptos"/>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75488" y="274320"/>
            <a:ext cx="11064240" cy="365760"/>
          </a:xfrm>
          <a:prstGeom prst="rect">
            <a:avLst/>
          </a:prstGeom>
          <a:noFill/>
          <a:ln/>
        </p:spPr>
        <p:txBody>
          <a:bodyPr wrap="square" lIns="0" tIns="0" rIns="0" bIns="0" rtlCol="0" anchor="ctr"/>
          <a:lstStyle/>
          <a:p>
            <a:pPr marL="0" indent="0">
              <a:buNone/>
            </a:pPr>
            <a:r>
              <a:rPr lang="en-US" sz="2400" b="1" dirty="0">
                <a:solidFill>
                  <a:srgbClr val="1E2A35"/>
                </a:solidFill>
                <a:latin typeface="Aptos Display" pitchFamily="34" charset="0"/>
                <a:ea typeface="Aptos Display" pitchFamily="34" charset="-122"/>
                <a:cs typeface="Aptos Display" pitchFamily="34" charset="-120"/>
              </a:rPr>
              <a:t>Environment categories associated with structured-score quartiles</a:t>
            </a:r>
            <a:endParaRPr lang="en-US" sz="2400" dirty="0"/>
          </a:p>
        </p:txBody>
      </p:sp>
      <p:sp>
        <p:nvSpPr>
          <p:cNvPr id="3" name="Text 1"/>
          <p:cNvSpPr/>
          <p:nvPr/>
        </p:nvSpPr>
        <p:spPr>
          <a:xfrm>
            <a:off x="484632" y="694944"/>
            <a:ext cx="11064240" cy="320040"/>
          </a:xfrm>
          <a:prstGeom prst="rect">
            <a:avLst/>
          </a:prstGeom>
          <a:noFill/>
          <a:ln/>
        </p:spPr>
        <p:txBody>
          <a:bodyPr wrap="square" lIns="0" tIns="0" rIns="0" bIns="0" rtlCol="0" anchor="ctr"/>
          <a:lstStyle/>
          <a:p>
            <a:pPr marL="0" indent="0">
              <a:buNone/>
            </a:pPr>
            <a:r>
              <a:rPr lang="en-US" sz="1150" dirty="0">
                <a:solidFill>
                  <a:srgbClr val="5D6976"/>
                </a:solidFill>
                <a:latin typeface="Aptos" pitchFamily="34" charset="0"/>
                <a:ea typeface="Aptos" pitchFamily="34" charset="-122"/>
                <a:cs typeface="Aptos" pitchFamily="34" charset="-120"/>
              </a:rPr>
              <a:t>Odds ratio: presence in high-score evaluations versus low-score evaluations</a:t>
            </a:r>
            <a:endParaRPr lang="en-US" sz="1150" dirty="0"/>
          </a:p>
        </p:txBody>
      </p:sp>
      <p:sp>
        <p:nvSpPr>
          <p:cNvPr id="4" name="Shape 2"/>
          <p:cNvSpPr/>
          <p:nvPr/>
        </p:nvSpPr>
        <p:spPr>
          <a:xfrm>
            <a:off x="475488" y="1005840"/>
            <a:ext cx="11247120" cy="530352"/>
          </a:xfrm>
          <a:prstGeom prst="roundRect">
            <a:avLst>
              <a:gd name="adj" fmla="val 13793"/>
            </a:avLst>
          </a:prstGeom>
          <a:solidFill>
            <a:srgbClr val="FBF5E9"/>
          </a:solidFill>
          <a:ln w="10160">
            <a:solidFill>
              <a:srgbClr val="D7E6EF"/>
            </a:solidFill>
            <a:prstDash val="solid"/>
          </a:ln>
        </p:spPr>
        <p:txBody>
          <a:bodyPr/>
          <a:lstStyle/>
          <a:p>
            <a:endParaRPr lang="en-US"/>
          </a:p>
        </p:txBody>
      </p:sp>
      <p:sp>
        <p:nvSpPr>
          <p:cNvPr id="5" name="Text 3"/>
          <p:cNvSpPr/>
          <p:nvPr/>
        </p:nvSpPr>
        <p:spPr>
          <a:xfrm>
            <a:off x="658368" y="1152144"/>
            <a:ext cx="10881360" cy="237744"/>
          </a:xfrm>
          <a:prstGeom prst="rect">
            <a:avLst/>
          </a:prstGeom>
          <a:noFill/>
          <a:ln/>
        </p:spPr>
        <p:txBody>
          <a:bodyPr wrap="square" lIns="0" tIns="0" rIns="0" bIns="0" rtlCol="0" anchor="ctr"/>
          <a:lstStyle/>
          <a:p>
            <a:pPr marL="0" indent="0">
              <a:buNone/>
            </a:pPr>
            <a:r>
              <a:rPr lang="en-US" sz="1150" b="1" dirty="0">
                <a:solidFill>
                  <a:srgbClr val="163A5F"/>
                </a:solidFill>
                <a:latin typeface="Aptos" pitchFamily="34" charset="0"/>
                <a:ea typeface="Aptos" pitchFamily="34" charset="-122"/>
                <a:cs typeface="Aptos" pitchFamily="34" charset="-120"/>
              </a:rPr>
              <a:t>Key message: </a:t>
            </a:r>
            <a:r>
              <a:rPr lang="en-US" sz="1150" dirty="0">
                <a:solidFill>
                  <a:srgbClr val="1E2A35"/>
                </a:solidFill>
                <a:latin typeface="Aptos" pitchFamily="34" charset="0"/>
                <a:ea typeface="Aptos" pitchFamily="34" charset="-122"/>
                <a:cs typeface="Aptos" pitchFamily="34" charset="-120"/>
              </a:rPr>
              <a:t>Several environment categories are enriched in low-score evaluations, especially equity/discrimination climate, workflow barriers, workload/complexity, wellbeing strain, and “no explicit feature.”</a:t>
            </a:r>
            <a:endParaRPr lang="en-US" sz="1150" dirty="0"/>
          </a:p>
        </p:txBody>
      </p:sp>
      <p:sp>
        <p:nvSpPr>
          <p:cNvPr id="6" name="Shape 4"/>
          <p:cNvSpPr/>
          <p:nvPr/>
        </p:nvSpPr>
        <p:spPr>
          <a:xfrm>
            <a:off x="475488"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7" name="Shape 5"/>
          <p:cNvSpPr/>
          <p:nvPr/>
        </p:nvSpPr>
        <p:spPr>
          <a:xfrm>
            <a:off x="475488" y="1682496"/>
            <a:ext cx="64008" cy="850392"/>
          </a:xfrm>
          <a:prstGeom prst="rect">
            <a:avLst/>
          </a:prstGeom>
          <a:solidFill>
            <a:srgbClr val="2A6F9E"/>
          </a:solidFill>
          <a:ln w="12700">
            <a:solidFill>
              <a:srgbClr val="2A6F9E"/>
            </a:solidFill>
            <a:prstDash val="solid"/>
          </a:ln>
        </p:spPr>
        <p:txBody>
          <a:bodyPr/>
          <a:lstStyle/>
          <a:p>
            <a:endParaRPr lang="en-US"/>
          </a:p>
        </p:txBody>
      </p:sp>
      <p:sp>
        <p:nvSpPr>
          <p:cNvPr id="8" name="Text 6"/>
          <p:cNvSpPr/>
          <p:nvPr/>
        </p:nvSpPr>
        <p:spPr>
          <a:xfrm>
            <a:off x="640080" y="1783080"/>
            <a:ext cx="3401568" cy="182880"/>
          </a:xfrm>
          <a:prstGeom prst="rect">
            <a:avLst/>
          </a:prstGeom>
          <a:noFill/>
          <a:ln/>
        </p:spPr>
        <p:txBody>
          <a:bodyPr wrap="square" lIns="0" tIns="0" rIns="0" bIns="0" rtlCol="0" anchor="ctr"/>
          <a:lstStyle/>
          <a:p>
            <a:pPr marL="0" indent="0">
              <a:buNone/>
            </a:pPr>
            <a:r>
              <a:rPr lang="en-US" sz="850" b="1" kern="0" spc="40" dirty="0">
                <a:solidFill>
                  <a:srgbClr val="2A6F9E"/>
                </a:solidFill>
                <a:latin typeface="Aptos" pitchFamily="34" charset="0"/>
                <a:ea typeface="Aptos" pitchFamily="34" charset="-122"/>
                <a:cs typeface="Aptos" pitchFamily="34" charset="-120"/>
              </a:rPr>
              <a:t>INPUT</a:t>
            </a:r>
            <a:endParaRPr lang="en-US" sz="850" dirty="0"/>
          </a:p>
        </p:txBody>
      </p:sp>
      <p:sp>
        <p:nvSpPr>
          <p:cNvPr id="9" name="Text 7"/>
          <p:cNvSpPr/>
          <p:nvPr/>
        </p:nvSpPr>
        <p:spPr>
          <a:xfrm>
            <a:off x="640080"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Evaluation events split into higher- versus lower-structured-score groups.</a:t>
            </a:r>
            <a:endParaRPr lang="en-US" sz="1030" dirty="0"/>
          </a:p>
        </p:txBody>
      </p:sp>
      <p:sp>
        <p:nvSpPr>
          <p:cNvPr id="10" name="Shape 8"/>
          <p:cNvSpPr/>
          <p:nvPr/>
        </p:nvSpPr>
        <p:spPr>
          <a:xfrm>
            <a:off x="4261104"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11" name="Shape 9"/>
          <p:cNvSpPr/>
          <p:nvPr/>
        </p:nvSpPr>
        <p:spPr>
          <a:xfrm>
            <a:off x="4261104" y="1682496"/>
            <a:ext cx="64008" cy="850392"/>
          </a:xfrm>
          <a:prstGeom prst="rect">
            <a:avLst/>
          </a:prstGeom>
          <a:solidFill>
            <a:srgbClr val="2B8C87"/>
          </a:solidFill>
          <a:ln w="12700">
            <a:solidFill>
              <a:srgbClr val="2B8C87"/>
            </a:solidFill>
            <a:prstDash val="solid"/>
          </a:ln>
        </p:spPr>
        <p:txBody>
          <a:bodyPr/>
          <a:lstStyle/>
          <a:p>
            <a:endParaRPr lang="en-US"/>
          </a:p>
        </p:txBody>
      </p:sp>
      <p:sp>
        <p:nvSpPr>
          <p:cNvPr id="12" name="Text 10"/>
          <p:cNvSpPr/>
          <p:nvPr/>
        </p:nvSpPr>
        <p:spPr>
          <a:xfrm>
            <a:off x="4425696" y="1783080"/>
            <a:ext cx="3401568" cy="182880"/>
          </a:xfrm>
          <a:prstGeom prst="rect">
            <a:avLst/>
          </a:prstGeom>
          <a:noFill/>
          <a:ln/>
        </p:spPr>
        <p:txBody>
          <a:bodyPr wrap="square" lIns="0" tIns="0" rIns="0" bIns="0" rtlCol="0" anchor="ctr"/>
          <a:lstStyle/>
          <a:p>
            <a:pPr marL="0" indent="0">
              <a:buNone/>
            </a:pPr>
            <a:r>
              <a:rPr lang="en-US" sz="850" b="1" kern="0" spc="40" dirty="0">
                <a:solidFill>
                  <a:srgbClr val="2B8C87"/>
                </a:solidFill>
                <a:latin typeface="Aptos" pitchFamily="34" charset="0"/>
                <a:ea typeface="Aptos" pitchFamily="34" charset="-122"/>
                <a:cs typeface="Aptos" pitchFamily="34" charset="-120"/>
              </a:rPr>
              <a:t>OUTPUT</a:t>
            </a:r>
            <a:endParaRPr lang="en-US" sz="850" dirty="0"/>
          </a:p>
        </p:txBody>
      </p:sp>
      <p:sp>
        <p:nvSpPr>
          <p:cNvPr id="13" name="Text 11"/>
          <p:cNvSpPr/>
          <p:nvPr/>
        </p:nvSpPr>
        <p:spPr>
          <a:xfrm>
            <a:off x="4425696"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Odds ratios with uncertainty intervals for each environment category.</a:t>
            </a:r>
            <a:endParaRPr lang="en-US" sz="1030" dirty="0"/>
          </a:p>
        </p:txBody>
      </p:sp>
      <p:sp>
        <p:nvSpPr>
          <p:cNvPr id="14" name="Shape 12"/>
          <p:cNvSpPr/>
          <p:nvPr/>
        </p:nvSpPr>
        <p:spPr>
          <a:xfrm>
            <a:off x="8046720"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15" name="Shape 13"/>
          <p:cNvSpPr/>
          <p:nvPr/>
        </p:nvSpPr>
        <p:spPr>
          <a:xfrm>
            <a:off x="8046720" y="1682496"/>
            <a:ext cx="64008" cy="850392"/>
          </a:xfrm>
          <a:prstGeom prst="rect">
            <a:avLst/>
          </a:prstGeom>
          <a:solidFill>
            <a:srgbClr val="D49A35"/>
          </a:solidFill>
          <a:ln w="12700">
            <a:solidFill>
              <a:srgbClr val="D49A35"/>
            </a:solidFill>
            <a:prstDash val="solid"/>
          </a:ln>
        </p:spPr>
        <p:txBody>
          <a:bodyPr/>
          <a:lstStyle/>
          <a:p>
            <a:endParaRPr lang="en-US"/>
          </a:p>
        </p:txBody>
      </p:sp>
      <p:sp>
        <p:nvSpPr>
          <p:cNvPr id="16" name="Text 14"/>
          <p:cNvSpPr/>
          <p:nvPr/>
        </p:nvSpPr>
        <p:spPr>
          <a:xfrm>
            <a:off x="8211312" y="1783080"/>
            <a:ext cx="3401568" cy="182880"/>
          </a:xfrm>
          <a:prstGeom prst="rect">
            <a:avLst/>
          </a:prstGeom>
          <a:noFill/>
          <a:ln/>
        </p:spPr>
        <p:txBody>
          <a:bodyPr wrap="square" lIns="0" tIns="0" rIns="0" bIns="0" rtlCol="0" anchor="ctr"/>
          <a:lstStyle/>
          <a:p>
            <a:pPr marL="0" indent="0">
              <a:buNone/>
            </a:pPr>
            <a:r>
              <a:rPr lang="en-US" sz="850" b="1" kern="0" spc="40" dirty="0">
                <a:solidFill>
                  <a:srgbClr val="D49A35"/>
                </a:solidFill>
                <a:latin typeface="Aptos" pitchFamily="34" charset="0"/>
                <a:ea typeface="Aptos" pitchFamily="34" charset="-122"/>
                <a:cs typeface="Aptos" pitchFamily="34" charset="-120"/>
              </a:rPr>
              <a:t>HOW TO INTERPRET</a:t>
            </a:r>
            <a:endParaRPr lang="en-US" sz="850" dirty="0"/>
          </a:p>
        </p:txBody>
      </p:sp>
      <p:sp>
        <p:nvSpPr>
          <p:cNvPr id="17" name="Text 15"/>
          <p:cNvSpPr/>
          <p:nvPr/>
        </p:nvSpPr>
        <p:spPr>
          <a:xfrm>
            <a:off x="8211312"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OR &gt; 1 means the label is more common in high-score events; OR &lt; 1 means it is more common in low-score events. If the interval crosses 1, the difference is uncertain.</a:t>
            </a:r>
            <a:endParaRPr lang="en-US" sz="1030" dirty="0"/>
          </a:p>
        </p:txBody>
      </p:sp>
      <p:sp>
        <p:nvSpPr>
          <p:cNvPr id="18" name="Shape 16"/>
          <p:cNvSpPr/>
          <p:nvPr/>
        </p:nvSpPr>
        <p:spPr>
          <a:xfrm>
            <a:off x="475488" y="2670048"/>
            <a:ext cx="11247120" cy="3547872"/>
          </a:xfrm>
          <a:prstGeom prst="roundRect">
            <a:avLst>
              <a:gd name="adj" fmla="val 1031"/>
            </a:avLst>
          </a:prstGeom>
          <a:solidFill>
            <a:srgbClr val="FFFFFF"/>
          </a:solidFill>
          <a:ln w="10160">
            <a:solidFill>
              <a:srgbClr val="D7DEE6"/>
            </a:solidFill>
            <a:prstDash val="solid"/>
          </a:ln>
        </p:spPr>
        <p:txBody>
          <a:bodyPr/>
          <a:lstStyle/>
          <a:p>
            <a:endParaRPr lang="en-US"/>
          </a:p>
        </p:txBody>
      </p:sp>
      <p:pic>
        <p:nvPicPr>
          <p:cNvPr id="19" name="Image 0" descr="/mnt/data/06_high_vs_low_score_odds_ratios(1).png"/>
          <p:cNvPicPr>
            <a:picLocks noChangeAspect="1"/>
          </p:cNvPicPr>
          <p:nvPr/>
        </p:nvPicPr>
        <p:blipFill>
          <a:blip r:embed="rId3"/>
          <a:stretch>
            <a:fillRect/>
          </a:stretch>
        </p:blipFill>
        <p:spPr>
          <a:xfrm>
            <a:off x="3216812" y="2715768"/>
            <a:ext cx="5764473" cy="3456432"/>
          </a:xfrm>
          <a:prstGeom prst="rect">
            <a:avLst/>
          </a:prstGeom>
        </p:spPr>
      </p:pic>
      <p:sp>
        <p:nvSpPr>
          <p:cNvPr id="25" name="Slide Number Placeholder 0"/>
          <p:cNvSpPr>
            <a:spLocks noGrp="1"/>
          </p:cNvSpPr>
          <p:nvPr>
            <p:ph type="sldNum" sz="quarter" idx="4294967295"/>
          </p:nvPr>
        </p:nvSpPr>
        <p:spPr>
          <a:xfrm>
            <a:off x="11823192" y="6492240"/>
            <a:ext cx="201168"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6B7785"/>
                </a:solidFill>
                <a:latin typeface="Aptos"/>
                <a:ea typeface="Aptos"/>
                <a:cs typeface="Aptos"/>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75488" y="274320"/>
            <a:ext cx="11064240" cy="365760"/>
          </a:xfrm>
          <a:prstGeom prst="rect">
            <a:avLst/>
          </a:prstGeom>
          <a:noFill/>
          <a:ln/>
        </p:spPr>
        <p:txBody>
          <a:bodyPr wrap="square" lIns="0" tIns="0" rIns="0" bIns="0" rtlCol="0" anchor="ctr"/>
          <a:lstStyle/>
          <a:p>
            <a:pPr marL="0" indent="0">
              <a:buNone/>
            </a:pPr>
            <a:r>
              <a:rPr lang="en-US" sz="2400" b="1" dirty="0">
                <a:solidFill>
                  <a:srgbClr val="1E2A35"/>
                </a:solidFill>
                <a:latin typeface="Aptos Display" pitchFamily="34" charset="0"/>
                <a:ea typeface="Aptos Display" pitchFamily="34" charset="-122"/>
                <a:cs typeface="Aptos Display" pitchFamily="34" charset="-120"/>
              </a:rPr>
              <a:t>Learning-environment category co-occurrence</a:t>
            </a:r>
            <a:endParaRPr lang="en-US" sz="2400" dirty="0"/>
          </a:p>
        </p:txBody>
      </p:sp>
      <p:sp>
        <p:nvSpPr>
          <p:cNvPr id="3" name="Text 1"/>
          <p:cNvSpPr/>
          <p:nvPr/>
        </p:nvSpPr>
        <p:spPr>
          <a:xfrm>
            <a:off x="484632" y="694944"/>
            <a:ext cx="11064240" cy="320040"/>
          </a:xfrm>
          <a:prstGeom prst="rect">
            <a:avLst/>
          </a:prstGeom>
          <a:noFill/>
          <a:ln/>
        </p:spPr>
        <p:txBody>
          <a:bodyPr wrap="square" lIns="0" tIns="0" rIns="0" bIns="0" rtlCol="0" anchor="ctr"/>
          <a:lstStyle/>
          <a:p>
            <a:pPr marL="0" indent="0">
              <a:buNone/>
            </a:pPr>
            <a:r>
              <a:rPr lang="en-US" sz="1150" dirty="0">
                <a:solidFill>
                  <a:srgbClr val="5D6976"/>
                </a:solidFill>
                <a:latin typeface="Aptos" pitchFamily="34" charset="0"/>
                <a:ea typeface="Aptos" pitchFamily="34" charset="-122"/>
                <a:cs typeface="Aptos" pitchFamily="34" charset="-120"/>
              </a:rPr>
              <a:t>Which environment features tend to be mentioned together?</a:t>
            </a:r>
            <a:endParaRPr lang="en-US" sz="1150" dirty="0"/>
          </a:p>
        </p:txBody>
      </p:sp>
      <p:sp>
        <p:nvSpPr>
          <p:cNvPr id="4" name="Shape 2"/>
          <p:cNvSpPr/>
          <p:nvPr/>
        </p:nvSpPr>
        <p:spPr>
          <a:xfrm>
            <a:off x="475488" y="1005840"/>
            <a:ext cx="11247120" cy="530352"/>
          </a:xfrm>
          <a:prstGeom prst="roundRect">
            <a:avLst>
              <a:gd name="adj" fmla="val 13793"/>
            </a:avLst>
          </a:prstGeom>
          <a:solidFill>
            <a:srgbClr val="EDF7F5"/>
          </a:solidFill>
          <a:ln w="10160">
            <a:solidFill>
              <a:srgbClr val="D7E6EF"/>
            </a:solidFill>
            <a:prstDash val="solid"/>
          </a:ln>
        </p:spPr>
        <p:txBody>
          <a:bodyPr/>
          <a:lstStyle/>
          <a:p>
            <a:endParaRPr lang="en-US"/>
          </a:p>
        </p:txBody>
      </p:sp>
      <p:sp>
        <p:nvSpPr>
          <p:cNvPr id="5" name="Text 3"/>
          <p:cNvSpPr/>
          <p:nvPr/>
        </p:nvSpPr>
        <p:spPr>
          <a:xfrm>
            <a:off x="658368" y="1152144"/>
            <a:ext cx="10881360" cy="237744"/>
          </a:xfrm>
          <a:prstGeom prst="rect">
            <a:avLst/>
          </a:prstGeom>
          <a:noFill/>
          <a:ln/>
        </p:spPr>
        <p:txBody>
          <a:bodyPr wrap="square" lIns="0" tIns="0" rIns="0" bIns="0" rtlCol="0" anchor="ctr"/>
          <a:lstStyle/>
          <a:p>
            <a:pPr marL="0" indent="0">
              <a:buNone/>
            </a:pPr>
            <a:r>
              <a:rPr lang="en-US" sz="1150" b="1" dirty="0">
                <a:solidFill>
                  <a:srgbClr val="163A5F"/>
                </a:solidFill>
                <a:latin typeface="Aptos" pitchFamily="34" charset="0"/>
                <a:ea typeface="Aptos" pitchFamily="34" charset="-122"/>
                <a:cs typeface="Aptos" pitchFamily="34" charset="-120"/>
              </a:rPr>
              <a:t>Key message: </a:t>
            </a:r>
            <a:r>
              <a:rPr lang="en-US" sz="1150" dirty="0">
                <a:solidFill>
                  <a:srgbClr val="1E2A35"/>
                </a:solidFill>
                <a:latin typeface="Aptos" pitchFamily="34" charset="0"/>
                <a:ea typeface="Aptos" pitchFamily="34" charset="-122"/>
                <a:cs typeface="Aptos" pitchFamily="34" charset="-120"/>
              </a:rPr>
              <a:t>The learning environment is multi-factorial: feedback/mentorship, teaching infrastructure, psychological safety, workload, wellbeing, and supervision frequently appear in the same events.</a:t>
            </a:r>
            <a:endParaRPr lang="en-US" sz="1150" dirty="0"/>
          </a:p>
        </p:txBody>
      </p:sp>
      <p:sp>
        <p:nvSpPr>
          <p:cNvPr id="6" name="Shape 4"/>
          <p:cNvSpPr/>
          <p:nvPr/>
        </p:nvSpPr>
        <p:spPr>
          <a:xfrm>
            <a:off x="475488"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7" name="Shape 5"/>
          <p:cNvSpPr/>
          <p:nvPr/>
        </p:nvSpPr>
        <p:spPr>
          <a:xfrm>
            <a:off x="475488" y="1682496"/>
            <a:ext cx="64008" cy="850392"/>
          </a:xfrm>
          <a:prstGeom prst="rect">
            <a:avLst/>
          </a:prstGeom>
          <a:solidFill>
            <a:srgbClr val="2A6F9E"/>
          </a:solidFill>
          <a:ln w="12700">
            <a:solidFill>
              <a:srgbClr val="2A6F9E"/>
            </a:solidFill>
            <a:prstDash val="solid"/>
          </a:ln>
        </p:spPr>
        <p:txBody>
          <a:bodyPr/>
          <a:lstStyle/>
          <a:p>
            <a:endParaRPr lang="en-US"/>
          </a:p>
        </p:txBody>
      </p:sp>
      <p:sp>
        <p:nvSpPr>
          <p:cNvPr id="8" name="Text 6"/>
          <p:cNvSpPr/>
          <p:nvPr/>
        </p:nvSpPr>
        <p:spPr>
          <a:xfrm>
            <a:off x="640080" y="1783080"/>
            <a:ext cx="3401568" cy="182880"/>
          </a:xfrm>
          <a:prstGeom prst="rect">
            <a:avLst/>
          </a:prstGeom>
          <a:noFill/>
          <a:ln/>
        </p:spPr>
        <p:txBody>
          <a:bodyPr wrap="square" lIns="0" tIns="0" rIns="0" bIns="0" rtlCol="0" anchor="ctr"/>
          <a:lstStyle/>
          <a:p>
            <a:pPr marL="0" indent="0">
              <a:buNone/>
            </a:pPr>
            <a:r>
              <a:rPr lang="en-US" sz="850" b="1" kern="0" spc="40" dirty="0">
                <a:solidFill>
                  <a:srgbClr val="2A6F9E"/>
                </a:solidFill>
                <a:latin typeface="Aptos" pitchFamily="34" charset="0"/>
                <a:ea typeface="Aptos" pitchFamily="34" charset="-122"/>
                <a:cs typeface="Aptos" pitchFamily="34" charset="-120"/>
              </a:rPr>
              <a:t>INPUT</a:t>
            </a:r>
            <a:endParaRPr lang="en-US" sz="850" dirty="0"/>
          </a:p>
        </p:txBody>
      </p:sp>
      <p:sp>
        <p:nvSpPr>
          <p:cNvPr id="9" name="Text 7"/>
          <p:cNvSpPr/>
          <p:nvPr/>
        </p:nvSpPr>
        <p:spPr>
          <a:xfrm>
            <a:off x="640080"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Pairs of environment labels within the same evaluation event.</a:t>
            </a:r>
            <a:endParaRPr lang="en-US" sz="1030" dirty="0"/>
          </a:p>
        </p:txBody>
      </p:sp>
      <p:sp>
        <p:nvSpPr>
          <p:cNvPr id="10" name="Shape 8"/>
          <p:cNvSpPr/>
          <p:nvPr/>
        </p:nvSpPr>
        <p:spPr>
          <a:xfrm>
            <a:off x="4261104"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11" name="Shape 9"/>
          <p:cNvSpPr/>
          <p:nvPr/>
        </p:nvSpPr>
        <p:spPr>
          <a:xfrm>
            <a:off x="4261104" y="1682496"/>
            <a:ext cx="64008" cy="850392"/>
          </a:xfrm>
          <a:prstGeom prst="rect">
            <a:avLst/>
          </a:prstGeom>
          <a:solidFill>
            <a:srgbClr val="2B8C87"/>
          </a:solidFill>
          <a:ln w="12700">
            <a:solidFill>
              <a:srgbClr val="2B8C87"/>
            </a:solidFill>
            <a:prstDash val="solid"/>
          </a:ln>
        </p:spPr>
        <p:txBody>
          <a:bodyPr/>
          <a:lstStyle/>
          <a:p>
            <a:endParaRPr lang="en-US"/>
          </a:p>
        </p:txBody>
      </p:sp>
      <p:sp>
        <p:nvSpPr>
          <p:cNvPr id="12" name="Text 10"/>
          <p:cNvSpPr/>
          <p:nvPr/>
        </p:nvSpPr>
        <p:spPr>
          <a:xfrm>
            <a:off x="4425696" y="1783080"/>
            <a:ext cx="3401568" cy="182880"/>
          </a:xfrm>
          <a:prstGeom prst="rect">
            <a:avLst/>
          </a:prstGeom>
          <a:noFill/>
          <a:ln/>
        </p:spPr>
        <p:txBody>
          <a:bodyPr wrap="square" lIns="0" tIns="0" rIns="0" bIns="0" rtlCol="0" anchor="ctr"/>
          <a:lstStyle/>
          <a:p>
            <a:pPr marL="0" indent="0">
              <a:buNone/>
            </a:pPr>
            <a:r>
              <a:rPr lang="en-US" sz="850" b="1" kern="0" spc="40" dirty="0">
                <a:solidFill>
                  <a:srgbClr val="2B8C87"/>
                </a:solidFill>
                <a:latin typeface="Aptos" pitchFamily="34" charset="0"/>
                <a:ea typeface="Aptos" pitchFamily="34" charset="-122"/>
                <a:cs typeface="Aptos" pitchFamily="34" charset="-120"/>
              </a:rPr>
              <a:t>OUTPUT</a:t>
            </a:r>
            <a:endParaRPr lang="en-US" sz="850" dirty="0"/>
          </a:p>
        </p:txBody>
      </p:sp>
      <p:sp>
        <p:nvSpPr>
          <p:cNvPr id="13" name="Text 11"/>
          <p:cNvSpPr/>
          <p:nvPr/>
        </p:nvSpPr>
        <p:spPr>
          <a:xfrm>
            <a:off x="4425696"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Percent of events in which each pair co-occurs.</a:t>
            </a:r>
            <a:endParaRPr lang="en-US" sz="1030" dirty="0"/>
          </a:p>
        </p:txBody>
      </p:sp>
      <p:sp>
        <p:nvSpPr>
          <p:cNvPr id="14" name="Shape 12"/>
          <p:cNvSpPr/>
          <p:nvPr/>
        </p:nvSpPr>
        <p:spPr>
          <a:xfrm>
            <a:off x="8046720"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15" name="Shape 13"/>
          <p:cNvSpPr/>
          <p:nvPr/>
        </p:nvSpPr>
        <p:spPr>
          <a:xfrm>
            <a:off x="8046720" y="1682496"/>
            <a:ext cx="64008" cy="850392"/>
          </a:xfrm>
          <a:prstGeom prst="rect">
            <a:avLst/>
          </a:prstGeom>
          <a:solidFill>
            <a:srgbClr val="D49A35"/>
          </a:solidFill>
          <a:ln w="12700">
            <a:solidFill>
              <a:srgbClr val="D49A35"/>
            </a:solidFill>
            <a:prstDash val="solid"/>
          </a:ln>
        </p:spPr>
        <p:txBody>
          <a:bodyPr/>
          <a:lstStyle/>
          <a:p>
            <a:endParaRPr lang="en-US"/>
          </a:p>
        </p:txBody>
      </p:sp>
      <p:sp>
        <p:nvSpPr>
          <p:cNvPr id="16" name="Text 14"/>
          <p:cNvSpPr/>
          <p:nvPr/>
        </p:nvSpPr>
        <p:spPr>
          <a:xfrm>
            <a:off x="8211312" y="1783080"/>
            <a:ext cx="3401568" cy="182880"/>
          </a:xfrm>
          <a:prstGeom prst="rect">
            <a:avLst/>
          </a:prstGeom>
          <a:noFill/>
          <a:ln/>
        </p:spPr>
        <p:txBody>
          <a:bodyPr wrap="square" lIns="0" tIns="0" rIns="0" bIns="0" rtlCol="0" anchor="ctr"/>
          <a:lstStyle/>
          <a:p>
            <a:pPr marL="0" indent="0">
              <a:buNone/>
            </a:pPr>
            <a:r>
              <a:rPr lang="en-US" sz="850" b="1" kern="0" spc="40" dirty="0">
                <a:solidFill>
                  <a:srgbClr val="D49A35"/>
                </a:solidFill>
                <a:latin typeface="Aptos" pitchFamily="34" charset="0"/>
                <a:ea typeface="Aptos" pitchFamily="34" charset="-122"/>
                <a:cs typeface="Aptos" pitchFamily="34" charset="-120"/>
              </a:rPr>
              <a:t>HOW TO INTERPRET</a:t>
            </a:r>
            <a:endParaRPr lang="en-US" sz="850" dirty="0"/>
          </a:p>
        </p:txBody>
      </p:sp>
      <p:sp>
        <p:nvSpPr>
          <p:cNvPr id="17" name="Text 15"/>
          <p:cNvSpPr/>
          <p:nvPr/>
        </p:nvSpPr>
        <p:spPr>
          <a:xfrm>
            <a:off x="8211312"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High co-occurrence means the two themes often travel together; it does not establish which theme drives the other.</a:t>
            </a:r>
            <a:endParaRPr lang="en-US" sz="1030" dirty="0"/>
          </a:p>
        </p:txBody>
      </p:sp>
      <p:sp>
        <p:nvSpPr>
          <p:cNvPr id="18" name="Shape 16"/>
          <p:cNvSpPr/>
          <p:nvPr/>
        </p:nvSpPr>
        <p:spPr>
          <a:xfrm>
            <a:off x="475488" y="2670048"/>
            <a:ext cx="11247120" cy="3547872"/>
          </a:xfrm>
          <a:prstGeom prst="roundRect">
            <a:avLst>
              <a:gd name="adj" fmla="val 1031"/>
            </a:avLst>
          </a:prstGeom>
          <a:solidFill>
            <a:srgbClr val="FFFFFF"/>
          </a:solidFill>
          <a:ln w="10160">
            <a:solidFill>
              <a:srgbClr val="D7DEE6"/>
            </a:solidFill>
            <a:prstDash val="solid"/>
          </a:ln>
        </p:spPr>
        <p:txBody>
          <a:bodyPr/>
          <a:lstStyle/>
          <a:p>
            <a:endParaRPr lang="en-US"/>
          </a:p>
        </p:txBody>
      </p:sp>
      <p:pic>
        <p:nvPicPr>
          <p:cNvPr id="19" name="Image 0" descr="/mnt/data/07_environment_cooccurrence(2).png"/>
          <p:cNvPicPr>
            <a:picLocks noChangeAspect="1"/>
          </p:cNvPicPr>
          <p:nvPr/>
        </p:nvPicPr>
        <p:blipFill>
          <a:blip r:embed="rId3"/>
          <a:stretch>
            <a:fillRect/>
          </a:stretch>
        </p:blipFill>
        <p:spPr>
          <a:xfrm>
            <a:off x="1969076" y="2715768"/>
            <a:ext cx="8259945" cy="3456432"/>
          </a:xfrm>
          <a:prstGeom prst="rect">
            <a:avLst/>
          </a:prstGeom>
        </p:spPr>
      </p:pic>
      <p:sp>
        <p:nvSpPr>
          <p:cNvPr id="25" name="Slide Number Placeholder 0"/>
          <p:cNvSpPr>
            <a:spLocks noGrp="1"/>
          </p:cNvSpPr>
          <p:nvPr>
            <p:ph type="sldNum" sz="quarter" idx="4294967295"/>
          </p:nvPr>
        </p:nvSpPr>
        <p:spPr>
          <a:xfrm>
            <a:off x="11823192" y="6492240"/>
            <a:ext cx="201168"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6B7785"/>
                </a:solidFill>
                <a:latin typeface="Aptos"/>
                <a:ea typeface="Aptos"/>
                <a:cs typeface="Aptos"/>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75488" y="274320"/>
            <a:ext cx="11064240" cy="365760"/>
          </a:xfrm>
          <a:prstGeom prst="rect">
            <a:avLst/>
          </a:prstGeom>
          <a:noFill/>
          <a:ln/>
        </p:spPr>
        <p:txBody>
          <a:bodyPr wrap="square" lIns="0" tIns="0" rIns="0" bIns="0" rtlCol="0" anchor="ctr"/>
          <a:lstStyle/>
          <a:p>
            <a:pPr marL="0" indent="0">
              <a:buNone/>
            </a:pPr>
            <a:r>
              <a:rPr lang="en-US" sz="2400" b="1" dirty="0">
                <a:solidFill>
                  <a:srgbClr val="1E2A35"/>
                </a:solidFill>
                <a:latin typeface="Aptos Display" pitchFamily="34" charset="0"/>
                <a:ea typeface="Aptos Display" pitchFamily="34" charset="-122"/>
                <a:cs typeface="Aptos Display" pitchFamily="34" charset="-120"/>
              </a:rPr>
              <a:t>Explicit sensitizing constructs</a:t>
            </a:r>
            <a:endParaRPr lang="en-US" sz="2400" dirty="0"/>
          </a:p>
        </p:txBody>
      </p:sp>
      <p:sp>
        <p:nvSpPr>
          <p:cNvPr id="3" name="Text 1"/>
          <p:cNvSpPr/>
          <p:nvPr/>
        </p:nvSpPr>
        <p:spPr>
          <a:xfrm>
            <a:off x="484632" y="694944"/>
            <a:ext cx="11064240" cy="320040"/>
          </a:xfrm>
          <a:prstGeom prst="rect">
            <a:avLst/>
          </a:prstGeom>
          <a:noFill/>
          <a:ln/>
        </p:spPr>
        <p:txBody>
          <a:bodyPr wrap="square" lIns="0" tIns="0" rIns="0" bIns="0" rtlCol="0" anchor="ctr"/>
          <a:lstStyle/>
          <a:p>
            <a:pPr marL="0" indent="0">
              <a:buNone/>
            </a:pPr>
            <a:r>
              <a:rPr lang="en-US" sz="1150" dirty="0">
                <a:solidFill>
                  <a:srgbClr val="5D6976"/>
                </a:solidFill>
                <a:latin typeface="Aptos" pitchFamily="34" charset="0"/>
                <a:ea typeface="Aptos" pitchFamily="34" charset="-122"/>
                <a:cs typeface="Aptos" pitchFamily="34" charset="-120"/>
              </a:rPr>
              <a:t>Which higher-level concepts are directly visible in the narratives?</a:t>
            </a:r>
            <a:endParaRPr lang="en-US" sz="1150" dirty="0"/>
          </a:p>
        </p:txBody>
      </p:sp>
      <p:sp>
        <p:nvSpPr>
          <p:cNvPr id="4" name="Shape 2"/>
          <p:cNvSpPr/>
          <p:nvPr/>
        </p:nvSpPr>
        <p:spPr>
          <a:xfrm>
            <a:off x="475488" y="1005840"/>
            <a:ext cx="11247120" cy="530352"/>
          </a:xfrm>
          <a:prstGeom prst="roundRect">
            <a:avLst>
              <a:gd name="adj" fmla="val 13793"/>
            </a:avLst>
          </a:prstGeom>
          <a:solidFill>
            <a:srgbClr val="EDF5FA"/>
          </a:solidFill>
          <a:ln w="10160">
            <a:solidFill>
              <a:srgbClr val="D7E6EF"/>
            </a:solidFill>
            <a:prstDash val="solid"/>
          </a:ln>
        </p:spPr>
        <p:txBody>
          <a:bodyPr/>
          <a:lstStyle/>
          <a:p>
            <a:endParaRPr lang="en-US"/>
          </a:p>
        </p:txBody>
      </p:sp>
      <p:sp>
        <p:nvSpPr>
          <p:cNvPr id="5" name="Text 3"/>
          <p:cNvSpPr/>
          <p:nvPr/>
        </p:nvSpPr>
        <p:spPr>
          <a:xfrm>
            <a:off x="658368" y="1152144"/>
            <a:ext cx="10881360" cy="237744"/>
          </a:xfrm>
          <a:prstGeom prst="rect">
            <a:avLst/>
          </a:prstGeom>
          <a:noFill/>
          <a:ln/>
        </p:spPr>
        <p:txBody>
          <a:bodyPr wrap="square" lIns="0" tIns="0" rIns="0" bIns="0" rtlCol="0" anchor="ctr"/>
          <a:lstStyle/>
          <a:p>
            <a:pPr marL="0" indent="0">
              <a:buNone/>
            </a:pPr>
            <a:r>
              <a:rPr lang="en-US" sz="1150" b="1" dirty="0">
                <a:solidFill>
                  <a:srgbClr val="163A5F"/>
                </a:solidFill>
                <a:latin typeface="Aptos" pitchFamily="34" charset="0"/>
                <a:ea typeface="Aptos" pitchFamily="34" charset="-122"/>
                <a:cs typeface="Aptos" pitchFamily="34" charset="-120"/>
              </a:rPr>
              <a:t>Key message: </a:t>
            </a:r>
            <a:r>
              <a:rPr lang="en-US" sz="1150" dirty="0">
                <a:solidFill>
                  <a:srgbClr val="1E2A35"/>
                </a:solidFill>
                <a:latin typeface="Aptos" pitchFamily="34" charset="0"/>
                <a:ea typeface="Aptos" pitchFamily="34" charset="-122"/>
                <a:cs typeface="Aptos" pitchFamily="34" charset="-120"/>
              </a:rPr>
              <a:t>Psychological safety and supervision availability dominate explicit constructs; workload/fatigue and wellbeing/burnout form a second tier.</a:t>
            </a:r>
            <a:endParaRPr lang="en-US" sz="1150" dirty="0"/>
          </a:p>
        </p:txBody>
      </p:sp>
      <p:sp>
        <p:nvSpPr>
          <p:cNvPr id="6" name="Shape 4"/>
          <p:cNvSpPr/>
          <p:nvPr/>
        </p:nvSpPr>
        <p:spPr>
          <a:xfrm>
            <a:off x="475488"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7" name="Shape 5"/>
          <p:cNvSpPr/>
          <p:nvPr/>
        </p:nvSpPr>
        <p:spPr>
          <a:xfrm>
            <a:off x="475488" y="1682496"/>
            <a:ext cx="64008" cy="850392"/>
          </a:xfrm>
          <a:prstGeom prst="rect">
            <a:avLst/>
          </a:prstGeom>
          <a:solidFill>
            <a:srgbClr val="2A6F9E"/>
          </a:solidFill>
          <a:ln w="12700">
            <a:solidFill>
              <a:srgbClr val="2A6F9E"/>
            </a:solidFill>
            <a:prstDash val="solid"/>
          </a:ln>
        </p:spPr>
        <p:txBody>
          <a:bodyPr/>
          <a:lstStyle/>
          <a:p>
            <a:endParaRPr lang="en-US"/>
          </a:p>
        </p:txBody>
      </p:sp>
      <p:sp>
        <p:nvSpPr>
          <p:cNvPr id="8" name="Text 6"/>
          <p:cNvSpPr/>
          <p:nvPr/>
        </p:nvSpPr>
        <p:spPr>
          <a:xfrm>
            <a:off x="640080" y="1783080"/>
            <a:ext cx="3401568" cy="182880"/>
          </a:xfrm>
          <a:prstGeom prst="rect">
            <a:avLst/>
          </a:prstGeom>
          <a:noFill/>
          <a:ln/>
        </p:spPr>
        <p:txBody>
          <a:bodyPr wrap="square" lIns="0" tIns="0" rIns="0" bIns="0" rtlCol="0" anchor="ctr"/>
          <a:lstStyle/>
          <a:p>
            <a:pPr marL="0" indent="0">
              <a:buNone/>
            </a:pPr>
            <a:r>
              <a:rPr lang="en-US" sz="850" b="1" kern="0" spc="40" dirty="0">
                <a:solidFill>
                  <a:srgbClr val="2A6F9E"/>
                </a:solidFill>
                <a:latin typeface="Aptos" pitchFamily="34" charset="0"/>
                <a:ea typeface="Aptos" pitchFamily="34" charset="-122"/>
                <a:cs typeface="Aptos" pitchFamily="34" charset="-120"/>
              </a:rPr>
              <a:t>INPUT</a:t>
            </a:r>
            <a:endParaRPr lang="en-US" sz="850" dirty="0"/>
          </a:p>
        </p:txBody>
      </p:sp>
      <p:sp>
        <p:nvSpPr>
          <p:cNvPr id="9" name="Text 7"/>
          <p:cNvSpPr/>
          <p:nvPr/>
        </p:nvSpPr>
        <p:spPr>
          <a:xfrm>
            <a:off x="640080"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Evaluation events searched for explicitly named sensitizing constructs.</a:t>
            </a:r>
            <a:endParaRPr lang="en-US" sz="1030" dirty="0"/>
          </a:p>
        </p:txBody>
      </p:sp>
      <p:sp>
        <p:nvSpPr>
          <p:cNvPr id="10" name="Shape 8"/>
          <p:cNvSpPr/>
          <p:nvPr/>
        </p:nvSpPr>
        <p:spPr>
          <a:xfrm>
            <a:off x="4261104"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11" name="Shape 9"/>
          <p:cNvSpPr/>
          <p:nvPr/>
        </p:nvSpPr>
        <p:spPr>
          <a:xfrm>
            <a:off x="4261104" y="1682496"/>
            <a:ext cx="64008" cy="850392"/>
          </a:xfrm>
          <a:prstGeom prst="rect">
            <a:avLst/>
          </a:prstGeom>
          <a:solidFill>
            <a:srgbClr val="2B8C87"/>
          </a:solidFill>
          <a:ln w="12700">
            <a:solidFill>
              <a:srgbClr val="2B8C87"/>
            </a:solidFill>
            <a:prstDash val="solid"/>
          </a:ln>
        </p:spPr>
        <p:txBody>
          <a:bodyPr/>
          <a:lstStyle/>
          <a:p>
            <a:endParaRPr lang="en-US"/>
          </a:p>
        </p:txBody>
      </p:sp>
      <p:sp>
        <p:nvSpPr>
          <p:cNvPr id="12" name="Text 10"/>
          <p:cNvSpPr/>
          <p:nvPr/>
        </p:nvSpPr>
        <p:spPr>
          <a:xfrm>
            <a:off x="4425696" y="1783080"/>
            <a:ext cx="3401568" cy="182880"/>
          </a:xfrm>
          <a:prstGeom prst="rect">
            <a:avLst/>
          </a:prstGeom>
          <a:noFill/>
          <a:ln/>
        </p:spPr>
        <p:txBody>
          <a:bodyPr wrap="square" lIns="0" tIns="0" rIns="0" bIns="0" rtlCol="0" anchor="ctr"/>
          <a:lstStyle/>
          <a:p>
            <a:pPr marL="0" indent="0">
              <a:buNone/>
            </a:pPr>
            <a:r>
              <a:rPr lang="en-US" sz="850" b="1" kern="0" spc="40" dirty="0">
                <a:solidFill>
                  <a:srgbClr val="2B8C87"/>
                </a:solidFill>
                <a:latin typeface="Aptos" pitchFamily="34" charset="0"/>
                <a:ea typeface="Aptos" pitchFamily="34" charset="-122"/>
                <a:cs typeface="Aptos" pitchFamily="34" charset="-120"/>
              </a:rPr>
              <a:t>OUTPUT</a:t>
            </a:r>
            <a:endParaRPr lang="en-US" sz="850" dirty="0"/>
          </a:p>
        </p:txBody>
      </p:sp>
      <p:sp>
        <p:nvSpPr>
          <p:cNvPr id="13" name="Text 11"/>
          <p:cNvSpPr/>
          <p:nvPr/>
        </p:nvSpPr>
        <p:spPr>
          <a:xfrm>
            <a:off x="4425696"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Percent of evaluation events in which each construct is explicitly mentioned.</a:t>
            </a:r>
            <a:endParaRPr lang="en-US" sz="1030" dirty="0"/>
          </a:p>
        </p:txBody>
      </p:sp>
      <p:sp>
        <p:nvSpPr>
          <p:cNvPr id="14" name="Shape 12"/>
          <p:cNvSpPr/>
          <p:nvPr/>
        </p:nvSpPr>
        <p:spPr>
          <a:xfrm>
            <a:off x="8046720"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15" name="Shape 13"/>
          <p:cNvSpPr/>
          <p:nvPr/>
        </p:nvSpPr>
        <p:spPr>
          <a:xfrm>
            <a:off x="8046720" y="1682496"/>
            <a:ext cx="64008" cy="850392"/>
          </a:xfrm>
          <a:prstGeom prst="rect">
            <a:avLst/>
          </a:prstGeom>
          <a:solidFill>
            <a:srgbClr val="D49A35"/>
          </a:solidFill>
          <a:ln w="12700">
            <a:solidFill>
              <a:srgbClr val="D49A35"/>
            </a:solidFill>
            <a:prstDash val="solid"/>
          </a:ln>
        </p:spPr>
        <p:txBody>
          <a:bodyPr/>
          <a:lstStyle/>
          <a:p>
            <a:endParaRPr lang="en-US"/>
          </a:p>
        </p:txBody>
      </p:sp>
      <p:sp>
        <p:nvSpPr>
          <p:cNvPr id="16" name="Text 14"/>
          <p:cNvSpPr/>
          <p:nvPr/>
        </p:nvSpPr>
        <p:spPr>
          <a:xfrm>
            <a:off x="8211312" y="1783080"/>
            <a:ext cx="3401568" cy="182880"/>
          </a:xfrm>
          <a:prstGeom prst="rect">
            <a:avLst/>
          </a:prstGeom>
          <a:noFill/>
          <a:ln/>
        </p:spPr>
        <p:txBody>
          <a:bodyPr wrap="square" lIns="0" tIns="0" rIns="0" bIns="0" rtlCol="0" anchor="ctr"/>
          <a:lstStyle/>
          <a:p>
            <a:pPr marL="0" indent="0">
              <a:buNone/>
            </a:pPr>
            <a:r>
              <a:rPr lang="en-US" sz="850" b="1" kern="0" spc="40" dirty="0">
                <a:solidFill>
                  <a:srgbClr val="D49A35"/>
                </a:solidFill>
                <a:latin typeface="Aptos" pitchFamily="34" charset="0"/>
                <a:ea typeface="Aptos" pitchFamily="34" charset="-122"/>
                <a:cs typeface="Aptos" pitchFamily="34" charset="-120"/>
              </a:rPr>
              <a:t>HOW TO INTERPRET</a:t>
            </a:r>
            <a:endParaRPr lang="en-US" sz="850" dirty="0"/>
          </a:p>
        </p:txBody>
      </p:sp>
      <p:sp>
        <p:nvSpPr>
          <p:cNvPr id="17" name="Text 15"/>
          <p:cNvSpPr/>
          <p:nvPr/>
        </p:nvSpPr>
        <p:spPr>
          <a:xfrm>
            <a:off x="8211312"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Higher prevalence shows what the narratives most often surface explicitly; low prevalence does not imply low importance.</a:t>
            </a:r>
            <a:endParaRPr lang="en-US" sz="1030" dirty="0"/>
          </a:p>
        </p:txBody>
      </p:sp>
      <p:sp>
        <p:nvSpPr>
          <p:cNvPr id="18" name="Shape 16"/>
          <p:cNvSpPr/>
          <p:nvPr/>
        </p:nvSpPr>
        <p:spPr>
          <a:xfrm>
            <a:off x="475488" y="2670048"/>
            <a:ext cx="11247120" cy="3547872"/>
          </a:xfrm>
          <a:prstGeom prst="roundRect">
            <a:avLst>
              <a:gd name="adj" fmla="val 1031"/>
            </a:avLst>
          </a:prstGeom>
          <a:solidFill>
            <a:srgbClr val="FFFFFF"/>
          </a:solidFill>
          <a:ln w="10160">
            <a:solidFill>
              <a:srgbClr val="D7DEE6"/>
            </a:solidFill>
            <a:prstDash val="solid"/>
          </a:ln>
        </p:spPr>
        <p:txBody>
          <a:bodyPr/>
          <a:lstStyle/>
          <a:p>
            <a:endParaRPr lang="en-US"/>
          </a:p>
        </p:txBody>
      </p:sp>
      <p:pic>
        <p:nvPicPr>
          <p:cNvPr id="19" name="Image 0" descr="/mnt/data/08_sensitizing_constructs(1).png"/>
          <p:cNvPicPr>
            <a:picLocks noChangeAspect="1"/>
          </p:cNvPicPr>
          <p:nvPr/>
        </p:nvPicPr>
        <p:blipFill>
          <a:blip r:embed="rId3"/>
          <a:stretch>
            <a:fillRect/>
          </a:stretch>
        </p:blipFill>
        <p:spPr>
          <a:xfrm>
            <a:off x="2997044" y="2726159"/>
            <a:ext cx="6204008" cy="3456432"/>
          </a:xfrm>
          <a:prstGeom prst="rect">
            <a:avLst/>
          </a:prstGeom>
        </p:spPr>
      </p:pic>
      <p:sp>
        <p:nvSpPr>
          <p:cNvPr id="25" name="Slide Number Placeholder 0"/>
          <p:cNvSpPr>
            <a:spLocks noGrp="1"/>
          </p:cNvSpPr>
          <p:nvPr>
            <p:ph type="sldNum" sz="quarter" idx="4294967295"/>
          </p:nvPr>
        </p:nvSpPr>
        <p:spPr>
          <a:xfrm>
            <a:off x="11823192" y="6492240"/>
            <a:ext cx="201168"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6B7785"/>
                </a:solidFill>
                <a:latin typeface="Aptos"/>
                <a:ea typeface="Aptos"/>
                <a:cs typeface="Aptos"/>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75488" y="274320"/>
            <a:ext cx="11064240" cy="365760"/>
          </a:xfrm>
          <a:prstGeom prst="rect">
            <a:avLst/>
          </a:prstGeom>
          <a:noFill/>
          <a:ln/>
        </p:spPr>
        <p:txBody>
          <a:bodyPr wrap="square" lIns="0" tIns="0" rIns="0" bIns="0" rtlCol="0" anchor="ctr"/>
          <a:lstStyle/>
          <a:p>
            <a:pPr marL="0" indent="0">
              <a:buNone/>
            </a:pPr>
            <a:r>
              <a:rPr lang="en-US" sz="2400" b="1" dirty="0">
                <a:solidFill>
                  <a:srgbClr val="1E2A35"/>
                </a:solidFill>
                <a:latin typeface="Aptos Display" pitchFamily="34" charset="0"/>
                <a:ea typeface="Aptos Display" pitchFamily="34" charset="-122"/>
                <a:cs typeface="Aptos Display" pitchFamily="34" charset="-120"/>
              </a:rPr>
              <a:t>Feedback quality by evaluation type</a:t>
            </a:r>
            <a:endParaRPr lang="en-US" sz="2400" dirty="0"/>
          </a:p>
        </p:txBody>
      </p:sp>
      <p:sp>
        <p:nvSpPr>
          <p:cNvPr id="3" name="Text 1"/>
          <p:cNvSpPr/>
          <p:nvPr/>
        </p:nvSpPr>
        <p:spPr>
          <a:xfrm>
            <a:off x="484632" y="694944"/>
            <a:ext cx="11064240" cy="320040"/>
          </a:xfrm>
          <a:prstGeom prst="rect">
            <a:avLst/>
          </a:prstGeom>
          <a:noFill/>
          <a:ln/>
        </p:spPr>
        <p:txBody>
          <a:bodyPr wrap="square" lIns="0" tIns="0" rIns="0" bIns="0" rtlCol="0" anchor="ctr"/>
          <a:lstStyle/>
          <a:p>
            <a:pPr marL="0" indent="0">
              <a:buNone/>
            </a:pPr>
            <a:r>
              <a:rPr lang="en-US" sz="1150" dirty="0">
                <a:solidFill>
                  <a:srgbClr val="5D6976"/>
                </a:solidFill>
                <a:latin typeface="Aptos" pitchFamily="34" charset="0"/>
                <a:ea typeface="Aptos" pitchFamily="34" charset="-122"/>
                <a:cs typeface="Aptos" pitchFamily="34" charset="-120"/>
              </a:rPr>
              <a:t>Model-rated specificity and actionability on a 1–5 scale</a:t>
            </a:r>
            <a:endParaRPr lang="en-US" sz="1150" dirty="0"/>
          </a:p>
        </p:txBody>
      </p:sp>
      <p:sp>
        <p:nvSpPr>
          <p:cNvPr id="4" name="Shape 2"/>
          <p:cNvSpPr/>
          <p:nvPr/>
        </p:nvSpPr>
        <p:spPr>
          <a:xfrm>
            <a:off x="475488" y="1005840"/>
            <a:ext cx="11247120" cy="530352"/>
          </a:xfrm>
          <a:prstGeom prst="roundRect">
            <a:avLst>
              <a:gd name="adj" fmla="val 13793"/>
            </a:avLst>
          </a:prstGeom>
          <a:solidFill>
            <a:srgbClr val="FBF5E9"/>
          </a:solidFill>
          <a:ln w="10160">
            <a:solidFill>
              <a:srgbClr val="D7E6EF"/>
            </a:solidFill>
            <a:prstDash val="solid"/>
          </a:ln>
        </p:spPr>
        <p:txBody>
          <a:bodyPr/>
          <a:lstStyle/>
          <a:p>
            <a:endParaRPr lang="en-US"/>
          </a:p>
        </p:txBody>
      </p:sp>
      <p:sp>
        <p:nvSpPr>
          <p:cNvPr id="5" name="Text 3"/>
          <p:cNvSpPr/>
          <p:nvPr/>
        </p:nvSpPr>
        <p:spPr>
          <a:xfrm>
            <a:off x="658368" y="1152144"/>
            <a:ext cx="10881360" cy="237744"/>
          </a:xfrm>
          <a:prstGeom prst="rect">
            <a:avLst/>
          </a:prstGeom>
          <a:noFill/>
          <a:ln/>
        </p:spPr>
        <p:txBody>
          <a:bodyPr wrap="square" lIns="0" tIns="0" rIns="0" bIns="0" rtlCol="0" anchor="ctr"/>
          <a:lstStyle/>
          <a:p>
            <a:pPr marL="0" indent="0">
              <a:buNone/>
            </a:pPr>
            <a:r>
              <a:rPr lang="en-US" sz="1150" b="1" dirty="0">
                <a:solidFill>
                  <a:srgbClr val="163A5F"/>
                </a:solidFill>
                <a:latin typeface="Aptos" pitchFamily="34" charset="0"/>
                <a:ea typeface="Aptos" pitchFamily="34" charset="-122"/>
                <a:cs typeface="Aptos" pitchFamily="34" charset="-120"/>
              </a:rPr>
              <a:t>Key message: </a:t>
            </a:r>
            <a:r>
              <a:rPr lang="en-US" sz="1150" dirty="0">
                <a:solidFill>
                  <a:srgbClr val="1E2A35"/>
                </a:solidFill>
                <a:latin typeface="Aptos" pitchFamily="34" charset="0"/>
                <a:ea typeface="Aptos" pitchFamily="34" charset="-122"/>
                <a:cs typeface="Aptos" pitchFamily="34" charset="-120"/>
              </a:rPr>
              <a:t>Feedback quality is moderate across all evaluation types. Actionability is consistently slightly higher than specificity, and “resident of faculty” feedback scores highest.</a:t>
            </a:r>
            <a:endParaRPr lang="en-US" sz="1150" dirty="0"/>
          </a:p>
        </p:txBody>
      </p:sp>
      <p:sp>
        <p:nvSpPr>
          <p:cNvPr id="6" name="Shape 4"/>
          <p:cNvSpPr/>
          <p:nvPr/>
        </p:nvSpPr>
        <p:spPr>
          <a:xfrm>
            <a:off x="475488"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7" name="Shape 5"/>
          <p:cNvSpPr/>
          <p:nvPr/>
        </p:nvSpPr>
        <p:spPr>
          <a:xfrm>
            <a:off x="475488" y="1682496"/>
            <a:ext cx="64008" cy="850392"/>
          </a:xfrm>
          <a:prstGeom prst="rect">
            <a:avLst/>
          </a:prstGeom>
          <a:solidFill>
            <a:srgbClr val="2A6F9E"/>
          </a:solidFill>
          <a:ln w="12700">
            <a:solidFill>
              <a:srgbClr val="2A6F9E"/>
            </a:solidFill>
            <a:prstDash val="solid"/>
          </a:ln>
        </p:spPr>
        <p:txBody>
          <a:bodyPr/>
          <a:lstStyle/>
          <a:p>
            <a:endParaRPr lang="en-US"/>
          </a:p>
        </p:txBody>
      </p:sp>
      <p:sp>
        <p:nvSpPr>
          <p:cNvPr id="8" name="Text 6"/>
          <p:cNvSpPr/>
          <p:nvPr/>
        </p:nvSpPr>
        <p:spPr>
          <a:xfrm>
            <a:off x="640080" y="1783080"/>
            <a:ext cx="3401568" cy="182880"/>
          </a:xfrm>
          <a:prstGeom prst="rect">
            <a:avLst/>
          </a:prstGeom>
          <a:noFill/>
          <a:ln/>
        </p:spPr>
        <p:txBody>
          <a:bodyPr wrap="square" lIns="0" tIns="0" rIns="0" bIns="0" rtlCol="0" anchor="ctr"/>
          <a:lstStyle/>
          <a:p>
            <a:pPr marL="0" indent="0">
              <a:buNone/>
            </a:pPr>
            <a:r>
              <a:rPr lang="en-US" sz="850" b="1" kern="0" spc="40" dirty="0">
                <a:solidFill>
                  <a:srgbClr val="2A6F9E"/>
                </a:solidFill>
                <a:latin typeface="Aptos" pitchFamily="34" charset="0"/>
                <a:ea typeface="Aptos" pitchFamily="34" charset="-122"/>
                <a:cs typeface="Aptos" pitchFamily="34" charset="-120"/>
              </a:rPr>
              <a:t>INPUT</a:t>
            </a:r>
            <a:endParaRPr lang="en-US" sz="850" dirty="0"/>
          </a:p>
        </p:txBody>
      </p:sp>
      <p:sp>
        <p:nvSpPr>
          <p:cNvPr id="9" name="Text 7"/>
          <p:cNvSpPr/>
          <p:nvPr/>
        </p:nvSpPr>
        <p:spPr>
          <a:xfrm>
            <a:off x="640080"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Narrative feedback grouped by evaluation type.</a:t>
            </a:r>
            <a:endParaRPr lang="en-US" sz="1030" dirty="0"/>
          </a:p>
        </p:txBody>
      </p:sp>
      <p:sp>
        <p:nvSpPr>
          <p:cNvPr id="10" name="Shape 8"/>
          <p:cNvSpPr/>
          <p:nvPr/>
        </p:nvSpPr>
        <p:spPr>
          <a:xfrm>
            <a:off x="4261104"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11" name="Shape 9"/>
          <p:cNvSpPr/>
          <p:nvPr/>
        </p:nvSpPr>
        <p:spPr>
          <a:xfrm>
            <a:off x="4261104" y="1682496"/>
            <a:ext cx="64008" cy="850392"/>
          </a:xfrm>
          <a:prstGeom prst="rect">
            <a:avLst/>
          </a:prstGeom>
          <a:solidFill>
            <a:srgbClr val="2B8C87"/>
          </a:solidFill>
          <a:ln w="12700">
            <a:solidFill>
              <a:srgbClr val="2B8C87"/>
            </a:solidFill>
            <a:prstDash val="solid"/>
          </a:ln>
        </p:spPr>
        <p:txBody>
          <a:bodyPr/>
          <a:lstStyle/>
          <a:p>
            <a:endParaRPr lang="en-US"/>
          </a:p>
        </p:txBody>
      </p:sp>
      <p:sp>
        <p:nvSpPr>
          <p:cNvPr id="12" name="Text 10"/>
          <p:cNvSpPr/>
          <p:nvPr/>
        </p:nvSpPr>
        <p:spPr>
          <a:xfrm>
            <a:off x="4425696" y="1783080"/>
            <a:ext cx="3401568" cy="182880"/>
          </a:xfrm>
          <a:prstGeom prst="rect">
            <a:avLst/>
          </a:prstGeom>
          <a:noFill/>
          <a:ln/>
        </p:spPr>
        <p:txBody>
          <a:bodyPr wrap="square" lIns="0" tIns="0" rIns="0" bIns="0" rtlCol="0" anchor="ctr"/>
          <a:lstStyle/>
          <a:p>
            <a:pPr marL="0" indent="0">
              <a:buNone/>
            </a:pPr>
            <a:r>
              <a:rPr lang="en-US" sz="850" b="1" kern="0" spc="40" dirty="0">
                <a:solidFill>
                  <a:srgbClr val="2B8C87"/>
                </a:solidFill>
                <a:latin typeface="Aptos" pitchFamily="34" charset="0"/>
                <a:ea typeface="Aptos" pitchFamily="34" charset="-122"/>
                <a:cs typeface="Aptos" pitchFamily="34" charset="-120"/>
              </a:rPr>
              <a:t>OUTPUT</a:t>
            </a:r>
            <a:endParaRPr lang="en-US" sz="850" dirty="0"/>
          </a:p>
        </p:txBody>
      </p:sp>
      <p:sp>
        <p:nvSpPr>
          <p:cNvPr id="13" name="Text 11"/>
          <p:cNvSpPr/>
          <p:nvPr/>
        </p:nvSpPr>
        <p:spPr>
          <a:xfrm>
            <a:off x="4425696"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Mean model ratings for specificity and actionability.</a:t>
            </a:r>
            <a:endParaRPr lang="en-US" sz="1030" dirty="0"/>
          </a:p>
        </p:txBody>
      </p:sp>
      <p:sp>
        <p:nvSpPr>
          <p:cNvPr id="14" name="Shape 12"/>
          <p:cNvSpPr/>
          <p:nvPr/>
        </p:nvSpPr>
        <p:spPr>
          <a:xfrm>
            <a:off x="8046720"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15" name="Shape 13"/>
          <p:cNvSpPr/>
          <p:nvPr/>
        </p:nvSpPr>
        <p:spPr>
          <a:xfrm>
            <a:off x="8046720" y="1682496"/>
            <a:ext cx="64008" cy="850392"/>
          </a:xfrm>
          <a:prstGeom prst="rect">
            <a:avLst/>
          </a:prstGeom>
          <a:solidFill>
            <a:srgbClr val="D49A35"/>
          </a:solidFill>
          <a:ln w="12700">
            <a:solidFill>
              <a:srgbClr val="D49A35"/>
            </a:solidFill>
            <a:prstDash val="solid"/>
          </a:ln>
        </p:spPr>
        <p:txBody>
          <a:bodyPr/>
          <a:lstStyle/>
          <a:p>
            <a:endParaRPr lang="en-US"/>
          </a:p>
        </p:txBody>
      </p:sp>
      <p:sp>
        <p:nvSpPr>
          <p:cNvPr id="16" name="Text 14"/>
          <p:cNvSpPr/>
          <p:nvPr/>
        </p:nvSpPr>
        <p:spPr>
          <a:xfrm>
            <a:off x="8211312" y="1783080"/>
            <a:ext cx="3401568" cy="182880"/>
          </a:xfrm>
          <a:prstGeom prst="rect">
            <a:avLst/>
          </a:prstGeom>
          <a:noFill/>
          <a:ln/>
        </p:spPr>
        <p:txBody>
          <a:bodyPr wrap="square" lIns="0" tIns="0" rIns="0" bIns="0" rtlCol="0" anchor="ctr"/>
          <a:lstStyle/>
          <a:p>
            <a:pPr marL="0" indent="0">
              <a:buNone/>
            </a:pPr>
            <a:r>
              <a:rPr lang="en-US" sz="850" b="1" kern="0" spc="40" dirty="0">
                <a:solidFill>
                  <a:srgbClr val="D49A35"/>
                </a:solidFill>
                <a:latin typeface="Aptos" pitchFamily="34" charset="0"/>
                <a:ea typeface="Aptos" pitchFamily="34" charset="-122"/>
                <a:cs typeface="Aptos" pitchFamily="34" charset="-120"/>
              </a:rPr>
              <a:t>HOW TO INTERPRET</a:t>
            </a:r>
            <a:endParaRPr lang="en-US" sz="850" dirty="0"/>
          </a:p>
        </p:txBody>
      </p:sp>
      <p:sp>
        <p:nvSpPr>
          <p:cNvPr id="17" name="Text 15"/>
          <p:cNvSpPr/>
          <p:nvPr/>
        </p:nvSpPr>
        <p:spPr>
          <a:xfrm>
            <a:off x="8211312"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Scores near 3 indicate usable but only moderately detailed feedback; the differences across evaluation types are small but operationally useful.</a:t>
            </a:r>
            <a:endParaRPr lang="en-US" sz="1030" dirty="0"/>
          </a:p>
        </p:txBody>
      </p:sp>
      <p:sp>
        <p:nvSpPr>
          <p:cNvPr id="18" name="Shape 16"/>
          <p:cNvSpPr/>
          <p:nvPr/>
        </p:nvSpPr>
        <p:spPr>
          <a:xfrm>
            <a:off x="475488" y="2670048"/>
            <a:ext cx="11247120" cy="3547872"/>
          </a:xfrm>
          <a:prstGeom prst="roundRect">
            <a:avLst>
              <a:gd name="adj" fmla="val 1031"/>
            </a:avLst>
          </a:prstGeom>
          <a:solidFill>
            <a:srgbClr val="FFFFFF"/>
          </a:solidFill>
          <a:ln w="10160">
            <a:solidFill>
              <a:srgbClr val="D7DEE6"/>
            </a:solidFill>
            <a:prstDash val="solid"/>
          </a:ln>
        </p:spPr>
        <p:txBody>
          <a:bodyPr/>
          <a:lstStyle/>
          <a:p>
            <a:endParaRPr lang="en-US"/>
          </a:p>
        </p:txBody>
      </p:sp>
      <p:pic>
        <p:nvPicPr>
          <p:cNvPr id="19" name="Image 0" descr="/mnt/data/09_feedback_by_evaluation_type(1).png"/>
          <p:cNvPicPr>
            <a:picLocks noChangeAspect="1"/>
          </p:cNvPicPr>
          <p:nvPr/>
        </p:nvPicPr>
        <p:blipFill>
          <a:blip r:embed="rId3"/>
          <a:stretch>
            <a:fillRect/>
          </a:stretch>
        </p:blipFill>
        <p:spPr>
          <a:xfrm>
            <a:off x="3588845" y="2715768"/>
            <a:ext cx="5020406" cy="3456432"/>
          </a:xfrm>
          <a:prstGeom prst="rect">
            <a:avLst/>
          </a:prstGeom>
        </p:spPr>
      </p:pic>
      <p:sp>
        <p:nvSpPr>
          <p:cNvPr id="25" name="Slide Number Placeholder 0"/>
          <p:cNvSpPr>
            <a:spLocks noGrp="1"/>
          </p:cNvSpPr>
          <p:nvPr>
            <p:ph type="sldNum" sz="quarter" idx="4294967295"/>
          </p:nvPr>
        </p:nvSpPr>
        <p:spPr>
          <a:xfrm>
            <a:off x="11823192" y="6492240"/>
            <a:ext cx="201168"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6B7785"/>
                </a:solidFill>
                <a:latin typeface="Aptos"/>
                <a:ea typeface="Aptos"/>
                <a:cs typeface="Aptos"/>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75488" y="274320"/>
            <a:ext cx="11064240" cy="365760"/>
          </a:xfrm>
          <a:prstGeom prst="rect">
            <a:avLst/>
          </a:prstGeom>
          <a:noFill/>
          <a:ln/>
        </p:spPr>
        <p:txBody>
          <a:bodyPr wrap="square" lIns="0" tIns="0" rIns="0" bIns="0" rtlCol="0" anchor="ctr"/>
          <a:lstStyle/>
          <a:p>
            <a:pPr marL="0" indent="0">
              <a:buNone/>
            </a:pPr>
            <a:r>
              <a:rPr lang="en-US" sz="2400" b="1" dirty="0">
                <a:solidFill>
                  <a:srgbClr val="1E2A35"/>
                </a:solidFill>
                <a:latin typeface="Aptos Display" pitchFamily="34" charset="0"/>
                <a:ea typeface="Aptos Display" pitchFamily="34" charset="-122"/>
                <a:cs typeface="Aptos Display" pitchFamily="34" charset="-120"/>
              </a:rPr>
              <a:t>Learning-environment categories over calendar time</a:t>
            </a:r>
            <a:endParaRPr lang="en-US" sz="2400" dirty="0"/>
          </a:p>
        </p:txBody>
      </p:sp>
      <p:sp>
        <p:nvSpPr>
          <p:cNvPr id="3" name="Text 1"/>
          <p:cNvSpPr/>
          <p:nvPr/>
        </p:nvSpPr>
        <p:spPr>
          <a:xfrm>
            <a:off x="484632" y="694944"/>
            <a:ext cx="11064240" cy="320040"/>
          </a:xfrm>
          <a:prstGeom prst="rect">
            <a:avLst/>
          </a:prstGeom>
          <a:noFill/>
          <a:ln/>
        </p:spPr>
        <p:txBody>
          <a:bodyPr wrap="square" lIns="0" tIns="0" rIns="0" bIns="0" rtlCol="0" anchor="ctr"/>
          <a:lstStyle/>
          <a:p>
            <a:pPr marL="0" indent="0">
              <a:buNone/>
            </a:pPr>
            <a:r>
              <a:rPr lang="en-US" sz="1150" dirty="0">
                <a:solidFill>
                  <a:srgbClr val="5D6976"/>
                </a:solidFill>
                <a:latin typeface="Aptos" pitchFamily="34" charset="0"/>
                <a:ea typeface="Aptos" pitchFamily="34" charset="-122"/>
                <a:cs typeface="Aptos" pitchFamily="34" charset="-120"/>
              </a:rPr>
              <a:t>Descriptive annual prevalence of the most common environment themes</a:t>
            </a:r>
            <a:endParaRPr lang="en-US" sz="1150" dirty="0"/>
          </a:p>
        </p:txBody>
      </p:sp>
      <p:sp>
        <p:nvSpPr>
          <p:cNvPr id="4" name="Shape 2"/>
          <p:cNvSpPr/>
          <p:nvPr/>
        </p:nvSpPr>
        <p:spPr>
          <a:xfrm>
            <a:off x="475488" y="1005840"/>
            <a:ext cx="11247120" cy="530352"/>
          </a:xfrm>
          <a:prstGeom prst="roundRect">
            <a:avLst>
              <a:gd name="adj" fmla="val 13793"/>
            </a:avLst>
          </a:prstGeom>
          <a:solidFill>
            <a:srgbClr val="FBF5E9"/>
          </a:solidFill>
          <a:ln w="10160">
            <a:solidFill>
              <a:srgbClr val="D7E6EF"/>
            </a:solidFill>
            <a:prstDash val="solid"/>
          </a:ln>
        </p:spPr>
        <p:txBody>
          <a:bodyPr/>
          <a:lstStyle/>
          <a:p>
            <a:endParaRPr lang="en-US"/>
          </a:p>
        </p:txBody>
      </p:sp>
      <p:sp>
        <p:nvSpPr>
          <p:cNvPr id="5" name="Text 3"/>
          <p:cNvSpPr/>
          <p:nvPr/>
        </p:nvSpPr>
        <p:spPr>
          <a:xfrm>
            <a:off x="658368" y="1152144"/>
            <a:ext cx="10881360" cy="237744"/>
          </a:xfrm>
          <a:prstGeom prst="rect">
            <a:avLst/>
          </a:prstGeom>
          <a:noFill/>
          <a:ln/>
        </p:spPr>
        <p:txBody>
          <a:bodyPr wrap="square" lIns="0" tIns="0" rIns="0" bIns="0" rtlCol="0" anchor="ctr"/>
          <a:lstStyle/>
          <a:p>
            <a:pPr marL="0" indent="0">
              <a:buNone/>
            </a:pPr>
            <a:r>
              <a:rPr lang="en-US" sz="1150" b="1" dirty="0">
                <a:solidFill>
                  <a:srgbClr val="163A5F"/>
                </a:solidFill>
                <a:latin typeface="Aptos" pitchFamily="34" charset="0"/>
                <a:ea typeface="Aptos" pitchFamily="34" charset="-122"/>
                <a:cs typeface="Aptos" pitchFamily="34" charset="-120"/>
              </a:rPr>
              <a:t>Key message: </a:t>
            </a:r>
            <a:r>
              <a:rPr lang="en-US" sz="1150" dirty="0">
                <a:solidFill>
                  <a:srgbClr val="1E2A35"/>
                </a:solidFill>
                <a:latin typeface="Aptos" pitchFamily="34" charset="0"/>
                <a:ea typeface="Aptos" pitchFamily="34" charset="-122"/>
                <a:cs typeface="Aptos" pitchFamily="34" charset="-120"/>
              </a:rPr>
              <a:t>Faculty teaching/feedback remains consistently high, while the other major categories fluctuate substantially and appear lower in the most recent years.</a:t>
            </a:r>
            <a:endParaRPr lang="en-US" sz="1150" dirty="0"/>
          </a:p>
        </p:txBody>
      </p:sp>
      <p:sp>
        <p:nvSpPr>
          <p:cNvPr id="6" name="Shape 4"/>
          <p:cNvSpPr/>
          <p:nvPr/>
        </p:nvSpPr>
        <p:spPr>
          <a:xfrm>
            <a:off x="475488"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7" name="Shape 5"/>
          <p:cNvSpPr/>
          <p:nvPr/>
        </p:nvSpPr>
        <p:spPr>
          <a:xfrm>
            <a:off x="475488" y="1682496"/>
            <a:ext cx="64008" cy="850392"/>
          </a:xfrm>
          <a:prstGeom prst="rect">
            <a:avLst/>
          </a:prstGeom>
          <a:solidFill>
            <a:srgbClr val="2A6F9E"/>
          </a:solidFill>
          <a:ln w="12700">
            <a:solidFill>
              <a:srgbClr val="2A6F9E"/>
            </a:solidFill>
            <a:prstDash val="solid"/>
          </a:ln>
        </p:spPr>
        <p:txBody>
          <a:bodyPr/>
          <a:lstStyle/>
          <a:p>
            <a:endParaRPr lang="en-US"/>
          </a:p>
        </p:txBody>
      </p:sp>
      <p:sp>
        <p:nvSpPr>
          <p:cNvPr id="8" name="Text 6"/>
          <p:cNvSpPr/>
          <p:nvPr/>
        </p:nvSpPr>
        <p:spPr>
          <a:xfrm>
            <a:off x="640080" y="1783080"/>
            <a:ext cx="3401568" cy="182880"/>
          </a:xfrm>
          <a:prstGeom prst="rect">
            <a:avLst/>
          </a:prstGeom>
          <a:noFill/>
          <a:ln/>
        </p:spPr>
        <p:txBody>
          <a:bodyPr wrap="square" lIns="0" tIns="0" rIns="0" bIns="0" rtlCol="0" anchor="ctr"/>
          <a:lstStyle/>
          <a:p>
            <a:pPr marL="0" indent="0">
              <a:buNone/>
            </a:pPr>
            <a:r>
              <a:rPr lang="en-US" sz="850" b="1" kern="0" spc="40" dirty="0">
                <a:solidFill>
                  <a:srgbClr val="2A6F9E"/>
                </a:solidFill>
                <a:latin typeface="Aptos" pitchFamily="34" charset="0"/>
                <a:ea typeface="Aptos" pitchFamily="34" charset="-122"/>
                <a:cs typeface="Aptos" pitchFamily="34" charset="-120"/>
              </a:rPr>
              <a:t>INPUT</a:t>
            </a:r>
            <a:endParaRPr lang="en-US" sz="850" dirty="0"/>
          </a:p>
        </p:txBody>
      </p:sp>
      <p:sp>
        <p:nvSpPr>
          <p:cNvPr id="9" name="Text 7"/>
          <p:cNvSpPr/>
          <p:nvPr/>
        </p:nvSpPr>
        <p:spPr>
          <a:xfrm>
            <a:off x="640080"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Evaluation events grouped by calendar year.</a:t>
            </a:r>
            <a:endParaRPr lang="en-US" sz="1030" dirty="0"/>
          </a:p>
        </p:txBody>
      </p:sp>
      <p:sp>
        <p:nvSpPr>
          <p:cNvPr id="10" name="Shape 8"/>
          <p:cNvSpPr/>
          <p:nvPr/>
        </p:nvSpPr>
        <p:spPr>
          <a:xfrm>
            <a:off x="4261104"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11" name="Shape 9"/>
          <p:cNvSpPr/>
          <p:nvPr/>
        </p:nvSpPr>
        <p:spPr>
          <a:xfrm>
            <a:off x="4261104" y="1682496"/>
            <a:ext cx="64008" cy="850392"/>
          </a:xfrm>
          <a:prstGeom prst="rect">
            <a:avLst/>
          </a:prstGeom>
          <a:solidFill>
            <a:srgbClr val="2B8C87"/>
          </a:solidFill>
          <a:ln w="12700">
            <a:solidFill>
              <a:srgbClr val="2B8C87"/>
            </a:solidFill>
            <a:prstDash val="solid"/>
          </a:ln>
        </p:spPr>
        <p:txBody>
          <a:bodyPr/>
          <a:lstStyle/>
          <a:p>
            <a:endParaRPr lang="en-US"/>
          </a:p>
        </p:txBody>
      </p:sp>
      <p:sp>
        <p:nvSpPr>
          <p:cNvPr id="12" name="Text 10"/>
          <p:cNvSpPr/>
          <p:nvPr/>
        </p:nvSpPr>
        <p:spPr>
          <a:xfrm>
            <a:off x="4425696" y="1783080"/>
            <a:ext cx="3401568" cy="182880"/>
          </a:xfrm>
          <a:prstGeom prst="rect">
            <a:avLst/>
          </a:prstGeom>
          <a:noFill/>
          <a:ln/>
        </p:spPr>
        <p:txBody>
          <a:bodyPr wrap="square" lIns="0" tIns="0" rIns="0" bIns="0" rtlCol="0" anchor="ctr"/>
          <a:lstStyle/>
          <a:p>
            <a:pPr marL="0" indent="0">
              <a:buNone/>
            </a:pPr>
            <a:r>
              <a:rPr lang="en-US" sz="850" b="1" kern="0" spc="40" dirty="0">
                <a:solidFill>
                  <a:srgbClr val="2B8C87"/>
                </a:solidFill>
                <a:latin typeface="Aptos" pitchFamily="34" charset="0"/>
                <a:ea typeface="Aptos" pitchFamily="34" charset="-122"/>
                <a:cs typeface="Aptos" pitchFamily="34" charset="-120"/>
              </a:rPr>
              <a:t>OUTPUT</a:t>
            </a:r>
            <a:endParaRPr lang="en-US" sz="850" dirty="0"/>
          </a:p>
        </p:txBody>
      </p:sp>
      <p:sp>
        <p:nvSpPr>
          <p:cNvPr id="13" name="Text 11"/>
          <p:cNvSpPr/>
          <p:nvPr/>
        </p:nvSpPr>
        <p:spPr>
          <a:xfrm>
            <a:off x="4425696"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Annual percentage of events containing each top environment category.</a:t>
            </a:r>
            <a:endParaRPr lang="en-US" sz="1030" dirty="0"/>
          </a:p>
        </p:txBody>
      </p:sp>
      <p:sp>
        <p:nvSpPr>
          <p:cNvPr id="14" name="Shape 12"/>
          <p:cNvSpPr/>
          <p:nvPr/>
        </p:nvSpPr>
        <p:spPr>
          <a:xfrm>
            <a:off x="8046720"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15" name="Shape 13"/>
          <p:cNvSpPr/>
          <p:nvPr/>
        </p:nvSpPr>
        <p:spPr>
          <a:xfrm>
            <a:off x="8046720" y="1682496"/>
            <a:ext cx="64008" cy="850392"/>
          </a:xfrm>
          <a:prstGeom prst="rect">
            <a:avLst/>
          </a:prstGeom>
          <a:solidFill>
            <a:srgbClr val="D49A35"/>
          </a:solidFill>
          <a:ln w="12700">
            <a:solidFill>
              <a:srgbClr val="D49A35"/>
            </a:solidFill>
            <a:prstDash val="solid"/>
          </a:ln>
        </p:spPr>
        <p:txBody>
          <a:bodyPr/>
          <a:lstStyle/>
          <a:p>
            <a:endParaRPr lang="en-US"/>
          </a:p>
        </p:txBody>
      </p:sp>
      <p:sp>
        <p:nvSpPr>
          <p:cNvPr id="16" name="Text 14"/>
          <p:cNvSpPr/>
          <p:nvPr/>
        </p:nvSpPr>
        <p:spPr>
          <a:xfrm>
            <a:off x="8211312" y="1783080"/>
            <a:ext cx="3401568" cy="182880"/>
          </a:xfrm>
          <a:prstGeom prst="rect">
            <a:avLst/>
          </a:prstGeom>
          <a:noFill/>
          <a:ln/>
        </p:spPr>
        <p:txBody>
          <a:bodyPr wrap="square" lIns="0" tIns="0" rIns="0" bIns="0" rtlCol="0" anchor="ctr"/>
          <a:lstStyle/>
          <a:p>
            <a:pPr marL="0" indent="0">
              <a:buNone/>
            </a:pPr>
            <a:r>
              <a:rPr lang="en-US" sz="850" b="1" kern="0" spc="40" dirty="0">
                <a:solidFill>
                  <a:srgbClr val="D49A35"/>
                </a:solidFill>
                <a:latin typeface="Aptos" pitchFamily="34" charset="0"/>
                <a:ea typeface="Aptos" pitchFamily="34" charset="-122"/>
                <a:cs typeface="Aptos" pitchFamily="34" charset="-120"/>
              </a:rPr>
              <a:t>HOW TO INTERPRET</a:t>
            </a:r>
            <a:endParaRPr lang="en-US" sz="850" dirty="0"/>
          </a:p>
        </p:txBody>
      </p:sp>
      <p:sp>
        <p:nvSpPr>
          <p:cNvPr id="17" name="Text 15"/>
          <p:cNvSpPr/>
          <p:nvPr/>
        </p:nvSpPr>
        <p:spPr>
          <a:xfrm>
            <a:off x="8211312"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Treat this as descriptive only until yearly denominators, evaluation mix, and program composition are controlled.</a:t>
            </a:r>
            <a:endParaRPr lang="en-US" sz="1030" dirty="0"/>
          </a:p>
        </p:txBody>
      </p:sp>
      <p:sp>
        <p:nvSpPr>
          <p:cNvPr id="18" name="Shape 16"/>
          <p:cNvSpPr/>
          <p:nvPr/>
        </p:nvSpPr>
        <p:spPr>
          <a:xfrm>
            <a:off x="475488" y="2670048"/>
            <a:ext cx="11247120" cy="3547872"/>
          </a:xfrm>
          <a:prstGeom prst="roundRect">
            <a:avLst>
              <a:gd name="adj" fmla="val 1031"/>
            </a:avLst>
          </a:prstGeom>
          <a:solidFill>
            <a:srgbClr val="FFFFFF"/>
          </a:solidFill>
          <a:ln w="10160">
            <a:solidFill>
              <a:srgbClr val="D7DEE6"/>
            </a:solidFill>
            <a:prstDash val="solid"/>
          </a:ln>
        </p:spPr>
        <p:txBody>
          <a:bodyPr/>
          <a:lstStyle/>
          <a:p>
            <a:endParaRPr lang="en-US"/>
          </a:p>
        </p:txBody>
      </p:sp>
      <p:pic>
        <p:nvPicPr>
          <p:cNvPr id="19" name="Image 0" descr="/mnt/data/10_environment_over_time(1).png"/>
          <p:cNvPicPr>
            <a:picLocks noChangeAspect="1"/>
          </p:cNvPicPr>
          <p:nvPr/>
        </p:nvPicPr>
        <p:blipFill>
          <a:blip r:embed="rId3"/>
          <a:stretch>
            <a:fillRect/>
          </a:stretch>
        </p:blipFill>
        <p:spPr>
          <a:xfrm>
            <a:off x="3305531" y="2715768"/>
            <a:ext cx="5587035" cy="3456432"/>
          </a:xfrm>
          <a:prstGeom prst="rect">
            <a:avLst/>
          </a:prstGeom>
        </p:spPr>
      </p:pic>
      <p:sp>
        <p:nvSpPr>
          <p:cNvPr id="25" name="Slide Number Placeholder 0"/>
          <p:cNvSpPr>
            <a:spLocks noGrp="1"/>
          </p:cNvSpPr>
          <p:nvPr>
            <p:ph type="sldNum" sz="quarter" idx="4294967295"/>
          </p:nvPr>
        </p:nvSpPr>
        <p:spPr>
          <a:xfrm>
            <a:off x="11823192" y="6492240"/>
            <a:ext cx="201168"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6B7785"/>
                </a:solidFill>
                <a:latin typeface="Aptos"/>
                <a:ea typeface="Aptos"/>
                <a:cs typeface="Aptos"/>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75488" y="274320"/>
            <a:ext cx="11064240" cy="365760"/>
          </a:xfrm>
          <a:prstGeom prst="rect">
            <a:avLst/>
          </a:prstGeom>
          <a:noFill/>
          <a:ln/>
        </p:spPr>
        <p:txBody>
          <a:bodyPr wrap="square" lIns="0" tIns="0" rIns="0" bIns="0" rtlCol="0" anchor="ctr"/>
          <a:lstStyle/>
          <a:p>
            <a:pPr marL="0" indent="0">
              <a:buNone/>
            </a:pPr>
            <a:r>
              <a:rPr lang="en-US" sz="2400" b="1" dirty="0">
                <a:solidFill>
                  <a:srgbClr val="1E2A35"/>
                </a:solidFill>
                <a:latin typeface="Aptos Display" pitchFamily="34" charset="0"/>
                <a:ea typeface="Aptos Display" pitchFamily="34" charset="-122"/>
                <a:cs typeface="Aptos Display" pitchFamily="34" charset="-120"/>
              </a:rPr>
              <a:t>First-to-last structured-score change among repeated evaluatees</a:t>
            </a:r>
            <a:endParaRPr lang="en-US" sz="2400" dirty="0"/>
          </a:p>
        </p:txBody>
      </p:sp>
      <p:sp>
        <p:nvSpPr>
          <p:cNvPr id="3" name="Text 1"/>
          <p:cNvSpPr/>
          <p:nvPr/>
        </p:nvSpPr>
        <p:spPr>
          <a:xfrm>
            <a:off x="484632" y="694944"/>
            <a:ext cx="11064240" cy="320040"/>
          </a:xfrm>
          <a:prstGeom prst="rect">
            <a:avLst/>
          </a:prstGeom>
          <a:noFill/>
          <a:ln/>
        </p:spPr>
        <p:txBody>
          <a:bodyPr wrap="square" lIns="0" tIns="0" rIns="0" bIns="0" rtlCol="0" anchor="ctr"/>
          <a:lstStyle/>
          <a:p>
            <a:pPr marL="0" indent="0">
              <a:buNone/>
            </a:pPr>
            <a:r>
              <a:rPr lang="en-US" sz="1150" dirty="0">
                <a:solidFill>
                  <a:srgbClr val="5D6976"/>
                </a:solidFill>
                <a:latin typeface="Aptos" pitchFamily="34" charset="0"/>
                <a:ea typeface="Aptos" pitchFamily="34" charset="-122"/>
                <a:cs typeface="Aptos" pitchFamily="34" charset="-120"/>
              </a:rPr>
              <a:t>A simple longitudinal view of individuals with repeated observations</a:t>
            </a:r>
            <a:endParaRPr lang="en-US" sz="1150" dirty="0"/>
          </a:p>
        </p:txBody>
      </p:sp>
      <p:sp>
        <p:nvSpPr>
          <p:cNvPr id="4" name="Shape 2"/>
          <p:cNvSpPr/>
          <p:nvPr/>
        </p:nvSpPr>
        <p:spPr>
          <a:xfrm>
            <a:off x="475488" y="1005840"/>
            <a:ext cx="11247120" cy="530352"/>
          </a:xfrm>
          <a:prstGeom prst="roundRect">
            <a:avLst>
              <a:gd name="adj" fmla="val 13793"/>
            </a:avLst>
          </a:prstGeom>
          <a:solidFill>
            <a:srgbClr val="EDF5FA"/>
          </a:solidFill>
          <a:ln w="10160">
            <a:solidFill>
              <a:srgbClr val="D7E6EF"/>
            </a:solidFill>
            <a:prstDash val="solid"/>
          </a:ln>
        </p:spPr>
        <p:txBody>
          <a:bodyPr/>
          <a:lstStyle/>
          <a:p>
            <a:endParaRPr lang="en-US"/>
          </a:p>
        </p:txBody>
      </p:sp>
      <p:sp>
        <p:nvSpPr>
          <p:cNvPr id="5" name="Text 3"/>
          <p:cNvSpPr/>
          <p:nvPr/>
        </p:nvSpPr>
        <p:spPr>
          <a:xfrm>
            <a:off x="658368" y="1152144"/>
            <a:ext cx="10881360" cy="237744"/>
          </a:xfrm>
          <a:prstGeom prst="rect">
            <a:avLst/>
          </a:prstGeom>
          <a:noFill/>
          <a:ln/>
        </p:spPr>
        <p:txBody>
          <a:bodyPr wrap="square" lIns="0" tIns="0" rIns="0" bIns="0" rtlCol="0" anchor="ctr"/>
          <a:lstStyle/>
          <a:p>
            <a:pPr marL="0" indent="0">
              <a:buNone/>
            </a:pPr>
            <a:r>
              <a:rPr lang="en-US" sz="1150" b="1" dirty="0">
                <a:solidFill>
                  <a:srgbClr val="163A5F"/>
                </a:solidFill>
                <a:latin typeface="Aptos" pitchFamily="34" charset="0"/>
                <a:ea typeface="Aptos" pitchFamily="34" charset="-122"/>
                <a:cs typeface="Aptos" pitchFamily="34" charset="-120"/>
              </a:rPr>
              <a:t>Key message: </a:t>
            </a:r>
            <a:r>
              <a:rPr lang="en-US" sz="1150" dirty="0">
                <a:solidFill>
                  <a:srgbClr val="1E2A35"/>
                </a:solidFill>
                <a:latin typeface="Aptos" pitchFamily="34" charset="0"/>
                <a:ea typeface="Aptos" pitchFamily="34" charset="-122"/>
                <a:cs typeface="Aptos" pitchFamily="34" charset="-120"/>
              </a:rPr>
              <a:t>Changes cluster near zero, with both meaningful gains and declines. There is no obvious system-wide directional improvement from this first-versus-last comparison alone.</a:t>
            </a:r>
            <a:endParaRPr lang="en-US" sz="1150" dirty="0"/>
          </a:p>
        </p:txBody>
      </p:sp>
      <p:sp>
        <p:nvSpPr>
          <p:cNvPr id="6" name="Shape 4"/>
          <p:cNvSpPr/>
          <p:nvPr/>
        </p:nvSpPr>
        <p:spPr>
          <a:xfrm>
            <a:off x="475488"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7" name="Shape 5"/>
          <p:cNvSpPr/>
          <p:nvPr/>
        </p:nvSpPr>
        <p:spPr>
          <a:xfrm>
            <a:off x="475488" y="1682496"/>
            <a:ext cx="64008" cy="850392"/>
          </a:xfrm>
          <a:prstGeom prst="rect">
            <a:avLst/>
          </a:prstGeom>
          <a:solidFill>
            <a:srgbClr val="2A6F9E"/>
          </a:solidFill>
          <a:ln w="12700">
            <a:solidFill>
              <a:srgbClr val="2A6F9E"/>
            </a:solidFill>
            <a:prstDash val="solid"/>
          </a:ln>
        </p:spPr>
        <p:txBody>
          <a:bodyPr/>
          <a:lstStyle/>
          <a:p>
            <a:endParaRPr lang="en-US"/>
          </a:p>
        </p:txBody>
      </p:sp>
      <p:sp>
        <p:nvSpPr>
          <p:cNvPr id="8" name="Text 6"/>
          <p:cNvSpPr/>
          <p:nvPr/>
        </p:nvSpPr>
        <p:spPr>
          <a:xfrm>
            <a:off x="640080" y="1783080"/>
            <a:ext cx="3401568" cy="182880"/>
          </a:xfrm>
          <a:prstGeom prst="rect">
            <a:avLst/>
          </a:prstGeom>
          <a:noFill/>
          <a:ln/>
        </p:spPr>
        <p:txBody>
          <a:bodyPr wrap="square" lIns="0" tIns="0" rIns="0" bIns="0" rtlCol="0" anchor="ctr"/>
          <a:lstStyle/>
          <a:p>
            <a:pPr marL="0" indent="0">
              <a:buNone/>
            </a:pPr>
            <a:r>
              <a:rPr lang="en-US" sz="850" b="1" kern="0" spc="40" dirty="0">
                <a:solidFill>
                  <a:srgbClr val="2A6F9E"/>
                </a:solidFill>
                <a:latin typeface="Aptos" pitchFamily="34" charset="0"/>
                <a:ea typeface="Aptos" pitchFamily="34" charset="-122"/>
                <a:cs typeface="Aptos" pitchFamily="34" charset="-120"/>
              </a:rPr>
              <a:t>INPUT</a:t>
            </a:r>
            <a:endParaRPr lang="en-US" sz="850" dirty="0"/>
          </a:p>
        </p:txBody>
      </p:sp>
      <p:sp>
        <p:nvSpPr>
          <p:cNvPr id="9" name="Text 7"/>
          <p:cNvSpPr/>
          <p:nvPr/>
        </p:nvSpPr>
        <p:spPr>
          <a:xfrm>
            <a:off x="640080"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Evaluatees with at least two structured-score observations.</a:t>
            </a:r>
            <a:endParaRPr lang="en-US" sz="1030" dirty="0"/>
          </a:p>
        </p:txBody>
      </p:sp>
      <p:sp>
        <p:nvSpPr>
          <p:cNvPr id="10" name="Shape 8"/>
          <p:cNvSpPr/>
          <p:nvPr/>
        </p:nvSpPr>
        <p:spPr>
          <a:xfrm>
            <a:off x="4261104"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11" name="Shape 9"/>
          <p:cNvSpPr/>
          <p:nvPr/>
        </p:nvSpPr>
        <p:spPr>
          <a:xfrm>
            <a:off x="4261104" y="1682496"/>
            <a:ext cx="64008" cy="850392"/>
          </a:xfrm>
          <a:prstGeom prst="rect">
            <a:avLst/>
          </a:prstGeom>
          <a:solidFill>
            <a:srgbClr val="2B8C87"/>
          </a:solidFill>
          <a:ln w="12700">
            <a:solidFill>
              <a:srgbClr val="2B8C87"/>
            </a:solidFill>
            <a:prstDash val="solid"/>
          </a:ln>
        </p:spPr>
        <p:txBody>
          <a:bodyPr/>
          <a:lstStyle/>
          <a:p>
            <a:endParaRPr lang="en-US"/>
          </a:p>
        </p:txBody>
      </p:sp>
      <p:sp>
        <p:nvSpPr>
          <p:cNvPr id="12" name="Text 10"/>
          <p:cNvSpPr/>
          <p:nvPr/>
        </p:nvSpPr>
        <p:spPr>
          <a:xfrm>
            <a:off x="4425696" y="1783080"/>
            <a:ext cx="3401568" cy="182880"/>
          </a:xfrm>
          <a:prstGeom prst="rect">
            <a:avLst/>
          </a:prstGeom>
          <a:noFill/>
          <a:ln/>
        </p:spPr>
        <p:txBody>
          <a:bodyPr wrap="square" lIns="0" tIns="0" rIns="0" bIns="0" rtlCol="0" anchor="ctr"/>
          <a:lstStyle/>
          <a:p>
            <a:pPr marL="0" indent="0">
              <a:buNone/>
            </a:pPr>
            <a:r>
              <a:rPr lang="en-US" sz="850" b="1" kern="0" spc="40" dirty="0">
                <a:solidFill>
                  <a:srgbClr val="2B8C87"/>
                </a:solidFill>
                <a:latin typeface="Aptos" pitchFamily="34" charset="0"/>
                <a:ea typeface="Aptos" pitchFamily="34" charset="-122"/>
                <a:cs typeface="Aptos" pitchFamily="34" charset="-120"/>
              </a:rPr>
              <a:t>OUTPUT</a:t>
            </a:r>
            <a:endParaRPr lang="en-US" sz="850" dirty="0"/>
          </a:p>
        </p:txBody>
      </p:sp>
      <p:sp>
        <p:nvSpPr>
          <p:cNvPr id="13" name="Text 11"/>
          <p:cNvSpPr/>
          <p:nvPr/>
        </p:nvSpPr>
        <p:spPr>
          <a:xfrm>
            <a:off x="4425696"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Distribution of last score minus first score.</a:t>
            </a:r>
            <a:endParaRPr lang="en-US" sz="1030" dirty="0"/>
          </a:p>
        </p:txBody>
      </p:sp>
      <p:sp>
        <p:nvSpPr>
          <p:cNvPr id="14" name="Shape 12"/>
          <p:cNvSpPr/>
          <p:nvPr/>
        </p:nvSpPr>
        <p:spPr>
          <a:xfrm>
            <a:off x="8046720"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15" name="Shape 13"/>
          <p:cNvSpPr/>
          <p:nvPr/>
        </p:nvSpPr>
        <p:spPr>
          <a:xfrm>
            <a:off x="8046720" y="1682496"/>
            <a:ext cx="64008" cy="850392"/>
          </a:xfrm>
          <a:prstGeom prst="rect">
            <a:avLst/>
          </a:prstGeom>
          <a:solidFill>
            <a:srgbClr val="D49A35"/>
          </a:solidFill>
          <a:ln w="12700">
            <a:solidFill>
              <a:srgbClr val="D49A35"/>
            </a:solidFill>
            <a:prstDash val="solid"/>
          </a:ln>
        </p:spPr>
        <p:txBody>
          <a:bodyPr/>
          <a:lstStyle/>
          <a:p>
            <a:endParaRPr lang="en-US"/>
          </a:p>
        </p:txBody>
      </p:sp>
      <p:sp>
        <p:nvSpPr>
          <p:cNvPr id="16" name="Text 14"/>
          <p:cNvSpPr/>
          <p:nvPr/>
        </p:nvSpPr>
        <p:spPr>
          <a:xfrm>
            <a:off x="8211312" y="1783080"/>
            <a:ext cx="3401568" cy="182880"/>
          </a:xfrm>
          <a:prstGeom prst="rect">
            <a:avLst/>
          </a:prstGeom>
          <a:noFill/>
          <a:ln/>
        </p:spPr>
        <p:txBody>
          <a:bodyPr wrap="square" lIns="0" tIns="0" rIns="0" bIns="0" rtlCol="0" anchor="ctr"/>
          <a:lstStyle/>
          <a:p>
            <a:pPr marL="0" indent="0">
              <a:buNone/>
            </a:pPr>
            <a:r>
              <a:rPr lang="en-US" sz="850" b="1" kern="0" spc="40" dirty="0">
                <a:solidFill>
                  <a:srgbClr val="D49A35"/>
                </a:solidFill>
                <a:latin typeface="Aptos" pitchFamily="34" charset="0"/>
                <a:ea typeface="Aptos" pitchFamily="34" charset="-122"/>
                <a:cs typeface="Aptos" pitchFamily="34" charset="-120"/>
              </a:rPr>
              <a:t>HOW TO INTERPRET</a:t>
            </a:r>
            <a:endParaRPr lang="en-US" sz="850" dirty="0"/>
          </a:p>
        </p:txBody>
      </p:sp>
      <p:sp>
        <p:nvSpPr>
          <p:cNvPr id="17" name="Text 15"/>
          <p:cNvSpPr/>
          <p:nvPr/>
        </p:nvSpPr>
        <p:spPr>
          <a:xfrm>
            <a:off x="8211312"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Values above zero are improvement; below zero are decline. A distribution centered near zero suggests little net shift at the group level.</a:t>
            </a:r>
            <a:endParaRPr lang="en-US" sz="1030" dirty="0"/>
          </a:p>
        </p:txBody>
      </p:sp>
      <p:sp>
        <p:nvSpPr>
          <p:cNvPr id="18" name="Shape 16"/>
          <p:cNvSpPr/>
          <p:nvPr/>
        </p:nvSpPr>
        <p:spPr>
          <a:xfrm>
            <a:off x="475488" y="2670048"/>
            <a:ext cx="11247120" cy="3547872"/>
          </a:xfrm>
          <a:prstGeom prst="roundRect">
            <a:avLst>
              <a:gd name="adj" fmla="val 1031"/>
            </a:avLst>
          </a:prstGeom>
          <a:solidFill>
            <a:srgbClr val="FFFFFF"/>
          </a:solidFill>
          <a:ln w="10160">
            <a:solidFill>
              <a:srgbClr val="D7DEE6"/>
            </a:solidFill>
            <a:prstDash val="solid"/>
          </a:ln>
        </p:spPr>
        <p:txBody>
          <a:bodyPr/>
          <a:lstStyle/>
          <a:p>
            <a:endParaRPr lang="en-US"/>
          </a:p>
        </p:txBody>
      </p:sp>
      <p:pic>
        <p:nvPicPr>
          <p:cNvPr id="19" name="Image 0" descr="/mnt/data/11_repeated_evaluatee_change(1).png"/>
          <p:cNvPicPr>
            <a:picLocks noChangeAspect="1"/>
          </p:cNvPicPr>
          <p:nvPr/>
        </p:nvPicPr>
        <p:blipFill>
          <a:blip r:embed="rId3"/>
          <a:stretch>
            <a:fillRect/>
          </a:stretch>
        </p:blipFill>
        <p:spPr>
          <a:xfrm>
            <a:off x="3678969" y="2715768"/>
            <a:ext cx="4840158" cy="3456432"/>
          </a:xfrm>
          <a:prstGeom prst="rect">
            <a:avLst/>
          </a:prstGeom>
        </p:spPr>
      </p:pic>
      <p:sp>
        <p:nvSpPr>
          <p:cNvPr id="25" name="Slide Number Placeholder 0"/>
          <p:cNvSpPr>
            <a:spLocks noGrp="1"/>
          </p:cNvSpPr>
          <p:nvPr>
            <p:ph type="sldNum" sz="quarter" idx="4294967295"/>
          </p:nvPr>
        </p:nvSpPr>
        <p:spPr>
          <a:xfrm>
            <a:off x="11823192" y="6492240"/>
            <a:ext cx="201168"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6B7785"/>
                </a:solidFill>
                <a:latin typeface="Aptos"/>
                <a:ea typeface="Aptos"/>
                <a:cs typeface="Aptos"/>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75488" y="274320"/>
            <a:ext cx="11064240" cy="365760"/>
          </a:xfrm>
          <a:prstGeom prst="rect">
            <a:avLst/>
          </a:prstGeom>
          <a:noFill/>
          <a:ln/>
        </p:spPr>
        <p:txBody>
          <a:bodyPr wrap="square" lIns="0" tIns="0" rIns="0" bIns="0" rtlCol="0" anchor="ctr"/>
          <a:lstStyle/>
          <a:p>
            <a:pPr marL="0" indent="0">
              <a:buNone/>
            </a:pPr>
            <a:r>
              <a:rPr lang="en-US" sz="2400" b="1" dirty="0">
                <a:solidFill>
                  <a:srgbClr val="1E2A35"/>
                </a:solidFill>
                <a:latin typeface="Aptos Display" pitchFamily="34" charset="0"/>
                <a:ea typeface="Aptos Display" pitchFamily="34" charset="-122"/>
                <a:cs typeface="Aptos Display" pitchFamily="34" charset="-120"/>
              </a:rPr>
              <a:t>Taxonomy gaps and data-quality signals</a:t>
            </a:r>
            <a:endParaRPr lang="en-US" sz="2400" dirty="0"/>
          </a:p>
        </p:txBody>
      </p:sp>
      <p:sp>
        <p:nvSpPr>
          <p:cNvPr id="3" name="Text 1"/>
          <p:cNvSpPr/>
          <p:nvPr/>
        </p:nvSpPr>
        <p:spPr>
          <a:xfrm>
            <a:off x="484632" y="694944"/>
            <a:ext cx="11064240" cy="320040"/>
          </a:xfrm>
          <a:prstGeom prst="rect">
            <a:avLst/>
          </a:prstGeom>
          <a:noFill/>
          <a:ln/>
        </p:spPr>
        <p:txBody>
          <a:bodyPr wrap="square" lIns="0" tIns="0" rIns="0" bIns="0" rtlCol="0" anchor="ctr"/>
          <a:lstStyle/>
          <a:p>
            <a:pPr marL="0" indent="0">
              <a:buNone/>
            </a:pPr>
            <a:r>
              <a:rPr lang="en-US" sz="1150" dirty="0">
                <a:solidFill>
                  <a:srgbClr val="5D6976"/>
                </a:solidFill>
                <a:latin typeface="Aptos" pitchFamily="34" charset="0"/>
                <a:ea typeface="Aptos" pitchFamily="34" charset="-122"/>
                <a:cs typeface="Aptos" pitchFamily="34" charset="-120"/>
              </a:rPr>
              <a:t>What the classifier could not cleanly map to the current taxonomy</a:t>
            </a:r>
            <a:endParaRPr lang="en-US" sz="1150" dirty="0"/>
          </a:p>
        </p:txBody>
      </p:sp>
      <p:sp>
        <p:nvSpPr>
          <p:cNvPr id="4" name="Shape 2"/>
          <p:cNvSpPr/>
          <p:nvPr/>
        </p:nvSpPr>
        <p:spPr>
          <a:xfrm>
            <a:off x="475488" y="1005840"/>
            <a:ext cx="11247120" cy="530352"/>
          </a:xfrm>
          <a:prstGeom prst="roundRect">
            <a:avLst>
              <a:gd name="adj" fmla="val 13793"/>
            </a:avLst>
          </a:prstGeom>
          <a:solidFill>
            <a:srgbClr val="EDF5FA"/>
          </a:solidFill>
          <a:ln w="10160">
            <a:solidFill>
              <a:srgbClr val="D7E6EF"/>
            </a:solidFill>
            <a:prstDash val="solid"/>
          </a:ln>
        </p:spPr>
        <p:txBody>
          <a:bodyPr/>
          <a:lstStyle/>
          <a:p>
            <a:endParaRPr lang="en-US"/>
          </a:p>
        </p:txBody>
      </p:sp>
      <p:sp>
        <p:nvSpPr>
          <p:cNvPr id="5" name="Text 3"/>
          <p:cNvSpPr/>
          <p:nvPr/>
        </p:nvSpPr>
        <p:spPr>
          <a:xfrm>
            <a:off x="658368" y="1152144"/>
            <a:ext cx="10881360" cy="237744"/>
          </a:xfrm>
          <a:prstGeom prst="rect">
            <a:avLst/>
          </a:prstGeom>
          <a:noFill/>
          <a:ln/>
        </p:spPr>
        <p:txBody>
          <a:bodyPr wrap="square" lIns="0" tIns="0" rIns="0" bIns="0" rtlCol="0" anchor="ctr"/>
          <a:lstStyle/>
          <a:p>
            <a:pPr marL="0" indent="0">
              <a:buNone/>
            </a:pPr>
            <a:r>
              <a:rPr lang="en-US" sz="1150" b="1" dirty="0">
                <a:solidFill>
                  <a:srgbClr val="163A5F"/>
                </a:solidFill>
                <a:latin typeface="Aptos" pitchFamily="34" charset="0"/>
                <a:ea typeface="Aptos" pitchFamily="34" charset="-122"/>
                <a:cs typeface="Aptos" pitchFamily="34" charset="-120"/>
              </a:rPr>
              <a:t>Key message: </a:t>
            </a:r>
            <a:r>
              <a:rPr lang="en-US" sz="1150" dirty="0">
                <a:solidFill>
                  <a:srgbClr val="1E2A35"/>
                </a:solidFill>
                <a:latin typeface="Aptos" pitchFamily="34" charset="0"/>
                <a:ea typeface="Aptos" pitchFamily="34" charset="-122"/>
                <a:cs typeface="Aptos" pitchFamily="34" charset="-120"/>
              </a:rPr>
              <a:t>Meaningful taxonomy gaps appear rare; however, the gap list is dominated by missing values and duplicate “no explicit feature” labels, so the gap pipeline needs cleaning before taxonomy expansion.</a:t>
            </a:r>
            <a:endParaRPr lang="en-US" sz="1150" dirty="0"/>
          </a:p>
        </p:txBody>
      </p:sp>
      <p:sp>
        <p:nvSpPr>
          <p:cNvPr id="6" name="Shape 4"/>
          <p:cNvSpPr/>
          <p:nvPr/>
        </p:nvSpPr>
        <p:spPr>
          <a:xfrm>
            <a:off x="475488"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7" name="Shape 5"/>
          <p:cNvSpPr/>
          <p:nvPr/>
        </p:nvSpPr>
        <p:spPr>
          <a:xfrm>
            <a:off x="475488" y="1682496"/>
            <a:ext cx="64008" cy="850392"/>
          </a:xfrm>
          <a:prstGeom prst="rect">
            <a:avLst/>
          </a:prstGeom>
          <a:solidFill>
            <a:srgbClr val="2A6F9E"/>
          </a:solidFill>
          <a:ln w="12700">
            <a:solidFill>
              <a:srgbClr val="2A6F9E"/>
            </a:solidFill>
            <a:prstDash val="solid"/>
          </a:ln>
        </p:spPr>
        <p:txBody>
          <a:bodyPr/>
          <a:lstStyle/>
          <a:p>
            <a:endParaRPr lang="en-US"/>
          </a:p>
        </p:txBody>
      </p:sp>
      <p:sp>
        <p:nvSpPr>
          <p:cNvPr id="8" name="Text 6"/>
          <p:cNvSpPr/>
          <p:nvPr/>
        </p:nvSpPr>
        <p:spPr>
          <a:xfrm>
            <a:off x="640080" y="1783080"/>
            <a:ext cx="3401568" cy="182880"/>
          </a:xfrm>
          <a:prstGeom prst="rect">
            <a:avLst/>
          </a:prstGeom>
          <a:noFill/>
          <a:ln/>
        </p:spPr>
        <p:txBody>
          <a:bodyPr wrap="square" lIns="0" tIns="0" rIns="0" bIns="0" rtlCol="0" anchor="ctr"/>
          <a:lstStyle/>
          <a:p>
            <a:pPr marL="0" indent="0">
              <a:buNone/>
            </a:pPr>
            <a:r>
              <a:rPr lang="en-US" sz="850" b="1" kern="0" spc="40" dirty="0">
                <a:solidFill>
                  <a:srgbClr val="2A6F9E"/>
                </a:solidFill>
                <a:latin typeface="Aptos" pitchFamily="34" charset="0"/>
                <a:ea typeface="Aptos" pitchFamily="34" charset="-122"/>
                <a:cs typeface="Aptos" pitchFamily="34" charset="-120"/>
              </a:rPr>
              <a:t>INPUT</a:t>
            </a:r>
            <a:endParaRPr lang="en-US" sz="850" dirty="0"/>
          </a:p>
        </p:txBody>
      </p:sp>
      <p:sp>
        <p:nvSpPr>
          <p:cNvPr id="9" name="Text 7"/>
          <p:cNvSpPr/>
          <p:nvPr/>
        </p:nvSpPr>
        <p:spPr>
          <a:xfrm>
            <a:off x="640080"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Rows flagged as taxonomy gaps by the coding pipeline.</a:t>
            </a:r>
            <a:endParaRPr lang="en-US" sz="1030" dirty="0"/>
          </a:p>
        </p:txBody>
      </p:sp>
      <p:sp>
        <p:nvSpPr>
          <p:cNvPr id="10" name="Shape 8"/>
          <p:cNvSpPr/>
          <p:nvPr/>
        </p:nvSpPr>
        <p:spPr>
          <a:xfrm>
            <a:off x="4261104"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11" name="Shape 9"/>
          <p:cNvSpPr/>
          <p:nvPr/>
        </p:nvSpPr>
        <p:spPr>
          <a:xfrm>
            <a:off x="4261104" y="1682496"/>
            <a:ext cx="64008" cy="850392"/>
          </a:xfrm>
          <a:prstGeom prst="rect">
            <a:avLst/>
          </a:prstGeom>
          <a:solidFill>
            <a:srgbClr val="2B8C87"/>
          </a:solidFill>
          <a:ln w="12700">
            <a:solidFill>
              <a:srgbClr val="2B8C87"/>
            </a:solidFill>
            <a:prstDash val="solid"/>
          </a:ln>
        </p:spPr>
        <p:txBody>
          <a:bodyPr/>
          <a:lstStyle/>
          <a:p>
            <a:endParaRPr lang="en-US"/>
          </a:p>
        </p:txBody>
      </p:sp>
      <p:sp>
        <p:nvSpPr>
          <p:cNvPr id="12" name="Text 10"/>
          <p:cNvSpPr/>
          <p:nvPr/>
        </p:nvSpPr>
        <p:spPr>
          <a:xfrm>
            <a:off x="4425696" y="1783080"/>
            <a:ext cx="3401568" cy="182880"/>
          </a:xfrm>
          <a:prstGeom prst="rect">
            <a:avLst/>
          </a:prstGeom>
          <a:noFill/>
          <a:ln/>
        </p:spPr>
        <p:txBody>
          <a:bodyPr wrap="square" lIns="0" tIns="0" rIns="0" bIns="0" rtlCol="0" anchor="ctr"/>
          <a:lstStyle/>
          <a:p>
            <a:pPr marL="0" indent="0">
              <a:buNone/>
            </a:pPr>
            <a:r>
              <a:rPr lang="en-US" sz="850" b="1" kern="0" spc="40" dirty="0">
                <a:solidFill>
                  <a:srgbClr val="2B8C87"/>
                </a:solidFill>
                <a:latin typeface="Aptos" pitchFamily="34" charset="0"/>
                <a:ea typeface="Aptos" pitchFamily="34" charset="-122"/>
                <a:cs typeface="Aptos" pitchFamily="34" charset="-120"/>
              </a:rPr>
              <a:t>OUTPUT</a:t>
            </a:r>
            <a:endParaRPr lang="en-US" sz="850" dirty="0"/>
          </a:p>
        </p:txBody>
      </p:sp>
      <p:sp>
        <p:nvSpPr>
          <p:cNvPr id="13" name="Text 11"/>
          <p:cNvSpPr/>
          <p:nvPr/>
        </p:nvSpPr>
        <p:spPr>
          <a:xfrm>
            <a:off x="4425696"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Counts of the most common gap concepts.</a:t>
            </a:r>
            <a:endParaRPr lang="en-US" sz="1030" dirty="0"/>
          </a:p>
        </p:txBody>
      </p:sp>
      <p:sp>
        <p:nvSpPr>
          <p:cNvPr id="14" name="Shape 12"/>
          <p:cNvSpPr/>
          <p:nvPr/>
        </p:nvSpPr>
        <p:spPr>
          <a:xfrm>
            <a:off x="8046720" y="1682496"/>
            <a:ext cx="3675888" cy="850392"/>
          </a:xfrm>
          <a:prstGeom prst="roundRect">
            <a:avLst>
              <a:gd name="adj" fmla="val 7527"/>
            </a:avLst>
          </a:prstGeom>
          <a:solidFill>
            <a:srgbClr val="F4F7F9"/>
          </a:solidFill>
          <a:ln w="10160">
            <a:solidFill>
              <a:srgbClr val="D7DEE6"/>
            </a:solidFill>
            <a:prstDash val="solid"/>
          </a:ln>
        </p:spPr>
        <p:txBody>
          <a:bodyPr/>
          <a:lstStyle/>
          <a:p>
            <a:endParaRPr lang="en-US"/>
          </a:p>
        </p:txBody>
      </p:sp>
      <p:sp>
        <p:nvSpPr>
          <p:cNvPr id="15" name="Shape 13"/>
          <p:cNvSpPr/>
          <p:nvPr/>
        </p:nvSpPr>
        <p:spPr>
          <a:xfrm>
            <a:off x="8046720" y="1682496"/>
            <a:ext cx="64008" cy="850392"/>
          </a:xfrm>
          <a:prstGeom prst="rect">
            <a:avLst/>
          </a:prstGeom>
          <a:solidFill>
            <a:srgbClr val="D49A35"/>
          </a:solidFill>
          <a:ln w="12700">
            <a:solidFill>
              <a:srgbClr val="D49A35"/>
            </a:solidFill>
            <a:prstDash val="solid"/>
          </a:ln>
        </p:spPr>
        <p:txBody>
          <a:bodyPr/>
          <a:lstStyle/>
          <a:p>
            <a:endParaRPr lang="en-US"/>
          </a:p>
        </p:txBody>
      </p:sp>
      <p:sp>
        <p:nvSpPr>
          <p:cNvPr id="16" name="Text 14"/>
          <p:cNvSpPr/>
          <p:nvPr/>
        </p:nvSpPr>
        <p:spPr>
          <a:xfrm>
            <a:off x="8211312" y="1783080"/>
            <a:ext cx="3401568" cy="182880"/>
          </a:xfrm>
          <a:prstGeom prst="rect">
            <a:avLst/>
          </a:prstGeom>
          <a:noFill/>
          <a:ln/>
        </p:spPr>
        <p:txBody>
          <a:bodyPr wrap="square" lIns="0" tIns="0" rIns="0" bIns="0" rtlCol="0" anchor="ctr"/>
          <a:lstStyle/>
          <a:p>
            <a:pPr marL="0" indent="0">
              <a:buNone/>
            </a:pPr>
            <a:r>
              <a:rPr lang="en-US" sz="850" b="1" kern="0" spc="40" dirty="0">
                <a:solidFill>
                  <a:srgbClr val="D49A35"/>
                </a:solidFill>
                <a:latin typeface="Aptos" pitchFamily="34" charset="0"/>
                <a:ea typeface="Aptos" pitchFamily="34" charset="-122"/>
                <a:cs typeface="Aptos" pitchFamily="34" charset="-120"/>
              </a:rPr>
              <a:t>HOW TO INTERPRET</a:t>
            </a:r>
            <a:endParaRPr lang="en-US" sz="850" dirty="0"/>
          </a:p>
        </p:txBody>
      </p:sp>
      <p:sp>
        <p:nvSpPr>
          <p:cNvPr id="17" name="Text 15"/>
          <p:cNvSpPr/>
          <p:nvPr/>
        </p:nvSpPr>
        <p:spPr>
          <a:xfrm>
            <a:off x="8211312" y="1984248"/>
            <a:ext cx="3401568" cy="466344"/>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True novel concepts should appear as interpretable themes. “NaN,” placeholders, and duplicates are pipeline-cleaning issues rather than conceptual gaps.</a:t>
            </a:r>
            <a:endParaRPr lang="en-US" sz="1030" dirty="0"/>
          </a:p>
        </p:txBody>
      </p:sp>
      <p:sp>
        <p:nvSpPr>
          <p:cNvPr id="18" name="Shape 16"/>
          <p:cNvSpPr/>
          <p:nvPr/>
        </p:nvSpPr>
        <p:spPr>
          <a:xfrm>
            <a:off x="475488" y="2670048"/>
            <a:ext cx="11247120" cy="3547872"/>
          </a:xfrm>
          <a:prstGeom prst="roundRect">
            <a:avLst>
              <a:gd name="adj" fmla="val 1031"/>
            </a:avLst>
          </a:prstGeom>
          <a:solidFill>
            <a:srgbClr val="FFFFFF"/>
          </a:solidFill>
          <a:ln w="10160">
            <a:solidFill>
              <a:srgbClr val="D7DEE6"/>
            </a:solidFill>
            <a:prstDash val="solid"/>
          </a:ln>
        </p:spPr>
        <p:txBody>
          <a:bodyPr/>
          <a:lstStyle/>
          <a:p>
            <a:endParaRPr lang="en-US"/>
          </a:p>
        </p:txBody>
      </p:sp>
      <p:pic>
        <p:nvPicPr>
          <p:cNvPr id="19" name="Image 0" descr="/mnt/data/12_taxonomy_gap_concepts(1).png"/>
          <p:cNvPicPr>
            <a:picLocks noChangeAspect="1"/>
          </p:cNvPicPr>
          <p:nvPr/>
        </p:nvPicPr>
        <p:blipFill>
          <a:blip r:embed="rId3"/>
          <a:stretch>
            <a:fillRect/>
          </a:stretch>
        </p:blipFill>
        <p:spPr>
          <a:xfrm>
            <a:off x="2615400" y="2715768"/>
            <a:ext cx="6967296" cy="3456432"/>
          </a:xfrm>
          <a:prstGeom prst="rect">
            <a:avLst/>
          </a:prstGeom>
        </p:spPr>
      </p:pic>
      <p:sp>
        <p:nvSpPr>
          <p:cNvPr id="25" name="Slide Number Placeholder 0"/>
          <p:cNvSpPr>
            <a:spLocks noGrp="1"/>
          </p:cNvSpPr>
          <p:nvPr>
            <p:ph type="sldNum" sz="quarter" idx="4294967295"/>
          </p:nvPr>
        </p:nvSpPr>
        <p:spPr>
          <a:xfrm>
            <a:off x="11823192" y="6492240"/>
            <a:ext cx="201168"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6B7785"/>
                </a:solidFill>
                <a:latin typeface="Aptos"/>
                <a:ea typeface="Aptos"/>
                <a:cs typeface="Aptos"/>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75488" y="274320"/>
            <a:ext cx="11064240" cy="365760"/>
          </a:xfrm>
          <a:prstGeom prst="rect">
            <a:avLst/>
          </a:prstGeom>
          <a:noFill/>
          <a:ln/>
        </p:spPr>
        <p:txBody>
          <a:bodyPr wrap="square" lIns="0" tIns="0" rIns="0" bIns="0" rtlCol="0" anchor="ctr"/>
          <a:lstStyle/>
          <a:p>
            <a:pPr marL="0" indent="0">
              <a:buNone/>
            </a:pPr>
            <a:r>
              <a:rPr lang="en-US" sz="2400" b="1" dirty="0">
                <a:solidFill>
                  <a:srgbClr val="1E2A35"/>
                </a:solidFill>
                <a:latin typeface="Aptos Display" pitchFamily="34" charset="0"/>
                <a:ea typeface="Aptos Display" pitchFamily="34" charset="-122"/>
                <a:cs typeface="Aptos Display" pitchFamily="34" charset="-120"/>
              </a:rPr>
              <a:t>Integrated interpretation: the dominant learning pathway</a:t>
            </a:r>
            <a:endParaRPr lang="en-US" sz="2400" dirty="0"/>
          </a:p>
        </p:txBody>
      </p:sp>
      <p:sp>
        <p:nvSpPr>
          <p:cNvPr id="3" name="Text 1"/>
          <p:cNvSpPr/>
          <p:nvPr/>
        </p:nvSpPr>
        <p:spPr>
          <a:xfrm>
            <a:off x="484632" y="694944"/>
            <a:ext cx="11064240" cy="320040"/>
          </a:xfrm>
          <a:prstGeom prst="rect">
            <a:avLst/>
          </a:prstGeom>
          <a:noFill/>
          <a:ln/>
        </p:spPr>
        <p:txBody>
          <a:bodyPr wrap="square" lIns="0" tIns="0" rIns="0" bIns="0" rtlCol="0" anchor="ctr"/>
          <a:lstStyle/>
          <a:p>
            <a:pPr marL="0" indent="0">
              <a:buNone/>
            </a:pPr>
            <a:r>
              <a:rPr lang="en-US" sz="1150" dirty="0">
                <a:solidFill>
                  <a:srgbClr val="5D6976"/>
                </a:solidFill>
                <a:latin typeface="Aptos" pitchFamily="34" charset="0"/>
                <a:ea typeface="Aptos" pitchFamily="34" charset="-122"/>
                <a:cs typeface="Aptos" pitchFamily="34" charset="-120"/>
              </a:rPr>
              <a:t>A synthesis across environment, mechanism, and developmental outcomes</a:t>
            </a:r>
            <a:endParaRPr lang="en-US" sz="1150" dirty="0"/>
          </a:p>
        </p:txBody>
      </p:sp>
      <p:sp>
        <p:nvSpPr>
          <p:cNvPr id="4" name="Shape 2"/>
          <p:cNvSpPr/>
          <p:nvPr/>
        </p:nvSpPr>
        <p:spPr>
          <a:xfrm>
            <a:off x="475488" y="1005840"/>
            <a:ext cx="11247120" cy="530352"/>
          </a:xfrm>
          <a:prstGeom prst="roundRect">
            <a:avLst>
              <a:gd name="adj" fmla="val 13793"/>
            </a:avLst>
          </a:prstGeom>
          <a:solidFill>
            <a:srgbClr val="EDF7F5"/>
          </a:solidFill>
          <a:ln w="10160">
            <a:solidFill>
              <a:srgbClr val="D7E6EF"/>
            </a:solidFill>
            <a:prstDash val="solid"/>
          </a:ln>
        </p:spPr>
        <p:txBody>
          <a:bodyPr/>
          <a:lstStyle/>
          <a:p>
            <a:endParaRPr lang="en-US"/>
          </a:p>
        </p:txBody>
      </p:sp>
      <p:sp>
        <p:nvSpPr>
          <p:cNvPr id="5" name="Text 3"/>
          <p:cNvSpPr/>
          <p:nvPr/>
        </p:nvSpPr>
        <p:spPr>
          <a:xfrm>
            <a:off x="658368" y="1152144"/>
            <a:ext cx="10881360" cy="237744"/>
          </a:xfrm>
          <a:prstGeom prst="rect">
            <a:avLst/>
          </a:prstGeom>
          <a:noFill/>
          <a:ln/>
        </p:spPr>
        <p:txBody>
          <a:bodyPr wrap="square" lIns="0" tIns="0" rIns="0" bIns="0" rtlCol="0" anchor="ctr"/>
          <a:lstStyle/>
          <a:p>
            <a:pPr marL="0" indent="0">
              <a:buNone/>
            </a:pPr>
            <a:r>
              <a:rPr lang="en-US" sz="1150" b="1" dirty="0">
                <a:solidFill>
                  <a:srgbClr val="163A5F"/>
                </a:solidFill>
                <a:latin typeface="Aptos" pitchFamily="34" charset="0"/>
                <a:ea typeface="Aptos" pitchFamily="34" charset="-122"/>
                <a:cs typeface="Aptos" pitchFamily="34" charset="-120"/>
              </a:rPr>
              <a:t>Key message: </a:t>
            </a:r>
            <a:r>
              <a:rPr lang="en-US" sz="1150" dirty="0">
                <a:solidFill>
                  <a:srgbClr val="1E2A35"/>
                </a:solidFill>
                <a:latin typeface="Aptos" pitchFamily="34" charset="0"/>
                <a:ea typeface="Aptos" pitchFamily="34" charset="-122"/>
                <a:cs typeface="Aptos" pitchFamily="34" charset="-120"/>
              </a:rPr>
              <a:t>The strongest cross-chart story is a feedback-rich learning ecosystem: supportive faculty and psychologically safe supervision enable coaching, reflection, and structured teaching, which are linked descriptively to communication, reasoning, feedback receptivity, and autonomy.</a:t>
            </a:r>
            <a:endParaRPr lang="en-US" sz="1150" dirty="0"/>
          </a:p>
        </p:txBody>
      </p:sp>
      <p:sp>
        <p:nvSpPr>
          <p:cNvPr id="6" name="Shape 4"/>
          <p:cNvSpPr/>
          <p:nvPr/>
        </p:nvSpPr>
        <p:spPr>
          <a:xfrm>
            <a:off x="621792" y="1828800"/>
            <a:ext cx="3246120" cy="3584448"/>
          </a:xfrm>
          <a:prstGeom prst="roundRect">
            <a:avLst>
              <a:gd name="adj" fmla="val 1972"/>
            </a:avLst>
          </a:prstGeom>
          <a:solidFill>
            <a:srgbClr val="EDF5FA"/>
          </a:solidFill>
          <a:ln w="11430">
            <a:solidFill>
              <a:srgbClr val="D7DEE6"/>
            </a:solidFill>
            <a:prstDash val="solid"/>
          </a:ln>
        </p:spPr>
        <p:txBody>
          <a:bodyPr/>
          <a:lstStyle/>
          <a:p>
            <a:endParaRPr lang="en-US"/>
          </a:p>
        </p:txBody>
      </p:sp>
      <p:sp>
        <p:nvSpPr>
          <p:cNvPr id="7" name="Text 5"/>
          <p:cNvSpPr/>
          <p:nvPr/>
        </p:nvSpPr>
        <p:spPr>
          <a:xfrm>
            <a:off x="786384" y="1993392"/>
            <a:ext cx="2926080" cy="219456"/>
          </a:xfrm>
          <a:prstGeom prst="rect">
            <a:avLst/>
          </a:prstGeom>
          <a:noFill/>
          <a:ln/>
        </p:spPr>
        <p:txBody>
          <a:bodyPr wrap="square" lIns="0" tIns="0" rIns="0" bIns="0" rtlCol="0" anchor="ctr"/>
          <a:lstStyle/>
          <a:p>
            <a:pPr marL="0" indent="0" algn="ctr">
              <a:buNone/>
            </a:pPr>
            <a:r>
              <a:rPr lang="en-US" sz="900" b="1" kern="0" spc="45" dirty="0">
                <a:solidFill>
                  <a:srgbClr val="2A6F9E"/>
                </a:solidFill>
              </a:rPr>
              <a:t>LEARNING ENVIRONMENT</a:t>
            </a:r>
            <a:endParaRPr lang="en-US" sz="900" dirty="0"/>
          </a:p>
        </p:txBody>
      </p:sp>
      <p:sp>
        <p:nvSpPr>
          <p:cNvPr id="8" name="Shape 6"/>
          <p:cNvSpPr/>
          <p:nvPr/>
        </p:nvSpPr>
        <p:spPr>
          <a:xfrm>
            <a:off x="877824" y="2450592"/>
            <a:ext cx="2724912" cy="384048"/>
          </a:xfrm>
          <a:prstGeom prst="roundRect">
            <a:avLst>
              <a:gd name="adj" fmla="val 9524"/>
            </a:avLst>
          </a:prstGeom>
          <a:solidFill>
            <a:srgbClr val="FFFFFF"/>
          </a:solidFill>
          <a:ln w="7620">
            <a:solidFill>
              <a:srgbClr val="D6DEE5"/>
            </a:solidFill>
            <a:prstDash val="solid"/>
          </a:ln>
        </p:spPr>
        <p:txBody>
          <a:bodyPr/>
          <a:lstStyle/>
          <a:p>
            <a:endParaRPr lang="en-US"/>
          </a:p>
        </p:txBody>
      </p:sp>
      <p:sp>
        <p:nvSpPr>
          <p:cNvPr id="9" name="Text 7"/>
          <p:cNvSpPr/>
          <p:nvPr/>
        </p:nvSpPr>
        <p:spPr>
          <a:xfrm>
            <a:off x="969264" y="2551176"/>
            <a:ext cx="2542032" cy="164592"/>
          </a:xfrm>
          <a:prstGeom prst="rect">
            <a:avLst/>
          </a:prstGeom>
          <a:noFill/>
          <a:ln/>
        </p:spPr>
        <p:txBody>
          <a:bodyPr wrap="square" lIns="0" tIns="0" rIns="0" bIns="0" rtlCol="0" anchor="ctr"/>
          <a:lstStyle/>
          <a:p>
            <a:pPr marL="0" indent="0" algn="ctr">
              <a:buNone/>
            </a:pPr>
            <a:r>
              <a:rPr lang="en-US" sz="1020" dirty="0">
                <a:solidFill>
                  <a:srgbClr val="1E2A35"/>
                </a:solidFill>
              </a:rPr>
              <a:t>Faculty teaching / mentorship</a:t>
            </a:r>
            <a:endParaRPr lang="en-US" sz="1020" dirty="0"/>
          </a:p>
        </p:txBody>
      </p:sp>
      <p:sp>
        <p:nvSpPr>
          <p:cNvPr id="10" name="Shape 8"/>
          <p:cNvSpPr/>
          <p:nvPr/>
        </p:nvSpPr>
        <p:spPr>
          <a:xfrm>
            <a:off x="877824" y="2962656"/>
            <a:ext cx="2724912" cy="384048"/>
          </a:xfrm>
          <a:prstGeom prst="roundRect">
            <a:avLst>
              <a:gd name="adj" fmla="val 9524"/>
            </a:avLst>
          </a:prstGeom>
          <a:solidFill>
            <a:srgbClr val="FFFFFF"/>
          </a:solidFill>
          <a:ln w="7620">
            <a:solidFill>
              <a:srgbClr val="D6DEE5"/>
            </a:solidFill>
            <a:prstDash val="solid"/>
          </a:ln>
        </p:spPr>
        <p:txBody>
          <a:bodyPr/>
          <a:lstStyle/>
          <a:p>
            <a:endParaRPr lang="en-US"/>
          </a:p>
        </p:txBody>
      </p:sp>
      <p:sp>
        <p:nvSpPr>
          <p:cNvPr id="11" name="Text 9"/>
          <p:cNvSpPr/>
          <p:nvPr/>
        </p:nvSpPr>
        <p:spPr>
          <a:xfrm>
            <a:off x="969264" y="3063240"/>
            <a:ext cx="2542032" cy="164592"/>
          </a:xfrm>
          <a:prstGeom prst="rect">
            <a:avLst/>
          </a:prstGeom>
          <a:noFill/>
          <a:ln/>
        </p:spPr>
        <p:txBody>
          <a:bodyPr wrap="square" lIns="0" tIns="0" rIns="0" bIns="0" rtlCol="0" anchor="ctr"/>
          <a:lstStyle/>
          <a:p>
            <a:pPr marL="0" indent="0" algn="ctr">
              <a:buNone/>
            </a:pPr>
            <a:r>
              <a:rPr lang="en-US" sz="1020" dirty="0">
                <a:solidFill>
                  <a:srgbClr val="1E2A35"/>
                </a:solidFill>
              </a:rPr>
              <a:t>Teaching infrastructure</a:t>
            </a:r>
            <a:endParaRPr lang="en-US" sz="1020" dirty="0"/>
          </a:p>
        </p:txBody>
      </p:sp>
      <p:sp>
        <p:nvSpPr>
          <p:cNvPr id="12" name="Shape 10"/>
          <p:cNvSpPr/>
          <p:nvPr/>
        </p:nvSpPr>
        <p:spPr>
          <a:xfrm>
            <a:off x="877824" y="3474720"/>
            <a:ext cx="2724912" cy="384048"/>
          </a:xfrm>
          <a:prstGeom prst="roundRect">
            <a:avLst>
              <a:gd name="adj" fmla="val 9524"/>
            </a:avLst>
          </a:prstGeom>
          <a:solidFill>
            <a:srgbClr val="FFFFFF"/>
          </a:solidFill>
          <a:ln w="7620">
            <a:solidFill>
              <a:srgbClr val="D6DEE5"/>
            </a:solidFill>
            <a:prstDash val="solid"/>
          </a:ln>
        </p:spPr>
        <p:txBody>
          <a:bodyPr/>
          <a:lstStyle/>
          <a:p>
            <a:endParaRPr lang="en-US"/>
          </a:p>
        </p:txBody>
      </p:sp>
      <p:sp>
        <p:nvSpPr>
          <p:cNvPr id="13" name="Text 11"/>
          <p:cNvSpPr/>
          <p:nvPr/>
        </p:nvSpPr>
        <p:spPr>
          <a:xfrm>
            <a:off x="969264" y="3575304"/>
            <a:ext cx="2542032" cy="164592"/>
          </a:xfrm>
          <a:prstGeom prst="rect">
            <a:avLst/>
          </a:prstGeom>
          <a:noFill/>
          <a:ln/>
        </p:spPr>
        <p:txBody>
          <a:bodyPr wrap="square" lIns="0" tIns="0" rIns="0" bIns="0" rtlCol="0" anchor="ctr"/>
          <a:lstStyle/>
          <a:p>
            <a:pPr marL="0" indent="0" algn="ctr">
              <a:buNone/>
            </a:pPr>
            <a:r>
              <a:rPr lang="en-US" sz="1020" dirty="0">
                <a:solidFill>
                  <a:srgbClr val="1E2A35"/>
                </a:solidFill>
              </a:rPr>
              <a:t>Psychological safety</a:t>
            </a:r>
            <a:endParaRPr lang="en-US" sz="1020" dirty="0"/>
          </a:p>
        </p:txBody>
      </p:sp>
      <p:sp>
        <p:nvSpPr>
          <p:cNvPr id="14" name="Shape 12"/>
          <p:cNvSpPr/>
          <p:nvPr/>
        </p:nvSpPr>
        <p:spPr>
          <a:xfrm>
            <a:off x="877824" y="3986784"/>
            <a:ext cx="2724912" cy="384048"/>
          </a:xfrm>
          <a:prstGeom prst="roundRect">
            <a:avLst>
              <a:gd name="adj" fmla="val 9524"/>
            </a:avLst>
          </a:prstGeom>
          <a:solidFill>
            <a:srgbClr val="FFFFFF"/>
          </a:solidFill>
          <a:ln w="7620">
            <a:solidFill>
              <a:srgbClr val="D6DEE5"/>
            </a:solidFill>
            <a:prstDash val="solid"/>
          </a:ln>
        </p:spPr>
        <p:txBody>
          <a:bodyPr/>
          <a:lstStyle/>
          <a:p>
            <a:endParaRPr lang="en-US"/>
          </a:p>
        </p:txBody>
      </p:sp>
      <p:sp>
        <p:nvSpPr>
          <p:cNvPr id="15" name="Text 13"/>
          <p:cNvSpPr/>
          <p:nvPr/>
        </p:nvSpPr>
        <p:spPr>
          <a:xfrm>
            <a:off x="969264" y="4087368"/>
            <a:ext cx="2542032" cy="164592"/>
          </a:xfrm>
          <a:prstGeom prst="rect">
            <a:avLst/>
          </a:prstGeom>
          <a:noFill/>
          <a:ln/>
        </p:spPr>
        <p:txBody>
          <a:bodyPr wrap="square" lIns="0" tIns="0" rIns="0" bIns="0" rtlCol="0" anchor="ctr"/>
          <a:lstStyle/>
          <a:p>
            <a:pPr marL="0" indent="0" algn="ctr">
              <a:buNone/>
            </a:pPr>
            <a:r>
              <a:rPr lang="en-US" sz="1020" dirty="0">
                <a:solidFill>
                  <a:srgbClr val="1E2A35"/>
                </a:solidFill>
              </a:rPr>
              <a:t>Supervision / autonomy</a:t>
            </a:r>
            <a:endParaRPr lang="en-US" sz="1020" dirty="0"/>
          </a:p>
        </p:txBody>
      </p:sp>
      <p:sp>
        <p:nvSpPr>
          <p:cNvPr id="16" name="Shape 14"/>
          <p:cNvSpPr/>
          <p:nvPr/>
        </p:nvSpPr>
        <p:spPr>
          <a:xfrm>
            <a:off x="877824" y="4498848"/>
            <a:ext cx="2724912" cy="384048"/>
          </a:xfrm>
          <a:prstGeom prst="roundRect">
            <a:avLst>
              <a:gd name="adj" fmla="val 9524"/>
            </a:avLst>
          </a:prstGeom>
          <a:solidFill>
            <a:srgbClr val="FFFFFF"/>
          </a:solidFill>
          <a:ln w="7620">
            <a:solidFill>
              <a:srgbClr val="D6DEE5"/>
            </a:solidFill>
            <a:prstDash val="solid"/>
          </a:ln>
        </p:spPr>
        <p:txBody>
          <a:bodyPr/>
          <a:lstStyle/>
          <a:p>
            <a:endParaRPr lang="en-US"/>
          </a:p>
        </p:txBody>
      </p:sp>
      <p:sp>
        <p:nvSpPr>
          <p:cNvPr id="17" name="Text 15"/>
          <p:cNvSpPr/>
          <p:nvPr/>
        </p:nvSpPr>
        <p:spPr>
          <a:xfrm>
            <a:off x="969264" y="4599432"/>
            <a:ext cx="2542032" cy="164592"/>
          </a:xfrm>
          <a:prstGeom prst="rect">
            <a:avLst/>
          </a:prstGeom>
          <a:noFill/>
          <a:ln/>
        </p:spPr>
        <p:txBody>
          <a:bodyPr wrap="square" lIns="0" tIns="0" rIns="0" bIns="0" rtlCol="0" anchor="ctr"/>
          <a:lstStyle/>
          <a:p>
            <a:pPr marL="0" indent="0" algn="ctr">
              <a:buNone/>
            </a:pPr>
            <a:r>
              <a:rPr lang="en-US" sz="1020" dirty="0">
                <a:solidFill>
                  <a:srgbClr val="1E2A35"/>
                </a:solidFill>
              </a:rPr>
              <a:t>Workload &amp; wellbeing context</a:t>
            </a:r>
            <a:endParaRPr lang="en-US" sz="1020" dirty="0"/>
          </a:p>
        </p:txBody>
      </p:sp>
      <p:sp>
        <p:nvSpPr>
          <p:cNvPr id="18" name="Shape 16"/>
          <p:cNvSpPr/>
          <p:nvPr/>
        </p:nvSpPr>
        <p:spPr>
          <a:xfrm>
            <a:off x="3986784" y="3291840"/>
            <a:ext cx="457200" cy="676656"/>
          </a:xfrm>
          <a:prstGeom prst="chevron">
            <a:avLst/>
          </a:prstGeom>
          <a:solidFill>
            <a:srgbClr val="AAB6C0"/>
          </a:solidFill>
          <a:ln w="12700">
            <a:solidFill>
              <a:srgbClr val="AAB6C0"/>
            </a:solidFill>
            <a:prstDash val="solid"/>
          </a:ln>
        </p:spPr>
        <p:txBody>
          <a:bodyPr/>
          <a:lstStyle/>
          <a:p>
            <a:endParaRPr lang="en-US"/>
          </a:p>
        </p:txBody>
      </p:sp>
      <p:sp>
        <p:nvSpPr>
          <p:cNvPr id="19" name="Shape 17"/>
          <p:cNvSpPr/>
          <p:nvPr/>
        </p:nvSpPr>
        <p:spPr>
          <a:xfrm>
            <a:off x="4251960" y="1828800"/>
            <a:ext cx="3246120" cy="3584448"/>
          </a:xfrm>
          <a:prstGeom prst="roundRect">
            <a:avLst>
              <a:gd name="adj" fmla="val 1972"/>
            </a:avLst>
          </a:prstGeom>
          <a:solidFill>
            <a:srgbClr val="EDF7F5"/>
          </a:solidFill>
          <a:ln w="11430">
            <a:solidFill>
              <a:srgbClr val="D7DEE6"/>
            </a:solidFill>
            <a:prstDash val="solid"/>
          </a:ln>
        </p:spPr>
        <p:txBody>
          <a:bodyPr/>
          <a:lstStyle/>
          <a:p>
            <a:endParaRPr lang="en-US"/>
          </a:p>
        </p:txBody>
      </p:sp>
      <p:sp>
        <p:nvSpPr>
          <p:cNvPr id="20" name="Text 18"/>
          <p:cNvSpPr/>
          <p:nvPr/>
        </p:nvSpPr>
        <p:spPr>
          <a:xfrm>
            <a:off x="4416552" y="1993392"/>
            <a:ext cx="2926080" cy="219456"/>
          </a:xfrm>
          <a:prstGeom prst="rect">
            <a:avLst/>
          </a:prstGeom>
          <a:noFill/>
          <a:ln/>
        </p:spPr>
        <p:txBody>
          <a:bodyPr wrap="square" lIns="0" tIns="0" rIns="0" bIns="0" rtlCol="0" anchor="ctr"/>
          <a:lstStyle/>
          <a:p>
            <a:pPr marL="0" indent="0" algn="ctr">
              <a:buNone/>
            </a:pPr>
            <a:r>
              <a:rPr lang="en-US" sz="900" b="1" kern="0" spc="45" dirty="0">
                <a:solidFill>
                  <a:srgbClr val="2B8C87"/>
                </a:solidFill>
              </a:rPr>
              <a:t>MECHANISMS</a:t>
            </a:r>
            <a:endParaRPr lang="en-US" sz="900" dirty="0"/>
          </a:p>
        </p:txBody>
      </p:sp>
      <p:sp>
        <p:nvSpPr>
          <p:cNvPr id="21" name="Shape 19"/>
          <p:cNvSpPr/>
          <p:nvPr/>
        </p:nvSpPr>
        <p:spPr>
          <a:xfrm>
            <a:off x="4507992" y="2450592"/>
            <a:ext cx="2724912" cy="384048"/>
          </a:xfrm>
          <a:prstGeom prst="roundRect">
            <a:avLst>
              <a:gd name="adj" fmla="val 9524"/>
            </a:avLst>
          </a:prstGeom>
          <a:solidFill>
            <a:srgbClr val="FFFFFF"/>
          </a:solidFill>
          <a:ln w="7620">
            <a:solidFill>
              <a:srgbClr val="D6DEE5"/>
            </a:solidFill>
            <a:prstDash val="solid"/>
          </a:ln>
        </p:spPr>
        <p:txBody>
          <a:bodyPr/>
          <a:lstStyle/>
          <a:p>
            <a:endParaRPr lang="en-US"/>
          </a:p>
        </p:txBody>
      </p:sp>
      <p:sp>
        <p:nvSpPr>
          <p:cNvPr id="22" name="Text 20"/>
          <p:cNvSpPr/>
          <p:nvPr/>
        </p:nvSpPr>
        <p:spPr>
          <a:xfrm>
            <a:off x="4599432" y="2551176"/>
            <a:ext cx="2542032" cy="164592"/>
          </a:xfrm>
          <a:prstGeom prst="rect">
            <a:avLst/>
          </a:prstGeom>
          <a:noFill/>
          <a:ln/>
        </p:spPr>
        <p:txBody>
          <a:bodyPr wrap="square" lIns="0" tIns="0" rIns="0" bIns="0" rtlCol="0" anchor="ctr"/>
          <a:lstStyle/>
          <a:p>
            <a:pPr marL="0" indent="0" algn="ctr">
              <a:buNone/>
            </a:pPr>
            <a:r>
              <a:rPr lang="en-US" sz="1020" dirty="0">
                <a:solidFill>
                  <a:srgbClr val="1E2A35"/>
                </a:solidFill>
              </a:rPr>
              <a:t>Iterative feedback / coaching</a:t>
            </a:r>
            <a:endParaRPr lang="en-US" sz="1020" dirty="0"/>
          </a:p>
        </p:txBody>
      </p:sp>
      <p:sp>
        <p:nvSpPr>
          <p:cNvPr id="23" name="Shape 21"/>
          <p:cNvSpPr/>
          <p:nvPr/>
        </p:nvSpPr>
        <p:spPr>
          <a:xfrm>
            <a:off x="4507992" y="2962656"/>
            <a:ext cx="2724912" cy="384048"/>
          </a:xfrm>
          <a:prstGeom prst="roundRect">
            <a:avLst>
              <a:gd name="adj" fmla="val 9524"/>
            </a:avLst>
          </a:prstGeom>
          <a:solidFill>
            <a:srgbClr val="FFFFFF"/>
          </a:solidFill>
          <a:ln w="7620">
            <a:solidFill>
              <a:srgbClr val="D6DEE5"/>
            </a:solidFill>
            <a:prstDash val="solid"/>
          </a:ln>
        </p:spPr>
        <p:txBody>
          <a:bodyPr/>
          <a:lstStyle/>
          <a:p>
            <a:endParaRPr lang="en-US"/>
          </a:p>
        </p:txBody>
      </p:sp>
      <p:sp>
        <p:nvSpPr>
          <p:cNvPr id="24" name="Text 22"/>
          <p:cNvSpPr/>
          <p:nvPr/>
        </p:nvSpPr>
        <p:spPr>
          <a:xfrm>
            <a:off x="4599432" y="3063240"/>
            <a:ext cx="2542032" cy="164592"/>
          </a:xfrm>
          <a:prstGeom prst="rect">
            <a:avLst/>
          </a:prstGeom>
          <a:noFill/>
          <a:ln/>
        </p:spPr>
        <p:txBody>
          <a:bodyPr wrap="square" lIns="0" tIns="0" rIns="0" bIns="0" rtlCol="0" anchor="ctr"/>
          <a:lstStyle/>
          <a:p>
            <a:pPr marL="0" indent="0" algn="ctr">
              <a:buNone/>
            </a:pPr>
            <a:r>
              <a:rPr lang="en-US" sz="1020" dirty="0">
                <a:solidFill>
                  <a:srgbClr val="1E2A35"/>
                </a:solidFill>
              </a:rPr>
              <a:t>Direct supervision / scaffolding</a:t>
            </a:r>
            <a:endParaRPr lang="en-US" sz="1020" dirty="0"/>
          </a:p>
        </p:txBody>
      </p:sp>
      <p:sp>
        <p:nvSpPr>
          <p:cNvPr id="25" name="Shape 23"/>
          <p:cNvSpPr/>
          <p:nvPr/>
        </p:nvSpPr>
        <p:spPr>
          <a:xfrm>
            <a:off x="4507992" y="3474720"/>
            <a:ext cx="2724912" cy="384048"/>
          </a:xfrm>
          <a:prstGeom prst="roundRect">
            <a:avLst>
              <a:gd name="adj" fmla="val 9524"/>
            </a:avLst>
          </a:prstGeom>
          <a:solidFill>
            <a:srgbClr val="FFFFFF"/>
          </a:solidFill>
          <a:ln w="7620">
            <a:solidFill>
              <a:srgbClr val="D6DEE5"/>
            </a:solidFill>
            <a:prstDash val="solid"/>
          </a:ln>
        </p:spPr>
        <p:txBody>
          <a:bodyPr/>
          <a:lstStyle/>
          <a:p>
            <a:endParaRPr lang="en-US"/>
          </a:p>
        </p:txBody>
      </p:sp>
      <p:sp>
        <p:nvSpPr>
          <p:cNvPr id="26" name="Text 24"/>
          <p:cNvSpPr/>
          <p:nvPr/>
        </p:nvSpPr>
        <p:spPr>
          <a:xfrm>
            <a:off x="4599432" y="3575304"/>
            <a:ext cx="2542032" cy="164592"/>
          </a:xfrm>
          <a:prstGeom prst="rect">
            <a:avLst/>
          </a:prstGeom>
          <a:noFill/>
          <a:ln/>
        </p:spPr>
        <p:txBody>
          <a:bodyPr wrap="square" lIns="0" tIns="0" rIns="0" bIns="0" rtlCol="0" anchor="ctr"/>
          <a:lstStyle/>
          <a:p>
            <a:pPr marL="0" indent="0" algn="ctr">
              <a:buNone/>
            </a:pPr>
            <a:r>
              <a:rPr lang="en-US" sz="1020" dirty="0">
                <a:solidFill>
                  <a:srgbClr val="1E2A35"/>
                </a:solidFill>
              </a:rPr>
              <a:t>Reflection / self-assessment</a:t>
            </a:r>
            <a:endParaRPr lang="en-US" sz="1020" dirty="0"/>
          </a:p>
        </p:txBody>
      </p:sp>
      <p:sp>
        <p:nvSpPr>
          <p:cNvPr id="27" name="Shape 25"/>
          <p:cNvSpPr/>
          <p:nvPr/>
        </p:nvSpPr>
        <p:spPr>
          <a:xfrm>
            <a:off x="4507992" y="3986784"/>
            <a:ext cx="2724912" cy="384048"/>
          </a:xfrm>
          <a:prstGeom prst="roundRect">
            <a:avLst>
              <a:gd name="adj" fmla="val 9524"/>
            </a:avLst>
          </a:prstGeom>
          <a:solidFill>
            <a:srgbClr val="FFFFFF"/>
          </a:solidFill>
          <a:ln w="7620">
            <a:solidFill>
              <a:srgbClr val="D6DEE5"/>
            </a:solidFill>
            <a:prstDash val="solid"/>
          </a:ln>
        </p:spPr>
        <p:txBody>
          <a:bodyPr/>
          <a:lstStyle/>
          <a:p>
            <a:endParaRPr lang="en-US"/>
          </a:p>
        </p:txBody>
      </p:sp>
      <p:sp>
        <p:nvSpPr>
          <p:cNvPr id="28" name="Text 26"/>
          <p:cNvSpPr/>
          <p:nvPr/>
        </p:nvSpPr>
        <p:spPr>
          <a:xfrm>
            <a:off x="4599432" y="4087368"/>
            <a:ext cx="2542032" cy="164592"/>
          </a:xfrm>
          <a:prstGeom prst="rect">
            <a:avLst/>
          </a:prstGeom>
          <a:noFill/>
          <a:ln/>
        </p:spPr>
        <p:txBody>
          <a:bodyPr wrap="square" lIns="0" tIns="0" rIns="0" bIns="0" rtlCol="0" anchor="ctr"/>
          <a:lstStyle/>
          <a:p>
            <a:pPr marL="0" indent="0" algn="ctr">
              <a:buNone/>
            </a:pPr>
            <a:r>
              <a:rPr lang="en-US" sz="1020" dirty="0">
                <a:solidFill>
                  <a:srgbClr val="1E2A35"/>
                </a:solidFill>
              </a:rPr>
              <a:t>Structured teaching</a:t>
            </a:r>
            <a:endParaRPr lang="en-US" sz="1020" dirty="0"/>
          </a:p>
        </p:txBody>
      </p:sp>
      <p:sp>
        <p:nvSpPr>
          <p:cNvPr id="29" name="Shape 27"/>
          <p:cNvSpPr/>
          <p:nvPr/>
        </p:nvSpPr>
        <p:spPr>
          <a:xfrm>
            <a:off x="4507992" y="4498848"/>
            <a:ext cx="2724912" cy="384048"/>
          </a:xfrm>
          <a:prstGeom prst="roundRect">
            <a:avLst>
              <a:gd name="adj" fmla="val 9524"/>
            </a:avLst>
          </a:prstGeom>
          <a:solidFill>
            <a:srgbClr val="FFFFFF"/>
          </a:solidFill>
          <a:ln w="7620">
            <a:solidFill>
              <a:srgbClr val="D6DEE5"/>
            </a:solidFill>
            <a:prstDash val="solid"/>
          </a:ln>
        </p:spPr>
        <p:txBody>
          <a:bodyPr/>
          <a:lstStyle/>
          <a:p>
            <a:endParaRPr lang="en-US"/>
          </a:p>
        </p:txBody>
      </p:sp>
      <p:sp>
        <p:nvSpPr>
          <p:cNvPr id="30" name="Text 28"/>
          <p:cNvSpPr/>
          <p:nvPr/>
        </p:nvSpPr>
        <p:spPr>
          <a:xfrm>
            <a:off x="4599432" y="4599432"/>
            <a:ext cx="2542032" cy="164592"/>
          </a:xfrm>
          <a:prstGeom prst="rect">
            <a:avLst/>
          </a:prstGeom>
          <a:noFill/>
          <a:ln/>
        </p:spPr>
        <p:txBody>
          <a:bodyPr wrap="square" lIns="0" tIns="0" rIns="0" bIns="0" rtlCol="0" anchor="ctr"/>
          <a:lstStyle/>
          <a:p>
            <a:pPr marL="0" indent="0" algn="ctr">
              <a:buNone/>
            </a:pPr>
            <a:r>
              <a:rPr lang="en-US" sz="1020" dirty="0">
                <a:solidFill>
                  <a:srgbClr val="1E2A35"/>
                </a:solidFill>
              </a:rPr>
              <a:t>Repeated clinical exposure</a:t>
            </a:r>
            <a:endParaRPr lang="en-US" sz="1020" dirty="0"/>
          </a:p>
        </p:txBody>
      </p:sp>
      <p:sp>
        <p:nvSpPr>
          <p:cNvPr id="31" name="Shape 29"/>
          <p:cNvSpPr/>
          <p:nvPr/>
        </p:nvSpPr>
        <p:spPr>
          <a:xfrm>
            <a:off x="7616952" y="3291840"/>
            <a:ext cx="457200" cy="676656"/>
          </a:xfrm>
          <a:prstGeom prst="chevron">
            <a:avLst/>
          </a:prstGeom>
          <a:solidFill>
            <a:srgbClr val="AAB6C0"/>
          </a:solidFill>
          <a:ln w="12700">
            <a:solidFill>
              <a:srgbClr val="AAB6C0"/>
            </a:solidFill>
            <a:prstDash val="solid"/>
          </a:ln>
        </p:spPr>
        <p:txBody>
          <a:bodyPr/>
          <a:lstStyle/>
          <a:p>
            <a:endParaRPr lang="en-US"/>
          </a:p>
        </p:txBody>
      </p:sp>
      <p:sp>
        <p:nvSpPr>
          <p:cNvPr id="32" name="Shape 30"/>
          <p:cNvSpPr/>
          <p:nvPr/>
        </p:nvSpPr>
        <p:spPr>
          <a:xfrm>
            <a:off x="7882128" y="1828800"/>
            <a:ext cx="3246120" cy="3584448"/>
          </a:xfrm>
          <a:prstGeom prst="roundRect">
            <a:avLst>
              <a:gd name="adj" fmla="val 1972"/>
            </a:avLst>
          </a:prstGeom>
          <a:solidFill>
            <a:srgbClr val="F4F2F8"/>
          </a:solidFill>
          <a:ln w="11430">
            <a:solidFill>
              <a:srgbClr val="D7DEE6"/>
            </a:solidFill>
            <a:prstDash val="solid"/>
          </a:ln>
        </p:spPr>
        <p:txBody>
          <a:bodyPr/>
          <a:lstStyle/>
          <a:p>
            <a:endParaRPr lang="en-US"/>
          </a:p>
        </p:txBody>
      </p:sp>
      <p:sp>
        <p:nvSpPr>
          <p:cNvPr id="33" name="Text 31"/>
          <p:cNvSpPr/>
          <p:nvPr/>
        </p:nvSpPr>
        <p:spPr>
          <a:xfrm>
            <a:off x="8046720" y="1993392"/>
            <a:ext cx="2926080" cy="219456"/>
          </a:xfrm>
          <a:prstGeom prst="rect">
            <a:avLst/>
          </a:prstGeom>
          <a:noFill/>
          <a:ln/>
        </p:spPr>
        <p:txBody>
          <a:bodyPr wrap="square" lIns="0" tIns="0" rIns="0" bIns="0" rtlCol="0" anchor="ctr"/>
          <a:lstStyle/>
          <a:p>
            <a:pPr marL="0" indent="0" algn="ctr">
              <a:buNone/>
            </a:pPr>
            <a:r>
              <a:rPr lang="en-US" sz="900" b="1" kern="0" spc="45" dirty="0">
                <a:solidFill>
                  <a:srgbClr val="7A5FA3"/>
                </a:solidFill>
              </a:rPr>
              <a:t>DEVELOPMENTAL OUTCOMES</a:t>
            </a:r>
            <a:endParaRPr lang="en-US" sz="900" dirty="0"/>
          </a:p>
        </p:txBody>
      </p:sp>
      <p:sp>
        <p:nvSpPr>
          <p:cNvPr id="34" name="Shape 32"/>
          <p:cNvSpPr/>
          <p:nvPr/>
        </p:nvSpPr>
        <p:spPr>
          <a:xfrm>
            <a:off x="8138160" y="2450592"/>
            <a:ext cx="2724912" cy="384048"/>
          </a:xfrm>
          <a:prstGeom prst="roundRect">
            <a:avLst>
              <a:gd name="adj" fmla="val 9524"/>
            </a:avLst>
          </a:prstGeom>
          <a:solidFill>
            <a:srgbClr val="FFFFFF"/>
          </a:solidFill>
          <a:ln w="7620">
            <a:solidFill>
              <a:srgbClr val="D6DEE5"/>
            </a:solidFill>
            <a:prstDash val="solid"/>
          </a:ln>
        </p:spPr>
        <p:txBody>
          <a:bodyPr/>
          <a:lstStyle/>
          <a:p>
            <a:endParaRPr lang="en-US"/>
          </a:p>
        </p:txBody>
      </p:sp>
      <p:sp>
        <p:nvSpPr>
          <p:cNvPr id="35" name="Text 33"/>
          <p:cNvSpPr/>
          <p:nvPr/>
        </p:nvSpPr>
        <p:spPr>
          <a:xfrm>
            <a:off x="8229600" y="2551176"/>
            <a:ext cx="2542032" cy="164592"/>
          </a:xfrm>
          <a:prstGeom prst="rect">
            <a:avLst/>
          </a:prstGeom>
          <a:noFill/>
          <a:ln/>
        </p:spPr>
        <p:txBody>
          <a:bodyPr wrap="square" lIns="0" tIns="0" rIns="0" bIns="0" rtlCol="0" anchor="ctr"/>
          <a:lstStyle/>
          <a:p>
            <a:pPr marL="0" indent="0" algn="ctr">
              <a:buNone/>
            </a:pPr>
            <a:r>
              <a:rPr lang="en-US" sz="1020" dirty="0">
                <a:solidFill>
                  <a:srgbClr val="1E2A35"/>
                </a:solidFill>
              </a:rPr>
              <a:t>Communication / teamwork</a:t>
            </a:r>
            <a:endParaRPr lang="en-US" sz="1020" dirty="0"/>
          </a:p>
        </p:txBody>
      </p:sp>
      <p:sp>
        <p:nvSpPr>
          <p:cNvPr id="36" name="Shape 34"/>
          <p:cNvSpPr/>
          <p:nvPr/>
        </p:nvSpPr>
        <p:spPr>
          <a:xfrm>
            <a:off x="8138160" y="2962656"/>
            <a:ext cx="2724912" cy="384048"/>
          </a:xfrm>
          <a:prstGeom prst="roundRect">
            <a:avLst>
              <a:gd name="adj" fmla="val 9524"/>
            </a:avLst>
          </a:prstGeom>
          <a:solidFill>
            <a:srgbClr val="FFFFFF"/>
          </a:solidFill>
          <a:ln w="7620">
            <a:solidFill>
              <a:srgbClr val="D6DEE5"/>
            </a:solidFill>
            <a:prstDash val="solid"/>
          </a:ln>
        </p:spPr>
        <p:txBody>
          <a:bodyPr/>
          <a:lstStyle/>
          <a:p>
            <a:endParaRPr lang="en-US"/>
          </a:p>
        </p:txBody>
      </p:sp>
      <p:sp>
        <p:nvSpPr>
          <p:cNvPr id="37" name="Text 35"/>
          <p:cNvSpPr/>
          <p:nvPr/>
        </p:nvSpPr>
        <p:spPr>
          <a:xfrm>
            <a:off x="8229600" y="3063240"/>
            <a:ext cx="2542032" cy="164592"/>
          </a:xfrm>
          <a:prstGeom prst="rect">
            <a:avLst/>
          </a:prstGeom>
          <a:noFill/>
          <a:ln/>
        </p:spPr>
        <p:txBody>
          <a:bodyPr wrap="square" lIns="0" tIns="0" rIns="0" bIns="0" rtlCol="0" anchor="ctr"/>
          <a:lstStyle/>
          <a:p>
            <a:pPr marL="0" indent="0" algn="ctr">
              <a:buNone/>
            </a:pPr>
            <a:r>
              <a:rPr lang="en-US" sz="1020" dirty="0">
                <a:solidFill>
                  <a:srgbClr val="1E2A35"/>
                </a:solidFill>
              </a:rPr>
              <a:t>Feedback receptivity</a:t>
            </a:r>
            <a:endParaRPr lang="en-US" sz="1020" dirty="0"/>
          </a:p>
        </p:txBody>
      </p:sp>
      <p:sp>
        <p:nvSpPr>
          <p:cNvPr id="38" name="Shape 36"/>
          <p:cNvSpPr/>
          <p:nvPr/>
        </p:nvSpPr>
        <p:spPr>
          <a:xfrm>
            <a:off x="8138160" y="3474720"/>
            <a:ext cx="2724912" cy="384048"/>
          </a:xfrm>
          <a:prstGeom prst="roundRect">
            <a:avLst>
              <a:gd name="adj" fmla="val 9524"/>
            </a:avLst>
          </a:prstGeom>
          <a:solidFill>
            <a:srgbClr val="FFFFFF"/>
          </a:solidFill>
          <a:ln w="7620">
            <a:solidFill>
              <a:srgbClr val="D6DEE5"/>
            </a:solidFill>
            <a:prstDash val="solid"/>
          </a:ln>
        </p:spPr>
        <p:txBody>
          <a:bodyPr/>
          <a:lstStyle/>
          <a:p>
            <a:endParaRPr lang="en-US"/>
          </a:p>
        </p:txBody>
      </p:sp>
      <p:sp>
        <p:nvSpPr>
          <p:cNvPr id="39" name="Text 37"/>
          <p:cNvSpPr/>
          <p:nvPr/>
        </p:nvSpPr>
        <p:spPr>
          <a:xfrm>
            <a:off x="8229600" y="3575304"/>
            <a:ext cx="2542032" cy="164592"/>
          </a:xfrm>
          <a:prstGeom prst="rect">
            <a:avLst/>
          </a:prstGeom>
          <a:noFill/>
          <a:ln/>
        </p:spPr>
        <p:txBody>
          <a:bodyPr wrap="square" lIns="0" tIns="0" rIns="0" bIns="0" rtlCol="0" anchor="ctr"/>
          <a:lstStyle/>
          <a:p>
            <a:pPr marL="0" indent="0" algn="ctr">
              <a:buNone/>
            </a:pPr>
            <a:r>
              <a:rPr lang="en-US" sz="1020" dirty="0">
                <a:solidFill>
                  <a:srgbClr val="1E2A35"/>
                </a:solidFill>
              </a:rPr>
              <a:t>Clinical reasoning</a:t>
            </a:r>
            <a:endParaRPr lang="en-US" sz="1020" dirty="0"/>
          </a:p>
        </p:txBody>
      </p:sp>
      <p:sp>
        <p:nvSpPr>
          <p:cNvPr id="40" name="Shape 38"/>
          <p:cNvSpPr/>
          <p:nvPr/>
        </p:nvSpPr>
        <p:spPr>
          <a:xfrm>
            <a:off x="8138160" y="3986784"/>
            <a:ext cx="2724912" cy="384048"/>
          </a:xfrm>
          <a:prstGeom prst="roundRect">
            <a:avLst>
              <a:gd name="adj" fmla="val 9524"/>
            </a:avLst>
          </a:prstGeom>
          <a:solidFill>
            <a:srgbClr val="FFFFFF"/>
          </a:solidFill>
          <a:ln w="7620">
            <a:solidFill>
              <a:srgbClr val="D6DEE5"/>
            </a:solidFill>
            <a:prstDash val="solid"/>
          </a:ln>
        </p:spPr>
        <p:txBody>
          <a:bodyPr/>
          <a:lstStyle/>
          <a:p>
            <a:endParaRPr lang="en-US"/>
          </a:p>
        </p:txBody>
      </p:sp>
      <p:sp>
        <p:nvSpPr>
          <p:cNvPr id="41" name="Text 39"/>
          <p:cNvSpPr/>
          <p:nvPr/>
        </p:nvSpPr>
        <p:spPr>
          <a:xfrm>
            <a:off x="8229600" y="4087368"/>
            <a:ext cx="2542032" cy="164592"/>
          </a:xfrm>
          <a:prstGeom prst="rect">
            <a:avLst/>
          </a:prstGeom>
          <a:noFill/>
          <a:ln/>
        </p:spPr>
        <p:txBody>
          <a:bodyPr wrap="square" lIns="0" tIns="0" rIns="0" bIns="0" rtlCol="0" anchor="ctr"/>
          <a:lstStyle/>
          <a:p>
            <a:pPr marL="0" indent="0" algn="ctr">
              <a:buNone/>
            </a:pPr>
            <a:r>
              <a:rPr lang="en-US" sz="1020" dirty="0">
                <a:solidFill>
                  <a:srgbClr val="1E2A35"/>
                </a:solidFill>
              </a:rPr>
              <a:t>Autonomy / confidence</a:t>
            </a:r>
            <a:endParaRPr lang="en-US" sz="1020" dirty="0"/>
          </a:p>
        </p:txBody>
      </p:sp>
      <p:sp>
        <p:nvSpPr>
          <p:cNvPr id="42" name="Shape 40"/>
          <p:cNvSpPr/>
          <p:nvPr/>
        </p:nvSpPr>
        <p:spPr>
          <a:xfrm>
            <a:off x="8138160" y="4498848"/>
            <a:ext cx="2724912" cy="384048"/>
          </a:xfrm>
          <a:prstGeom prst="roundRect">
            <a:avLst>
              <a:gd name="adj" fmla="val 9524"/>
            </a:avLst>
          </a:prstGeom>
          <a:solidFill>
            <a:srgbClr val="FFFFFF"/>
          </a:solidFill>
          <a:ln w="7620">
            <a:solidFill>
              <a:srgbClr val="D6DEE5"/>
            </a:solidFill>
            <a:prstDash val="solid"/>
          </a:ln>
        </p:spPr>
        <p:txBody>
          <a:bodyPr/>
          <a:lstStyle/>
          <a:p>
            <a:endParaRPr lang="en-US"/>
          </a:p>
        </p:txBody>
      </p:sp>
      <p:sp>
        <p:nvSpPr>
          <p:cNvPr id="43" name="Text 41"/>
          <p:cNvSpPr/>
          <p:nvPr/>
        </p:nvSpPr>
        <p:spPr>
          <a:xfrm>
            <a:off x="8229600" y="4599432"/>
            <a:ext cx="2542032" cy="164592"/>
          </a:xfrm>
          <a:prstGeom prst="rect">
            <a:avLst/>
          </a:prstGeom>
          <a:noFill/>
          <a:ln/>
        </p:spPr>
        <p:txBody>
          <a:bodyPr wrap="square" lIns="0" tIns="0" rIns="0" bIns="0" rtlCol="0" anchor="ctr"/>
          <a:lstStyle/>
          <a:p>
            <a:pPr marL="0" indent="0" algn="ctr">
              <a:buNone/>
            </a:pPr>
            <a:r>
              <a:rPr lang="en-US" sz="1020" dirty="0">
                <a:solidFill>
                  <a:srgbClr val="1E2A35"/>
                </a:solidFill>
              </a:rPr>
              <a:t>Professional identity</a:t>
            </a:r>
            <a:endParaRPr lang="en-US" sz="1020" dirty="0"/>
          </a:p>
        </p:txBody>
      </p:sp>
      <p:sp>
        <p:nvSpPr>
          <p:cNvPr id="44" name="Shape 42"/>
          <p:cNvSpPr/>
          <p:nvPr/>
        </p:nvSpPr>
        <p:spPr>
          <a:xfrm>
            <a:off x="859536" y="5605272"/>
            <a:ext cx="10497312" cy="566928"/>
          </a:xfrm>
          <a:prstGeom prst="roundRect">
            <a:avLst>
              <a:gd name="adj" fmla="val 11290"/>
            </a:avLst>
          </a:prstGeom>
          <a:solidFill>
            <a:srgbClr val="F4F7F9"/>
          </a:solidFill>
          <a:ln w="10160">
            <a:solidFill>
              <a:srgbClr val="D7DEE6"/>
            </a:solidFill>
            <a:prstDash val="solid"/>
          </a:ln>
        </p:spPr>
        <p:txBody>
          <a:bodyPr/>
          <a:lstStyle/>
          <a:p>
            <a:endParaRPr lang="en-US"/>
          </a:p>
        </p:txBody>
      </p:sp>
      <p:sp>
        <p:nvSpPr>
          <p:cNvPr id="45" name="Shape 43"/>
          <p:cNvSpPr/>
          <p:nvPr/>
        </p:nvSpPr>
        <p:spPr>
          <a:xfrm>
            <a:off x="859536" y="5605272"/>
            <a:ext cx="64008" cy="566928"/>
          </a:xfrm>
          <a:prstGeom prst="rect">
            <a:avLst/>
          </a:prstGeom>
          <a:solidFill>
            <a:srgbClr val="B64A4A"/>
          </a:solidFill>
          <a:ln w="12700">
            <a:solidFill>
              <a:srgbClr val="B64A4A"/>
            </a:solidFill>
            <a:prstDash val="solid"/>
          </a:ln>
        </p:spPr>
        <p:txBody>
          <a:bodyPr/>
          <a:lstStyle/>
          <a:p>
            <a:endParaRPr lang="en-US"/>
          </a:p>
        </p:txBody>
      </p:sp>
      <p:sp>
        <p:nvSpPr>
          <p:cNvPr id="46" name="Text 44"/>
          <p:cNvSpPr/>
          <p:nvPr/>
        </p:nvSpPr>
        <p:spPr>
          <a:xfrm>
            <a:off x="1024128" y="5705856"/>
            <a:ext cx="10222992" cy="182880"/>
          </a:xfrm>
          <a:prstGeom prst="rect">
            <a:avLst/>
          </a:prstGeom>
          <a:noFill/>
          <a:ln/>
        </p:spPr>
        <p:txBody>
          <a:bodyPr wrap="square" lIns="0" tIns="0" rIns="0" bIns="0" rtlCol="0" anchor="ctr"/>
          <a:lstStyle/>
          <a:p>
            <a:pPr marL="0" indent="0">
              <a:buNone/>
            </a:pPr>
            <a:r>
              <a:rPr lang="en-US" sz="850" b="1" kern="0" spc="40" dirty="0">
                <a:solidFill>
                  <a:srgbClr val="B64A4A"/>
                </a:solidFill>
                <a:latin typeface="Aptos" pitchFamily="34" charset="0"/>
                <a:ea typeface="Aptos" pitchFamily="34" charset="-122"/>
                <a:cs typeface="Aptos" pitchFamily="34" charset="-120"/>
              </a:rPr>
              <a:t>IMPORTANT CAVEAT</a:t>
            </a:r>
            <a:endParaRPr lang="en-US" sz="850" dirty="0"/>
          </a:p>
        </p:txBody>
      </p:sp>
      <p:sp>
        <p:nvSpPr>
          <p:cNvPr id="47" name="Text 45"/>
          <p:cNvSpPr/>
          <p:nvPr/>
        </p:nvSpPr>
        <p:spPr>
          <a:xfrm>
            <a:off x="1024128" y="5907024"/>
            <a:ext cx="10222992" cy="182880"/>
          </a:xfrm>
          <a:prstGeom prst="rect">
            <a:avLst/>
          </a:prstGeom>
          <a:noFill/>
          <a:ln/>
        </p:spPr>
        <p:txBody>
          <a:bodyPr wrap="square" lIns="254" tIns="254" rIns="254" bIns="254" rtlCol="0" anchor="ctr">
            <a:normAutofit/>
          </a:bodyPr>
          <a:lstStyle/>
          <a:p>
            <a:pPr marL="0" indent="0">
              <a:buNone/>
            </a:pPr>
            <a:r>
              <a:rPr lang="en-US" sz="1030" dirty="0">
                <a:solidFill>
                  <a:srgbClr val="1E2A35"/>
                </a:solidFill>
                <a:latin typeface="Aptos" pitchFamily="34" charset="0"/>
                <a:ea typeface="Aptos" pitchFamily="34" charset="-122"/>
                <a:cs typeface="Aptos" pitchFamily="34" charset="-120"/>
              </a:rPr>
              <a:t>This integrated pathway is a synthesis of descriptive prevalence and association patterns. It should be treated as a working conceptual model to test—not as a proven causal pathway.</a:t>
            </a:r>
            <a:endParaRPr lang="en-US" sz="1030" dirty="0"/>
          </a:p>
        </p:txBody>
      </p:sp>
      <p:sp>
        <p:nvSpPr>
          <p:cNvPr id="48" name="Slide Number Placeholder 0"/>
          <p:cNvSpPr>
            <a:spLocks noGrp="1"/>
          </p:cNvSpPr>
          <p:nvPr>
            <p:ph type="sldNum" sz="quarter" idx="4294967295"/>
          </p:nvPr>
        </p:nvSpPr>
        <p:spPr>
          <a:xfrm>
            <a:off x="11823192" y="6492240"/>
            <a:ext cx="201168"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6B7785"/>
                </a:solidFill>
                <a:latin typeface="Aptos"/>
                <a:ea typeface="Aptos"/>
                <a:cs typeface="Aptos"/>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75488" y="274320"/>
            <a:ext cx="11064240" cy="365760"/>
          </a:xfrm>
          <a:prstGeom prst="rect">
            <a:avLst/>
          </a:prstGeom>
          <a:noFill/>
          <a:ln/>
        </p:spPr>
        <p:txBody>
          <a:bodyPr wrap="square" lIns="0" tIns="0" rIns="0" bIns="0" rtlCol="0" anchor="ctr"/>
          <a:lstStyle/>
          <a:p>
            <a:pPr marL="0" indent="0">
              <a:buNone/>
            </a:pPr>
            <a:r>
              <a:rPr lang="en-US" sz="2400" b="1" dirty="0">
                <a:solidFill>
                  <a:srgbClr val="1E2A35"/>
                </a:solidFill>
                <a:latin typeface="Aptos Display" pitchFamily="34" charset="0"/>
                <a:ea typeface="Aptos Display" pitchFamily="34" charset="-122"/>
                <a:cs typeface="Aptos Display" pitchFamily="34" charset="-120"/>
              </a:rPr>
              <a:t>Key takeaways</a:t>
            </a:r>
            <a:endParaRPr lang="en-US" sz="2400" dirty="0"/>
          </a:p>
        </p:txBody>
      </p:sp>
      <p:sp>
        <p:nvSpPr>
          <p:cNvPr id="3" name="Text 1"/>
          <p:cNvSpPr/>
          <p:nvPr/>
        </p:nvSpPr>
        <p:spPr>
          <a:xfrm>
            <a:off x="484632" y="694944"/>
            <a:ext cx="11064240" cy="320040"/>
          </a:xfrm>
          <a:prstGeom prst="rect">
            <a:avLst/>
          </a:prstGeom>
          <a:noFill/>
          <a:ln/>
        </p:spPr>
        <p:txBody>
          <a:bodyPr wrap="square" lIns="0" tIns="0" rIns="0" bIns="0" rtlCol="0" anchor="ctr"/>
          <a:lstStyle/>
          <a:p>
            <a:pPr marL="0" indent="0">
              <a:buNone/>
            </a:pPr>
            <a:r>
              <a:rPr lang="en-US" sz="1150" dirty="0">
                <a:solidFill>
                  <a:srgbClr val="5D6976"/>
                </a:solidFill>
                <a:latin typeface="Aptos" pitchFamily="34" charset="0"/>
                <a:ea typeface="Aptos" pitchFamily="34" charset="-122"/>
                <a:cs typeface="Aptos" pitchFamily="34" charset="-120"/>
              </a:rPr>
              <a:t>What I would communicate to the GMETS team</a:t>
            </a:r>
            <a:endParaRPr lang="en-US" sz="1150" dirty="0"/>
          </a:p>
        </p:txBody>
      </p:sp>
      <p:sp>
        <p:nvSpPr>
          <p:cNvPr id="4" name="Shape 2"/>
          <p:cNvSpPr/>
          <p:nvPr/>
        </p:nvSpPr>
        <p:spPr>
          <a:xfrm>
            <a:off x="603504" y="1298448"/>
            <a:ext cx="5321808" cy="1307592"/>
          </a:xfrm>
          <a:prstGeom prst="roundRect">
            <a:avLst>
              <a:gd name="adj" fmla="val 4196"/>
            </a:avLst>
          </a:prstGeom>
          <a:solidFill>
            <a:srgbClr val="EDF5FA"/>
          </a:solidFill>
          <a:ln w="10160">
            <a:solidFill>
              <a:srgbClr val="D7DEE6"/>
            </a:solidFill>
            <a:prstDash val="solid"/>
          </a:ln>
        </p:spPr>
        <p:txBody>
          <a:bodyPr/>
          <a:lstStyle/>
          <a:p>
            <a:endParaRPr lang="en-US"/>
          </a:p>
        </p:txBody>
      </p:sp>
      <p:sp>
        <p:nvSpPr>
          <p:cNvPr id="5" name="Text 3"/>
          <p:cNvSpPr/>
          <p:nvPr/>
        </p:nvSpPr>
        <p:spPr>
          <a:xfrm>
            <a:off x="841248" y="1481328"/>
            <a:ext cx="4846320" cy="310896"/>
          </a:xfrm>
          <a:prstGeom prst="rect">
            <a:avLst/>
          </a:prstGeom>
          <a:noFill/>
          <a:ln/>
        </p:spPr>
        <p:txBody>
          <a:bodyPr wrap="square" lIns="0" tIns="0" rIns="0" bIns="0" rtlCol="0" anchor="ctr"/>
          <a:lstStyle/>
          <a:p>
            <a:pPr marL="0" indent="0">
              <a:buNone/>
            </a:pPr>
            <a:r>
              <a:rPr lang="en-US" sz="1320" b="1" dirty="0">
                <a:solidFill>
                  <a:srgbClr val="1E2A35"/>
                </a:solidFill>
              </a:rPr>
              <a:t>Feedback is the central educational engine</a:t>
            </a:r>
            <a:endParaRPr lang="en-US" sz="1320" dirty="0"/>
          </a:p>
        </p:txBody>
      </p:sp>
      <p:sp>
        <p:nvSpPr>
          <p:cNvPr id="6" name="Text 4"/>
          <p:cNvSpPr/>
          <p:nvPr/>
        </p:nvSpPr>
        <p:spPr>
          <a:xfrm>
            <a:off x="841248" y="1856232"/>
            <a:ext cx="4846320" cy="530352"/>
          </a:xfrm>
          <a:prstGeom prst="rect">
            <a:avLst/>
          </a:prstGeom>
          <a:noFill/>
          <a:ln/>
        </p:spPr>
        <p:txBody>
          <a:bodyPr wrap="square" lIns="127" tIns="127" rIns="127" bIns="127" rtlCol="0" anchor="ctr">
            <a:normAutofit/>
          </a:bodyPr>
          <a:lstStyle/>
          <a:p>
            <a:pPr marL="0" indent="0">
              <a:buNone/>
            </a:pPr>
            <a:r>
              <a:rPr lang="en-US" sz="1040" dirty="0">
                <a:solidFill>
                  <a:srgbClr val="5D6976"/>
                </a:solidFill>
              </a:rPr>
              <a:t>Teaching, feedback, mentorship, coaching, and supervision are the most consistent signals across the corpus.</a:t>
            </a:r>
            <a:endParaRPr lang="en-US" sz="1040" dirty="0"/>
          </a:p>
        </p:txBody>
      </p:sp>
      <p:sp>
        <p:nvSpPr>
          <p:cNvPr id="7" name="Shape 5"/>
          <p:cNvSpPr/>
          <p:nvPr/>
        </p:nvSpPr>
        <p:spPr>
          <a:xfrm>
            <a:off x="6181344" y="1298448"/>
            <a:ext cx="5321808" cy="1307592"/>
          </a:xfrm>
          <a:prstGeom prst="roundRect">
            <a:avLst>
              <a:gd name="adj" fmla="val 4196"/>
            </a:avLst>
          </a:prstGeom>
          <a:solidFill>
            <a:srgbClr val="EDF5FA"/>
          </a:solidFill>
          <a:ln w="10160">
            <a:solidFill>
              <a:srgbClr val="D7DEE6"/>
            </a:solidFill>
            <a:prstDash val="solid"/>
          </a:ln>
        </p:spPr>
        <p:txBody>
          <a:bodyPr/>
          <a:lstStyle/>
          <a:p>
            <a:endParaRPr lang="en-US"/>
          </a:p>
        </p:txBody>
      </p:sp>
      <p:sp>
        <p:nvSpPr>
          <p:cNvPr id="8" name="Text 6"/>
          <p:cNvSpPr/>
          <p:nvPr/>
        </p:nvSpPr>
        <p:spPr>
          <a:xfrm>
            <a:off x="6419088" y="1481328"/>
            <a:ext cx="4846320" cy="310896"/>
          </a:xfrm>
          <a:prstGeom prst="rect">
            <a:avLst/>
          </a:prstGeom>
          <a:noFill/>
          <a:ln/>
        </p:spPr>
        <p:txBody>
          <a:bodyPr wrap="square" lIns="0" tIns="0" rIns="0" bIns="0" rtlCol="0" anchor="ctr"/>
          <a:lstStyle/>
          <a:p>
            <a:pPr marL="0" indent="0">
              <a:buNone/>
            </a:pPr>
            <a:r>
              <a:rPr lang="en-US" sz="1320" b="1" dirty="0">
                <a:solidFill>
                  <a:srgbClr val="1E2A35"/>
                </a:solidFill>
              </a:rPr>
              <a:t>Psychological safety is not peripheral</a:t>
            </a:r>
            <a:endParaRPr lang="en-US" sz="1320" dirty="0"/>
          </a:p>
        </p:txBody>
      </p:sp>
      <p:sp>
        <p:nvSpPr>
          <p:cNvPr id="9" name="Text 7"/>
          <p:cNvSpPr/>
          <p:nvPr/>
        </p:nvSpPr>
        <p:spPr>
          <a:xfrm>
            <a:off x="6419088" y="1856232"/>
            <a:ext cx="4846320" cy="530352"/>
          </a:xfrm>
          <a:prstGeom prst="rect">
            <a:avLst/>
          </a:prstGeom>
          <a:noFill/>
          <a:ln/>
        </p:spPr>
        <p:txBody>
          <a:bodyPr wrap="square" lIns="127" tIns="127" rIns="127" bIns="127" rtlCol="0" anchor="ctr">
            <a:normAutofit/>
          </a:bodyPr>
          <a:lstStyle/>
          <a:p>
            <a:pPr marL="0" indent="0">
              <a:buNone/>
            </a:pPr>
            <a:r>
              <a:rPr lang="en-US" sz="1040" dirty="0">
                <a:solidFill>
                  <a:srgbClr val="5D6976"/>
                </a:solidFill>
              </a:rPr>
              <a:t>It is one of the most prevalent environment features and the most common explicit sensitizing construct.</a:t>
            </a:r>
            <a:endParaRPr lang="en-US" sz="1040" dirty="0"/>
          </a:p>
        </p:txBody>
      </p:sp>
      <p:sp>
        <p:nvSpPr>
          <p:cNvPr id="10" name="Shape 8"/>
          <p:cNvSpPr/>
          <p:nvPr/>
        </p:nvSpPr>
        <p:spPr>
          <a:xfrm>
            <a:off x="603504" y="2871216"/>
            <a:ext cx="5321808" cy="1307592"/>
          </a:xfrm>
          <a:prstGeom prst="roundRect">
            <a:avLst>
              <a:gd name="adj" fmla="val 4196"/>
            </a:avLst>
          </a:prstGeom>
          <a:solidFill>
            <a:srgbClr val="EDF7F5"/>
          </a:solidFill>
          <a:ln w="10160">
            <a:solidFill>
              <a:srgbClr val="D7DEE6"/>
            </a:solidFill>
            <a:prstDash val="solid"/>
          </a:ln>
        </p:spPr>
        <p:txBody>
          <a:bodyPr/>
          <a:lstStyle/>
          <a:p>
            <a:endParaRPr lang="en-US"/>
          </a:p>
        </p:txBody>
      </p:sp>
      <p:sp>
        <p:nvSpPr>
          <p:cNvPr id="11" name="Text 9"/>
          <p:cNvSpPr/>
          <p:nvPr/>
        </p:nvSpPr>
        <p:spPr>
          <a:xfrm>
            <a:off x="841248" y="3054096"/>
            <a:ext cx="4846320" cy="310896"/>
          </a:xfrm>
          <a:prstGeom prst="rect">
            <a:avLst/>
          </a:prstGeom>
          <a:noFill/>
          <a:ln/>
        </p:spPr>
        <p:txBody>
          <a:bodyPr wrap="square" lIns="0" tIns="0" rIns="0" bIns="0" rtlCol="0" anchor="ctr"/>
          <a:lstStyle/>
          <a:p>
            <a:pPr marL="0" indent="0">
              <a:buNone/>
            </a:pPr>
            <a:r>
              <a:rPr lang="en-US" sz="1320" b="1" dirty="0">
                <a:solidFill>
                  <a:srgbClr val="1E2A35"/>
                </a:solidFill>
              </a:rPr>
              <a:t>Development is multi-dimensional</a:t>
            </a:r>
            <a:endParaRPr lang="en-US" sz="1320" dirty="0"/>
          </a:p>
        </p:txBody>
      </p:sp>
      <p:sp>
        <p:nvSpPr>
          <p:cNvPr id="12" name="Text 10"/>
          <p:cNvSpPr/>
          <p:nvPr/>
        </p:nvSpPr>
        <p:spPr>
          <a:xfrm>
            <a:off x="841248" y="3429000"/>
            <a:ext cx="4846320" cy="530352"/>
          </a:xfrm>
          <a:prstGeom prst="rect">
            <a:avLst/>
          </a:prstGeom>
          <a:noFill/>
          <a:ln/>
        </p:spPr>
        <p:txBody>
          <a:bodyPr wrap="square" lIns="127" tIns="127" rIns="127" bIns="127" rtlCol="0" anchor="ctr">
            <a:normAutofit/>
          </a:bodyPr>
          <a:lstStyle/>
          <a:p>
            <a:pPr marL="0" indent="0">
              <a:buNone/>
            </a:pPr>
            <a:r>
              <a:rPr lang="en-US" sz="1040" dirty="0">
                <a:solidFill>
                  <a:srgbClr val="5D6976"/>
                </a:solidFill>
              </a:rPr>
              <a:t>Communication, self-directed learning, reasoning, autonomy, and identity formation are at least as visible as technical competence.</a:t>
            </a:r>
            <a:endParaRPr lang="en-US" sz="1040" dirty="0"/>
          </a:p>
        </p:txBody>
      </p:sp>
      <p:sp>
        <p:nvSpPr>
          <p:cNvPr id="13" name="Shape 11"/>
          <p:cNvSpPr/>
          <p:nvPr/>
        </p:nvSpPr>
        <p:spPr>
          <a:xfrm>
            <a:off x="6181344" y="2871216"/>
            <a:ext cx="5321808" cy="1307592"/>
          </a:xfrm>
          <a:prstGeom prst="roundRect">
            <a:avLst>
              <a:gd name="adj" fmla="val 4196"/>
            </a:avLst>
          </a:prstGeom>
          <a:solidFill>
            <a:srgbClr val="EDF7F5"/>
          </a:solidFill>
          <a:ln w="10160">
            <a:solidFill>
              <a:srgbClr val="D7DEE6"/>
            </a:solidFill>
            <a:prstDash val="solid"/>
          </a:ln>
        </p:spPr>
        <p:txBody>
          <a:bodyPr/>
          <a:lstStyle/>
          <a:p>
            <a:endParaRPr lang="en-US"/>
          </a:p>
        </p:txBody>
      </p:sp>
      <p:sp>
        <p:nvSpPr>
          <p:cNvPr id="14" name="Text 12"/>
          <p:cNvSpPr/>
          <p:nvPr/>
        </p:nvSpPr>
        <p:spPr>
          <a:xfrm>
            <a:off x="6419088" y="3054096"/>
            <a:ext cx="4846320" cy="310896"/>
          </a:xfrm>
          <a:prstGeom prst="rect">
            <a:avLst/>
          </a:prstGeom>
          <a:noFill/>
          <a:ln/>
        </p:spPr>
        <p:txBody>
          <a:bodyPr wrap="square" lIns="0" tIns="0" rIns="0" bIns="0" rtlCol="0" anchor="ctr"/>
          <a:lstStyle/>
          <a:p>
            <a:pPr marL="0" indent="0">
              <a:buNone/>
            </a:pPr>
            <a:r>
              <a:rPr lang="en-US" sz="1320" b="1" dirty="0">
                <a:solidFill>
                  <a:srgbClr val="1E2A35"/>
                </a:solidFill>
              </a:rPr>
              <a:t>Low scores are associated with friction and strain</a:t>
            </a:r>
            <a:endParaRPr lang="en-US" sz="1320" dirty="0"/>
          </a:p>
        </p:txBody>
      </p:sp>
      <p:sp>
        <p:nvSpPr>
          <p:cNvPr id="15" name="Text 13"/>
          <p:cNvSpPr/>
          <p:nvPr/>
        </p:nvSpPr>
        <p:spPr>
          <a:xfrm>
            <a:off x="6419088" y="3429000"/>
            <a:ext cx="4846320" cy="530352"/>
          </a:xfrm>
          <a:prstGeom prst="rect">
            <a:avLst/>
          </a:prstGeom>
          <a:noFill/>
          <a:ln/>
        </p:spPr>
        <p:txBody>
          <a:bodyPr wrap="square" lIns="127" tIns="127" rIns="127" bIns="127" rtlCol="0" anchor="ctr">
            <a:normAutofit/>
          </a:bodyPr>
          <a:lstStyle/>
          <a:p>
            <a:pPr marL="0" indent="0">
              <a:buNone/>
            </a:pPr>
            <a:r>
              <a:rPr lang="en-US" sz="1040" dirty="0">
                <a:solidFill>
                  <a:srgbClr val="5D6976"/>
                </a:solidFill>
              </a:rPr>
              <a:t>Workflow barriers, workload/complexity, wellbeing strain, equity/discrimination climate, and several related labels occur more often in low-score evaluations.</a:t>
            </a:r>
            <a:endParaRPr lang="en-US" sz="1040" dirty="0"/>
          </a:p>
        </p:txBody>
      </p:sp>
      <p:sp>
        <p:nvSpPr>
          <p:cNvPr id="16" name="Shape 14"/>
          <p:cNvSpPr/>
          <p:nvPr/>
        </p:nvSpPr>
        <p:spPr>
          <a:xfrm>
            <a:off x="603504" y="4443984"/>
            <a:ext cx="5321808" cy="1307592"/>
          </a:xfrm>
          <a:prstGeom prst="roundRect">
            <a:avLst>
              <a:gd name="adj" fmla="val 4196"/>
            </a:avLst>
          </a:prstGeom>
          <a:solidFill>
            <a:srgbClr val="FBF5E9"/>
          </a:solidFill>
          <a:ln w="10160">
            <a:solidFill>
              <a:srgbClr val="D7DEE6"/>
            </a:solidFill>
            <a:prstDash val="solid"/>
          </a:ln>
        </p:spPr>
        <p:txBody>
          <a:bodyPr/>
          <a:lstStyle/>
          <a:p>
            <a:endParaRPr lang="en-US"/>
          </a:p>
        </p:txBody>
      </p:sp>
      <p:sp>
        <p:nvSpPr>
          <p:cNvPr id="17" name="Text 15"/>
          <p:cNvSpPr/>
          <p:nvPr/>
        </p:nvSpPr>
        <p:spPr>
          <a:xfrm>
            <a:off x="841248" y="4626864"/>
            <a:ext cx="4846320" cy="310896"/>
          </a:xfrm>
          <a:prstGeom prst="rect">
            <a:avLst/>
          </a:prstGeom>
          <a:noFill/>
          <a:ln/>
        </p:spPr>
        <p:txBody>
          <a:bodyPr wrap="square" lIns="0" tIns="0" rIns="0" bIns="0" rtlCol="0" anchor="ctr"/>
          <a:lstStyle/>
          <a:p>
            <a:pPr marL="0" indent="0">
              <a:buNone/>
            </a:pPr>
            <a:r>
              <a:rPr lang="en-US" sz="1320" b="1" dirty="0">
                <a:solidFill>
                  <a:srgbClr val="1E2A35"/>
                </a:solidFill>
              </a:rPr>
              <a:t>The evaluation language is strongly positive</a:t>
            </a:r>
            <a:endParaRPr lang="en-US" sz="1320" dirty="0"/>
          </a:p>
        </p:txBody>
      </p:sp>
      <p:sp>
        <p:nvSpPr>
          <p:cNvPr id="18" name="Text 16"/>
          <p:cNvSpPr/>
          <p:nvPr/>
        </p:nvSpPr>
        <p:spPr>
          <a:xfrm>
            <a:off x="841248" y="5001768"/>
            <a:ext cx="4846320" cy="530352"/>
          </a:xfrm>
          <a:prstGeom prst="rect">
            <a:avLst/>
          </a:prstGeom>
          <a:noFill/>
          <a:ln/>
        </p:spPr>
        <p:txBody>
          <a:bodyPr wrap="square" lIns="127" tIns="127" rIns="127" bIns="127" rtlCol="0" anchor="ctr">
            <a:normAutofit/>
          </a:bodyPr>
          <a:lstStyle/>
          <a:p>
            <a:pPr marL="0" indent="0">
              <a:buNone/>
            </a:pPr>
            <a:r>
              <a:rPr lang="en-US" sz="1040" dirty="0">
                <a:solidFill>
                  <a:srgbClr val="5D6976"/>
                </a:solidFill>
              </a:rPr>
              <a:t>Concern and mixed signals are rare, so minority-class validation and imbalance-aware modeling are necessary.</a:t>
            </a:r>
            <a:endParaRPr lang="en-US" sz="1040" dirty="0"/>
          </a:p>
        </p:txBody>
      </p:sp>
      <p:sp>
        <p:nvSpPr>
          <p:cNvPr id="19" name="Shape 17"/>
          <p:cNvSpPr/>
          <p:nvPr/>
        </p:nvSpPr>
        <p:spPr>
          <a:xfrm>
            <a:off x="6181344" y="4443984"/>
            <a:ext cx="5321808" cy="1307592"/>
          </a:xfrm>
          <a:prstGeom prst="roundRect">
            <a:avLst>
              <a:gd name="adj" fmla="val 4196"/>
            </a:avLst>
          </a:prstGeom>
          <a:solidFill>
            <a:srgbClr val="FBF5E9"/>
          </a:solidFill>
          <a:ln w="10160">
            <a:solidFill>
              <a:srgbClr val="D7DEE6"/>
            </a:solidFill>
            <a:prstDash val="solid"/>
          </a:ln>
        </p:spPr>
        <p:txBody>
          <a:bodyPr/>
          <a:lstStyle/>
          <a:p>
            <a:endParaRPr lang="en-US"/>
          </a:p>
        </p:txBody>
      </p:sp>
      <p:sp>
        <p:nvSpPr>
          <p:cNvPr id="20" name="Text 18"/>
          <p:cNvSpPr/>
          <p:nvPr/>
        </p:nvSpPr>
        <p:spPr>
          <a:xfrm>
            <a:off x="6419088" y="4626864"/>
            <a:ext cx="4846320" cy="310896"/>
          </a:xfrm>
          <a:prstGeom prst="rect">
            <a:avLst/>
          </a:prstGeom>
          <a:noFill/>
          <a:ln/>
        </p:spPr>
        <p:txBody>
          <a:bodyPr wrap="square" lIns="0" tIns="0" rIns="0" bIns="0" rtlCol="0" anchor="ctr"/>
          <a:lstStyle/>
          <a:p>
            <a:pPr marL="0" indent="0">
              <a:buNone/>
            </a:pPr>
            <a:r>
              <a:rPr lang="en-US" sz="1320" b="1" dirty="0">
                <a:solidFill>
                  <a:srgbClr val="1E2A35"/>
                </a:solidFill>
              </a:rPr>
              <a:t>The taxonomy is useful but not yet analytically clean</a:t>
            </a:r>
            <a:endParaRPr lang="en-US" sz="1320" dirty="0"/>
          </a:p>
        </p:txBody>
      </p:sp>
      <p:sp>
        <p:nvSpPr>
          <p:cNvPr id="21" name="Text 19"/>
          <p:cNvSpPr/>
          <p:nvPr/>
        </p:nvSpPr>
        <p:spPr>
          <a:xfrm>
            <a:off x="6419088" y="5001768"/>
            <a:ext cx="4846320" cy="530352"/>
          </a:xfrm>
          <a:prstGeom prst="rect">
            <a:avLst/>
          </a:prstGeom>
          <a:noFill/>
          <a:ln/>
        </p:spPr>
        <p:txBody>
          <a:bodyPr wrap="square" lIns="127" tIns="127" rIns="127" bIns="127" rtlCol="0" anchor="ctr">
            <a:normAutofit/>
          </a:bodyPr>
          <a:lstStyle/>
          <a:p>
            <a:pPr marL="0" indent="0">
              <a:buNone/>
            </a:pPr>
            <a:r>
              <a:rPr lang="en-US" sz="1040" dirty="0">
                <a:solidFill>
                  <a:srgbClr val="5D6976"/>
                </a:solidFill>
              </a:rPr>
              <a:t>“No explicit” labels, missing gap values, and duplicates need rule-based cleanup before publication-grade inference.</a:t>
            </a:r>
            <a:endParaRPr lang="en-US" sz="1040" dirty="0"/>
          </a:p>
        </p:txBody>
      </p:sp>
      <p:sp>
        <p:nvSpPr>
          <p:cNvPr id="25" name="Slide Number Placeholder 0"/>
          <p:cNvSpPr>
            <a:spLocks noGrp="1"/>
          </p:cNvSpPr>
          <p:nvPr>
            <p:ph type="sldNum" sz="quarter" idx="4294967295"/>
          </p:nvPr>
        </p:nvSpPr>
        <p:spPr>
          <a:xfrm>
            <a:off x="11823192" y="6492240"/>
            <a:ext cx="201168"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6B7785"/>
                </a:solidFill>
                <a:latin typeface="Aptos"/>
                <a:ea typeface="Aptos"/>
                <a:cs typeface="Aptos"/>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75488" y="274320"/>
            <a:ext cx="11064240" cy="365760"/>
          </a:xfrm>
          <a:prstGeom prst="rect">
            <a:avLst/>
          </a:prstGeom>
          <a:noFill/>
          <a:ln/>
        </p:spPr>
        <p:txBody>
          <a:bodyPr wrap="square" lIns="0" tIns="0" rIns="0" bIns="0" rtlCol="0" anchor="ctr"/>
          <a:lstStyle/>
          <a:p>
            <a:pPr marL="0" indent="0">
              <a:buNone/>
            </a:pPr>
            <a:r>
              <a:rPr lang="en-US" sz="2400" b="1" dirty="0">
                <a:solidFill>
                  <a:srgbClr val="1E2A35"/>
                </a:solidFill>
                <a:latin typeface="Aptos Display" pitchFamily="34" charset="0"/>
                <a:ea typeface="Aptos Display" pitchFamily="34" charset="-122"/>
                <a:cs typeface="Aptos Display" pitchFamily="34" charset="-120"/>
              </a:rPr>
              <a:t>Action items and next analysis steps</a:t>
            </a:r>
            <a:endParaRPr lang="en-US" sz="2400" dirty="0"/>
          </a:p>
        </p:txBody>
      </p:sp>
      <p:sp>
        <p:nvSpPr>
          <p:cNvPr id="3" name="Text 1"/>
          <p:cNvSpPr/>
          <p:nvPr/>
        </p:nvSpPr>
        <p:spPr>
          <a:xfrm>
            <a:off x="484632" y="694944"/>
            <a:ext cx="11064240" cy="320040"/>
          </a:xfrm>
          <a:prstGeom prst="rect">
            <a:avLst/>
          </a:prstGeom>
          <a:noFill/>
          <a:ln/>
        </p:spPr>
        <p:txBody>
          <a:bodyPr wrap="square" lIns="0" tIns="0" rIns="0" bIns="0" rtlCol="0" anchor="ctr"/>
          <a:lstStyle/>
          <a:p>
            <a:pPr marL="0" indent="0">
              <a:buNone/>
            </a:pPr>
            <a:r>
              <a:rPr lang="en-US" sz="1150" dirty="0">
                <a:solidFill>
                  <a:srgbClr val="5D6976"/>
                </a:solidFill>
                <a:latin typeface="Aptos" pitchFamily="34" charset="0"/>
                <a:ea typeface="Aptos" pitchFamily="34" charset="-122"/>
                <a:cs typeface="Aptos" pitchFamily="34" charset="-120"/>
              </a:rPr>
              <a:t>How to move from descriptive discovery to decision-ready evidence</a:t>
            </a:r>
            <a:endParaRPr lang="en-US" sz="1150" dirty="0"/>
          </a:p>
        </p:txBody>
      </p:sp>
      <p:sp>
        <p:nvSpPr>
          <p:cNvPr id="4" name="Shape 2"/>
          <p:cNvSpPr/>
          <p:nvPr/>
        </p:nvSpPr>
        <p:spPr>
          <a:xfrm>
            <a:off x="566928" y="1325880"/>
            <a:ext cx="3529584" cy="4526280"/>
          </a:xfrm>
          <a:prstGeom prst="roundRect">
            <a:avLst>
              <a:gd name="adj" fmla="val 1813"/>
            </a:avLst>
          </a:prstGeom>
          <a:solidFill>
            <a:srgbClr val="FAEEEE"/>
          </a:solidFill>
          <a:ln w="11430">
            <a:solidFill>
              <a:srgbClr val="D7DEE6"/>
            </a:solidFill>
            <a:prstDash val="solid"/>
          </a:ln>
        </p:spPr>
        <p:txBody>
          <a:bodyPr/>
          <a:lstStyle/>
          <a:p>
            <a:endParaRPr lang="en-US"/>
          </a:p>
        </p:txBody>
      </p:sp>
      <p:sp>
        <p:nvSpPr>
          <p:cNvPr id="5" name="Text 3"/>
          <p:cNvSpPr/>
          <p:nvPr/>
        </p:nvSpPr>
        <p:spPr>
          <a:xfrm>
            <a:off x="768096" y="1554480"/>
            <a:ext cx="3127248" cy="530352"/>
          </a:xfrm>
          <a:prstGeom prst="rect">
            <a:avLst/>
          </a:prstGeom>
          <a:noFill/>
          <a:ln/>
        </p:spPr>
        <p:txBody>
          <a:bodyPr wrap="square" lIns="0" tIns="0" rIns="0" bIns="0" rtlCol="0" anchor="ctr">
            <a:normAutofit/>
          </a:bodyPr>
          <a:lstStyle/>
          <a:p>
            <a:pPr marL="0" indent="0" algn="ctr">
              <a:buNone/>
            </a:pPr>
            <a:r>
              <a:rPr lang="en-US" sz="1500" b="1" dirty="0">
                <a:solidFill>
                  <a:srgbClr val="B64A4A"/>
                </a:solidFill>
              </a:rPr>
              <a:t>1. Fix and validate the coding layer</a:t>
            </a:r>
            <a:endParaRPr lang="en-US" sz="1500" dirty="0"/>
          </a:p>
        </p:txBody>
      </p:sp>
      <p:sp>
        <p:nvSpPr>
          <p:cNvPr id="6" name="Shape 4"/>
          <p:cNvSpPr/>
          <p:nvPr/>
        </p:nvSpPr>
        <p:spPr>
          <a:xfrm>
            <a:off x="804672" y="2359152"/>
            <a:ext cx="256032" cy="256032"/>
          </a:xfrm>
          <a:prstGeom prst="ellipse">
            <a:avLst/>
          </a:prstGeom>
          <a:solidFill>
            <a:srgbClr val="B64A4A"/>
          </a:solidFill>
          <a:ln w="12700">
            <a:solidFill>
              <a:srgbClr val="B64A4A"/>
            </a:solidFill>
            <a:prstDash val="solid"/>
          </a:ln>
        </p:spPr>
        <p:txBody>
          <a:bodyPr/>
          <a:lstStyle/>
          <a:p>
            <a:endParaRPr lang="en-US"/>
          </a:p>
        </p:txBody>
      </p:sp>
      <p:sp>
        <p:nvSpPr>
          <p:cNvPr id="7" name="Text 5"/>
          <p:cNvSpPr/>
          <p:nvPr/>
        </p:nvSpPr>
        <p:spPr>
          <a:xfrm>
            <a:off x="804672" y="2414016"/>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1</a:t>
            </a:r>
            <a:endParaRPr lang="en-US" sz="750" dirty="0"/>
          </a:p>
        </p:txBody>
      </p:sp>
      <p:sp>
        <p:nvSpPr>
          <p:cNvPr id="8" name="Text 6"/>
          <p:cNvSpPr/>
          <p:nvPr/>
        </p:nvSpPr>
        <p:spPr>
          <a:xfrm>
            <a:off x="1170432" y="2304288"/>
            <a:ext cx="2688336" cy="493776"/>
          </a:xfrm>
          <a:prstGeom prst="rect">
            <a:avLst/>
          </a:prstGeom>
          <a:noFill/>
          <a:ln/>
        </p:spPr>
        <p:txBody>
          <a:bodyPr wrap="square" lIns="127" tIns="127" rIns="127" bIns="127" rtlCol="0" anchor="ctr">
            <a:normAutofit/>
          </a:bodyPr>
          <a:lstStyle/>
          <a:p>
            <a:pPr marL="0" indent="0">
              <a:buNone/>
            </a:pPr>
            <a:r>
              <a:rPr lang="en-US" sz="1040" dirty="0">
                <a:solidFill>
                  <a:srgbClr val="1E2A35"/>
                </a:solidFill>
              </a:rPr>
              <a:t>Make “no explicit feature” mutually exclusive with explicit environment labels.</a:t>
            </a:r>
            <a:endParaRPr lang="en-US" sz="1040" dirty="0"/>
          </a:p>
        </p:txBody>
      </p:sp>
      <p:sp>
        <p:nvSpPr>
          <p:cNvPr id="9" name="Shape 7"/>
          <p:cNvSpPr/>
          <p:nvPr/>
        </p:nvSpPr>
        <p:spPr>
          <a:xfrm>
            <a:off x="804672" y="3145536"/>
            <a:ext cx="256032" cy="256032"/>
          </a:xfrm>
          <a:prstGeom prst="ellipse">
            <a:avLst/>
          </a:prstGeom>
          <a:solidFill>
            <a:srgbClr val="B64A4A"/>
          </a:solidFill>
          <a:ln w="12700">
            <a:solidFill>
              <a:srgbClr val="B64A4A"/>
            </a:solidFill>
            <a:prstDash val="solid"/>
          </a:ln>
        </p:spPr>
        <p:txBody>
          <a:bodyPr/>
          <a:lstStyle/>
          <a:p>
            <a:endParaRPr lang="en-US"/>
          </a:p>
        </p:txBody>
      </p:sp>
      <p:sp>
        <p:nvSpPr>
          <p:cNvPr id="10" name="Text 8"/>
          <p:cNvSpPr/>
          <p:nvPr/>
        </p:nvSpPr>
        <p:spPr>
          <a:xfrm>
            <a:off x="804672" y="3200400"/>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2</a:t>
            </a:r>
            <a:endParaRPr lang="en-US" sz="750" dirty="0"/>
          </a:p>
        </p:txBody>
      </p:sp>
      <p:sp>
        <p:nvSpPr>
          <p:cNvPr id="11" name="Text 9"/>
          <p:cNvSpPr/>
          <p:nvPr/>
        </p:nvSpPr>
        <p:spPr>
          <a:xfrm>
            <a:off x="1170432" y="3090672"/>
            <a:ext cx="2688336" cy="493776"/>
          </a:xfrm>
          <a:prstGeom prst="rect">
            <a:avLst/>
          </a:prstGeom>
          <a:noFill/>
          <a:ln/>
        </p:spPr>
        <p:txBody>
          <a:bodyPr wrap="square" lIns="127" tIns="127" rIns="127" bIns="127" rtlCol="0" anchor="ctr">
            <a:normAutofit/>
          </a:bodyPr>
          <a:lstStyle/>
          <a:p>
            <a:pPr marL="0" indent="0">
              <a:buNone/>
            </a:pPr>
            <a:r>
              <a:rPr lang="en-US" sz="1040" dirty="0">
                <a:solidFill>
                  <a:srgbClr val="1E2A35"/>
                </a:solidFill>
              </a:rPr>
              <a:t>Clean NaN / placeholder / duplicate taxonomy-gap outputs.</a:t>
            </a:r>
            <a:endParaRPr lang="en-US" sz="1040" dirty="0"/>
          </a:p>
        </p:txBody>
      </p:sp>
      <p:sp>
        <p:nvSpPr>
          <p:cNvPr id="12" name="Shape 10"/>
          <p:cNvSpPr/>
          <p:nvPr/>
        </p:nvSpPr>
        <p:spPr>
          <a:xfrm>
            <a:off x="804672" y="3931920"/>
            <a:ext cx="256032" cy="256032"/>
          </a:xfrm>
          <a:prstGeom prst="ellipse">
            <a:avLst/>
          </a:prstGeom>
          <a:solidFill>
            <a:srgbClr val="B64A4A"/>
          </a:solidFill>
          <a:ln w="12700">
            <a:solidFill>
              <a:srgbClr val="B64A4A"/>
            </a:solidFill>
            <a:prstDash val="solid"/>
          </a:ln>
        </p:spPr>
        <p:txBody>
          <a:bodyPr/>
          <a:lstStyle/>
          <a:p>
            <a:endParaRPr lang="en-US"/>
          </a:p>
        </p:txBody>
      </p:sp>
      <p:sp>
        <p:nvSpPr>
          <p:cNvPr id="13" name="Text 11"/>
          <p:cNvSpPr/>
          <p:nvPr/>
        </p:nvSpPr>
        <p:spPr>
          <a:xfrm>
            <a:off x="804672" y="3986784"/>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3</a:t>
            </a:r>
            <a:endParaRPr lang="en-US" sz="750" dirty="0"/>
          </a:p>
        </p:txBody>
      </p:sp>
      <p:sp>
        <p:nvSpPr>
          <p:cNvPr id="14" name="Text 12"/>
          <p:cNvSpPr/>
          <p:nvPr/>
        </p:nvSpPr>
        <p:spPr>
          <a:xfrm>
            <a:off x="1170432" y="3877056"/>
            <a:ext cx="2688336" cy="493776"/>
          </a:xfrm>
          <a:prstGeom prst="rect">
            <a:avLst/>
          </a:prstGeom>
          <a:noFill/>
          <a:ln/>
        </p:spPr>
        <p:txBody>
          <a:bodyPr wrap="square" lIns="127" tIns="127" rIns="127" bIns="127" rtlCol="0" anchor="ctr">
            <a:normAutofit/>
          </a:bodyPr>
          <a:lstStyle/>
          <a:p>
            <a:pPr marL="0" indent="0">
              <a:buNone/>
            </a:pPr>
            <a:r>
              <a:rPr lang="en-US" sz="1040" dirty="0">
                <a:solidFill>
                  <a:srgbClr val="1E2A35"/>
                </a:solidFill>
              </a:rPr>
              <a:t>Human-audit a stratified sample, oversampling zero-confidence and concern/mixed rows.</a:t>
            </a:r>
            <a:endParaRPr lang="en-US" sz="1040" dirty="0"/>
          </a:p>
        </p:txBody>
      </p:sp>
      <p:sp>
        <p:nvSpPr>
          <p:cNvPr id="15" name="Shape 13"/>
          <p:cNvSpPr/>
          <p:nvPr/>
        </p:nvSpPr>
        <p:spPr>
          <a:xfrm>
            <a:off x="804672" y="4718304"/>
            <a:ext cx="256032" cy="256032"/>
          </a:xfrm>
          <a:prstGeom prst="ellipse">
            <a:avLst/>
          </a:prstGeom>
          <a:solidFill>
            <a:srgbClr val="B64A4A"/>
          </a:solidFill>
          <a:ln w="12700">
            <a:solidFill>
              <a:srgbClr val="B64A4A"/>
            </a:solidFill>
            <a:prstDash val="solid"/>
          </a:ln>
        </p:spPr>
        <p:txBody>
          <a:bodyPr/>
          <a:lstStyle/>
          <a:p>
            <a:endParaRPr lang="en-US"/>
          </a:p>
        </p:txBody>
      </p:sp>
      <p:sp>
        <p:nvSpPr>
          <p:cNvPr id="16" name="Text 14"/>
          <p:cNvSpPr/>
          <p:nvPr/>
        </p:nvSpPr>
        <p:spPr>
          <a:xfrm>
            <a:off x="804672" y="4773168"/>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4</a:t>
            </a:r>
            <a:endParaRPr lang="en-US" sz="750" dirty="0"/>
          </a:p>
        </p:txBody>
      </p:sp>
      <p:sp>
        <p:nvSpPr>
          <p:cNvPr id="17" name="Text 15"/>
          <p:cNvSpPr/>
          <p:nvPr/>
        </p:nvSpPr>
        <p:spPr>
          <a:xfrm>
            <a:off x="1170432" y="4663440"/>
            <a:ext cx="2688336" cy="493776"/>
          </a:xfrm>
          <a:prstGeom prst="rect">
            <a:avLst/>
          </a:prstGeom>
          <a:noFill/>
          <a:ln/>
        </p:spPr>
        <p:txBody>
          <a:bodyPr wrap="square" lIns="127" tIns="127" rIns="127" bIns="127" rtlCol="0" anchor="ctr">
            <a:normAutofit/>
          </a:bodyPr>
          <a:lstStyle/>
          <a:p>
            <a:pPr marL="0" indent="0">
              <a:buNone/>
            </a:pPr>
            <a:r>
              <a:rPr lang="en-US" sz="1040" dirty="0">
                <a:solidFill>
                  <a:srgbClr val="1E2A35"/>
                </a:solidFill>
              </a:rPr>
              <a:t>Report precision, recall, F1, and agreement—not accuracy alone.</a:t>
            </a:r>
            <a:endParaRPr lang="en-US" sz="1040" dirty="0"/>
          </a:p>
        </p:txBody>
      </p:sp>
      <p:sp>
        <p:nvSpPr>
          <p:cNvPr id="18" name="Shape 16"/>
          <p:cNvSpPr/>
          <p:nvPr/>
        </p:nvSpPr>
        <p:spPr>
          <a:xfrm>
            <a:off x="4325112" y="1325880"/>
            <a:ext cx="3529584" cy="4526280"/>
          </a:xfrm>
          <a:prstGeom prst="roundRect">
            <a:avLst>
              <a:gd name="adj" fmla="val 1813"/>
            </a:avLst>
          </a:prstGeom>
          <a:solidFill>
            <a:srgbClr val="EDF5FA"/>
          </a:solidFill>
          <a:ln w="11430">
            <a:solidFill>
              <a:srgbClr val="D7DEE6"/>
            </a:solidFill>
            <a:prstDash val="solid"/>
          </a:ln>
        </p:spPr>
        <p:txBody>
          <a:bodyPr/>
          <a:lstStyle/>
          <a:p>
            <a:endParaRPr lang="en-US"/>
          </a:p>
        </p:txBody>
      </p:sp>
      <p:sp>
        <p:nvSpPr>
          <p:cNvPr id="19" name="Text 17"/>
          <p:cNvSpPr/>
          <p:nvPr/>
        </p:nvSpPr>
        <p:spPr>
          <a:xfrm>
            <a:off x="4526280" y="1554480"/>
            <a:ext cx="3127248" cy="530352"/>
          </a:xfrm>
          <a:prstGeom prst="rect">
            <a:avLst/>
          </a:prstGeom>
          <a:noFill/>
          <a:ln/>
        </p:spPr>
        <p:txBody>
          <a:bodyPr wrap="square" lIns="0" tIns="0" rIns="0" bIns="0" rtlCol="0" anchor="ctr">
            <a:normAutofit/>
          </a:bodyPr>
          <a:lstStyle/>
          <a:p>
            <a:pPr marL="0" indent="0" algn="ctr">
              <a:buNone/>
            </a:pPr>
            <a:r>
              <a:rPr lang="en-US" sz="1500" b="1" dirty="0">
                <a:solidFill>
                  <a:srgbClr val="2A6F9E"/>
                </a:solidFill>
              </a:rPr>
              <a:t>2. Strengthen the statistical analysis</a:t>
            </a:r>
            <a:endParaRPr lang="en-US" sz="1500" dirty="0"/>
          </a:p>
        </p:txBody>
      </p:sp>
      <p:sp>
        <p:nvSpPr>
          <p:cNvPr id="20" name="Shape 18"/>
          <p:cNvSpPr/>
          <p:nvPr/>
        </p:nvSpPr>
        <p:spPr>
          <a:xfrm>
            <a:off x="4562856" y="2359152"/>
            <a:ext cx="256032" cy="256032"/>
          </a:xfrm>
          <a:prstGeom prst="ellipse">
            <a:avLst/>
          </a:prstGeom>
          <a:solidFill>
            <a:srgbClr val="2A6F9E"/>
          </a:solidFill>
          <a:ln w="12700">
            <a:solidFill>
              <a:srgbClr val="2A6F9E"/>
            </a:solidFill>
            <a:prstDash val="solid"/>
          </a:ln>
        </p:spPr>
        <p:txBody>
          <a:bodyPr/>
          <a:lstStyle/>
          <a:p>
            <a:endParaRPr lang="en-US"/>
          </a:p>
        </p:txBody>
      </p:sp>
      <p:sp>
        <p:nvSpPr>
          <p:cNvPr id="21" name="Text 19"/>
          <p:cNvSpPr/>
          <p:nvPr/>
        </p:nvSpPr>
        <p:spPr>
          <a:xfrm>
            <a:off x="4562856" y="2414016"/>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1</a:t>
            </a:r>
            <a:endParaRPr lang="en-US" sz="750" dirty="0"/>
          </a:p>
        </p:txBody>
      </p:sp>
      <p:sp>
        <p:nvSpPr>
          <p:cNvPr id="22" name="Text 20"/>
          <p:cNvSpPr/>
          <p:nvPr/>
        </p:nvSpPr>
        <p:spPr>
          <a:xfrm>
            <a:off x="4928616" y="2304288"/>
            <a:ext cx="2688336" cy="493776"/>
          </a:xfrm>
          <a:prstGeom prst="rect">
            <a:avLst/>
          </a:prstGeom>
          <a:noFill/>
          <a:ln/>
        </p:spPr>
        <p:txBody>
          <a:bodyPr wrap="square" lIns="127" tIns="127" rIns="127" bIns="127" rtlCol="0" anchor="ctr">
            <a:normAutofit/>
          </a:bodyPr>
          <a:lstStyle/>
          <a:p>
            <a:pPr marL="0" indent="0">
              <a:buNone/>
            </a:pPr>
            <a:r>
              <a:rPr lang="en-US" sz="1040" dirty="0">
                <a:solidFill>
                  <a:srgbClr val="1E2A35"/>
                </a:solidFill>
              </a:rPr>
              <a:t>Use multivariable mixed-effects models for score associations.</a:t>
            </a:r>
            <a:endParaRPr lang="en-US" sz="1040" dirty="0"/>
          </a:p>
        </p:txBody>
      </p:sp>
      <p:sp>
        <p:nvSpPr>
          <p:cNvPr id="23" name="Shape 21"/>
          <p:cNvSpPr/>
          <p:nvPr/>
        </p:nvSpPr>
        <p:spPr>
          <a:xfrm>
            <a:off x="4562856" y="3145536"/>
            <a:ext cx="256032" cy="256032"/>
          </a:xfrm>
          <a:prstGeom prst="ellipse">
            <a:avLst/>
          </a:prstGeom>
          <a:solidFill>
            <a:srgbClr val="2A6F9E"/>
          </a:solidFill>
          <a:ln w="12700">
            <a:solidFill>
              <a:srgbClr val="2A6F9E"/>
            </a:solidFill>
            <a:prstDash val="solid"/>
          </a:ln>
        </p:spPr>
        <p:txBody>
          <a:bodyPr/>
          <a:lstStyle/>
          <a:p>
            <a:endParaRPr lang="en-US"/>
          </a:p>
        </p:txBody>
      </p:sp>
      <p:sp>
        <p:nvSpPr>
          <p:cNvPr id="24" name="Text 22"/>
          <p:cNvSpPr/>
          <p:nvPr/>
        </p:nvSpPr>
        <p:spPr>
          <a:xfrm>
            <a:off x="4562856" y="3200400"/>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2</a:t>
            </a:r>
            <a:endParaRPr lang="en-US" sz="750" dirty="0"/>
          </a:p>
        </p:txBody>
      </p:sp>
      <p:sp>
        <p:nvSpPr>
          <p:cNvPr id="25" name="Text 23"/>
          <p:cNvSpPr/>
          <p:nvPr/>
        </p:nvSpPr>
        <p:spPr>
          <a:xfrm>
            <a:off x="4928616" y="3090672"/>
            <a:ext cx="2688336" cy="493776"/>
          </a:xfrm>
          <a:prstGeom prst="rect">
            <a:avLst/>
          </a:prstGeom>
          <a:noFill/>
          <a:ln/>
        </p:spPr>
        <p:txBody>
          <a:bodyPr wrap="square" lIns="127" tIns="127" rIns="127" bIns="127" rtlCol="0" anchor="ctr">
            <a:normAutofit/>
          </a:bodyPr>
          <a:lstStyle/>
          <a:p>
            <a:pPr marL="0" indent="0">
              <a:buNone/>
            </a:pPr>
            <a:r>
              <a:rPr lang="en-US" sz="1040" dirty="0">
                <a:solidFill>
                  <a:srgbClr val="1E2A35"/>
                </a:solidFill>
              </a:rPr>
              <a:t>Adjust for year, evaluation type, program/specialty, evaluator/evaluatee, and repeated observations.</a:t>
            </a:r>
            <a:endParaRPr lang="en-US" sz="1040" dirty="0"/>
          </a:p>
        </p:txBody>
      </p:sp>
      <p:sp>
        <p:nvSpPr>
          <p:cNvPr id="26" name="Shape 24"/>
          <p:cNvSpPr/>
          <p:nvPr/>
        </p:nvSpPr>
        <p:spPr>
          <a:xfrm>
            <a:off x="4562856" y="3931920"/>
            <a:ext cx="256032" cy="256032"/>
          </a:xfrm>
          <a:prstGeom prst="ellipse">
            <a:avLst/>
          </a:prstGeom>
          <a:solidFill>
            <a:srgbClr val="2A6F9E"/>
          </a:solidFill>
          <a:ln w="12700">
            <a:solidFill>
              <a:srgbClr val="2A6F9E"/>
            </a:solidFill>
            <a:prstDash val="solid"/>
          </a:ln>
        </p:spPr>
        <p:txBody>
          <a:bodyPr/>
          <a:lstStyle/>
          <a:p>
            <a:endParaRPr lang="en-US"/>
          </a:p>
        </p:txBody>
      </p:sp>
      <p:sp>
        <p:nvSpPr>
          <p:cNvPr id="27" name="Text 25"/>
          <p:cNvSpPr/>
          <p:nvPr/>
        </p:nvSpPr>
        <p:spPr>
          <a:xfrm>
            <a:off x="4562856" y="3986784"/>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3</a:t>
            </a:r>
            <a:endParaRPr lang="en-US" sz="750" dirty="0"/>
          </a:p>
        </p:txBody>
      </p:sp>
      <p:sp>
        <p:nvSpPr>
          <p:cNvPr id="28" name="Text 26"/>
          <p:cNvSpPr/>
          <p:nvPr/>
        </p:nvSpPr>
        <p:spPr>
          <a:xfrm>
            <a:off x="4928616" y="3877056"/>
            <a:ext cx="2688336" cy="493776"/>
          </a:xfrm>
          <a:prstGeom prst="rect">
            <a:avLst/>
          </a:prstGeom>
          <a:noFill/>
          <a:ln/>
        </p:spPr>
        <p:txBody>
          <a:bodyPr wrap="square" lIns="127" tIns="127" rIns="127" bIns="127" rtlCol="0" anchor="ctr">
            <a:normAutofit/>
          </a:bodyPr>
          <a:lstStyle/>
          <a:p>
            <a:pPr marL="0" indent="0">
              <a:buNone/>
            </a:pPr>
            <a:r>
              <a:rPr lang="en-US" sz="1040" dirty="0">
                <a:solidFill>
                  <a:srgbClr val="1E2A35"/>
                </a:solidFill>
              </a:rPr>
              <a:t>Model longitudinal trajectories instead of only first-versus-last change.</a:t>
            </a:r>
            <a:endParaRPr lang="en-US" sz="1040" dirty="0"/>
          </a:p>
        </p:txBody>
      </p:sp>
      <p:sp>
        <p:nvSpPr>
          <p:cNvPr id="29" name="Shape 27"/>
          <p:cNvSpPr/>
          <p:nvPr/>
        </p:nvSpPr>
        <p:spPr>
          <a:xfrm>
            <a:off x="4562856" y="4718304"/>
            <a:ext cx="256032" cy="256032"/>
          </a:xfrm>
          <a:prstGeom prst="ellipse">
            <a:avLst/>
          </a:prstGeom>
          <a:solidFill>
            <a:srgbClr val="2A6F9E"/>
          </a:solidFill>
          <a:ln w="12700">
            <a:solidFill>
              <a:srgbClr val="2A6F9E"/>
            </a:solidFill>
            <a:prstDash val="solid"/>
          </a:ln>
        </p:spPr>
        <p:txBody>
          <a:bodyPr/>
          <a:lstStyle/>
          <a:p>
            <a:endParaRPr lang="en-US"/>
          </a:p>
        </p:txBody>
      </p:sp>
      <p:sp>
        <p:nvSpPr>
          <p:cNvPr id="30" name="Text 28"/>
          <p:cNvSpPr/>
          <p:nvPr/>
        </p:nvSpPr>
        <p:spPr>
          <a:xfrm>
            <a:off x="4562856" y="4773168"/>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4</a:t>
            </a:r>
            <a:endParaRPr lang="en-US" sz="750" dirty="0"/>
          </a:p>
        </p:txBody>
      </p:sp>
      <p:sp>
        <p:nvSpPr>
          <p:cNvPr id="31" name="Text 29"/>
          <p:cNvSpPr/>
          <p:nvPr/>
        </p:nvSpPr>
        <p:spPr>
          <a:xfrm>
            <a:off x="4928616" y="4663440"/>
            <a:ext cx="2688336" cy="493776"/>
          </a:xfrm>
          <a:prstGeom prst="rect">
            <a:avLst/>
          </a:prstGeom>
          <a:noFill/>
          <a:ln/>
        </p:spPr>
        <p:txBody>
          <a:bodyPr wrap="square" lIns="127" tIns="127" rIns="127" bIns="127" rtlCol="0" anchor="ctr">
            <a:normAutofit/>
          </a:bodyPr>
          <a:lstStyle/>
          <a:p>
            <a:pPr marL="0" indent="0">
              <a:buNone/>
            </a:pPr>
            <a:r>
              <a:rPr lang="en-US" sz="1040" dirty="0">
                <a:solidFill>
                  <a:srgbClr val="1E2A35"/>
                </a:solidFill>
              </a:rPr>
              <a:t>Add yearly denominators and uncertainty intervals to time trends.</a:t>
            </a:r>
            <a:endParaRPr lang="en-US" sz="1040" dirty="0"/>
          </a:p>
        </p:txBody>
      </p:sp>
      <p:sp>
        <p:nvSpPr>
          <p:cNvPr id="32" name="Shape 30"/>
          <p:cNvSpPr/>
          <p:nvPr/>
        </p:nvSpPr>
        <p:spPr>
          <a:xfrm>
            <a:off x="8083296" y="1325880"/>
            <a:ext cx="3529584" cy="4526280"/>
          </a:xfrm>
          <a:prstGeom prst="roundRect">
            <a:avLst>
              <a:gd name="adj" fmla="val 1813"/>
            </a:avLst>
          </a:prstGeom>
          <a:solidFill>
            <a:srgbClr val="EDF7F5"/>
          </a:solidFill>
          <a:ln w="11430">
            <a:solidFill>
              <a:srgbClr val="D7DEE6"/>
            </a:solidFill>
            <a:prstDash val="solid"/>
          </a:ln>
        </p:spPr>
        <p:txBody>
          <a:bodyPr/>
          <a:lstStyle/>
          <a:p>
            <a:endParaRPr lang="en-US"/>
          </a:p>
        </p:txBody>
      </p:sp>
      <p:sp>
        <p:nvSpPr>
          <p:cNvPr id="33" name="Text 31"/>
          <p:cNvSpPr/>
          <p:nvPr/>
        </p:nvSpPr>
        <p:spPr>
          <a:xfrm>
            <a:off x="8284464" y="1554480"/>
            <a:ext cx="3127248" cy="530352"/>
          </a:xfrm>
          <a:prstGeom prst="rect">
            <a:avLst/>
          </a:prstGeom>
          <a:noFill/>
          <a:ln/>
        </p:spPr>
        <p:txBody>
          <a:bodyPr wrap="square" lIns="0" tIns="0" rIns="0" bIns="0" rtlCol="0" anchor="ctr">
            <a:normAutofit/>
          </a:bodyPr>
          <a:lstStyle/>
          <a:p>
            <a:pPr marL="0" indent="0" algn="ctr">
              <a:buNone/>
            </a:pPr>
            <a:r>
              <a:rPr lang="en-US" sz="1500" b="1" dirty="0">
                <a:solidFill>
                  <a:srgbClr val="2B8C87"/>
                </a:solidFill>
              </a:rPr>
              <a:t>3. Turn findings into improvement work</a:t>
            </a:r>
            <a:endParaRPr lang="en-US" sz="1500" dirty="0"/>
          </a:p>
        </p:txBody>
      </p:sp>
      <p:sp>
        <p:nvSpPr>
          <p:cNvPr id="34" name="Shape 32"/>
          <p:cNvSpPr/>
          <p:nvPr/>
        </p:nvSpPr>
        <p:spPr>
          <a:xfrm>
            <a:off x="8321040" y="2359152"/>
            <a:ext cx="256032" cy="256032"/>
          </a:xfrm>
          <a:prstGeom prst="ellipse">
            <a:avLst/>
          </a:prstGeom>
          <a:solidFill>
            <a:srgbClr val="2B8C87"/>
          </a:solidFill>
          <a:ln w="12700">
            <a:solidFill>
              <a:srgbClr val="2B8C87"/>
            </a:solidFill>
            <a:prstDash val="solid"/>
          </a:ln>
        </p:spPr>
        <p:txBody>
          <a:bodyPr/>
          <a:lstStyle/>
          <a:p>
            <a:endParaRPr lang="en-US"/>
          </a:p>
        </p:txBody>
      </p:sp>
      <p:sp>
        <p:nvSpPr>
          <p:cNvPr id="35" name="Text 33"/>
          <p:cNvSpPr/>
          <p:nvPr/>
        </p:nvSpPr>
        <p:spPr>
          <a:xfrm>
            <a:off x="8321040" y="2414016"/>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1</a:t>
            </a:r>
            <a:endParaRPr lang="en-US" sz="750" dirty="0"/>
          </a:p>
        </p:txBody>
      </p:sp>
      <p:sp>
        <p:nvSpPr>
          <p:cNvPr id="36" name="Text 34"/>
          <p:cNvSpPr/>
          <p:nvPr/>
        </p:nvSpPr>
        <p:spPr>
          <a:xfrm>
            <a:off x="8686800" y="2304288"/>
            <a:ext cx="2688336" cy="493776"/>
          </a:xfrm>
          <a:prstGeom prst="rect">
            <a:avLst/>
          </a:prstGeom>
          <a:noFill/>
          <a:ln/>
        </p:spPr>
        <p:txBody>
          <a:bodyPr wrap="square" lIns="127" tIns="127" rIns="127" bIns="127" rtlCol="0" anchor="ctr">
            <a:normAutofit/>
          </a:bodyPr>
          <a:lstStyle/>
          <a:p>
            <a:pPr marL="0" indent="0">
              <a:buNone/>
            </a:pPr>
            <a:r>
              <a:rPr lang="en-US" sz="1040" dirty="0">
                <a:solidFill>
                  <a:srgbClr val="1E2A35"/>
                </a:solidFill>
              </a:rPr>
              <a:t>Prioritize feedback specificity and actionability in weaker evaluation channels.</a:t>
            </a:r>
            <a:endParaRPr lang="en-US" sz="1040" dirty="0"/>
          </a:p>
        </p:txBody>
      </p:sp>
      <p:sp>
        <p:nvSpPr>
          <p:cNvPr id="37" name="Shape 35"/>
          <p:cNvSpPr/>
          <p:nvPr/>
        </p:nvSpPr>
        <p:spPr>
          <a:xfrm>
            <a:off x="8321040" y="3145536"/>
            <a:ext cx="256032" cy="256032"/>
          </a:xfrm>
          <a:prstGeom prst="ellipse">
            <a:avLst/>
          </a:prstGeom>
          <a:solidFill>
            <a:srgbClr val="2B8C87"/>
          </a:solidFill>
          <a:ln w="12700">
            <a:solidFill>
              <a:srgbClr val="2B8C87"/>
            </a:solidFill>
            <a:prstDash val="solid"/>
          </a:ln>
        </p:spPr>
        <p:txBody>
          <a:bodyPr/>
          <a:lstStyle/>
          <a:p>
            <a:endParaRPr lang="en-US"/>
          </a:p>
        </p:txBody>
      </p:sp>
      <p:sp>
        <p:nvSpPr>
          <p:cNvPr id="38" name="Text 36"/>
          <p:cNvSpPr/>
          <p:nvPr/>
        </p:nvSpPr>
        <p:spPr>
          <a:xfrm>
            <a:off x="8321040" y="3200400"/>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2</a:t>
            </a:r>
            <a:endParaRPr lang="en-US" sz="750" dirty="0"/>
          </a:p>
        </p:txBody>
      </p:sp>
      <p:sp>
        <p:nvSpPr>
          <p:cNvPr id="39" name="Text 37"/>
          <p:cNvSpPr/>
          <p:nvPr/>
        </p:nvSpPr>
        <p:spPr>
          <a:xfrm>
            <a:off x="8686800" y="3090672"/>
            <a:ext cx="2688336" cy="493776"/>
          </a:xfrm>
          <a:prstGeom prst="rect">
            <a:avLst/>
          </a:prstGeom>
          <a:noFill/>
          <a:ln/>
        </p:spPr>
        <p:txBody>
          <a:bodyPr wrap="square" lIns="127" tIns="127" rIns="127" bIns="127" rtlCol="0" anchor="ctr">
            <a:normAutofit/>
          </a:bodyPr>
          <a:lstStyle/>
          <a:p>
            <a:pPr marL="0" indent="0">
              <a:buNone/>
            </a:pPr>
            <a:r>
              <a:rPr lang="en-US" sz="1040" dirty="0">
                <a:solidFill>
                  <a:srgbClr val="1E2A35"/>
                </a:solidFill>
              </a:rPr>
              <a:t>Track psychological safety, supervision availability, workload, and wellbeing as program indicators.</a:t>
            </a:r>
            <a:endParaRPr lang="en-US" sz="1040" dirty="0"/>
          </a:p>
        </p:txBody>
      </p:sp>
      <p:sp>
        <p:nvSpPr>
          <p:cNvPr id="40" name="Shape 38"/>
          <p:cNvSpPr/>
          <p:nvPr/>
        </p:nvSpPr>
        <p:spPr>
          <a:xfrm>
            <a:off x="8321040" y="3931920"/>
            <a:ext cx="256032" cy="256032"/>
          </a:xfrm>
          <a:prstGeom prst="ellipse">
            <a:avLst/>
          </a:prstGeom>
          <a:solidFill>
            <a:srgbClr val="2B8C87"/>
          </a:solidFill>
          <a:ln w="12700">
            <a:solidFill>
              <a:srgbClr val="2B8C87"/>
            </a:solidFill>
            <a:prstDash val="solid"/>
          </a:ln>
        </p:spPr>
        <p:txBody>
          <a:bodyPr/>
          <a:lstStyle/>
          <a:p>
            <a:endParaRPr lang="en-US"/>
          </a:p>
        </p:txBody>
      </p:sp>
      <p:sp>
        <p:nvSpPr>
          <p:cNvPr id="41" name="Text 39"/>
          <p:cNvSpPr/>
          <p:nvPr/>
        </p:nvSpPr>
        <p:spPr>
          <a:xfrm>
            <a:off x="8321040" y="3986784"/>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3</a:t>
            </a:r>
            <a:endParaRPr lang="en-US" sz="750" dirty="0"/>
          </a:p>
        </p:txBody>
      </p:sp>
      <p:sp>
        <p:nvSpPr>
          <p:cNvPr id="42" name="Text 40"/>
          <p:cNvSpPr/>
          <p:nvPr/>
        </p:nvSpPr>
        <p:spPr>
          <a:xfrm>
            <a:off x="8686800" y="3877056"/>
            <a:ext cx="2688336" cy="493776"/>
          </a:xfrm>
          <a:prstGeom prst="rect">
            <a:avLst/>
          </a:prstGeom>
          <a:noFill/>
          <a:ln/>
        </p:spPr>
        <p:txBody>
          <a:bodyPr wrap="square" lIns="127" tIns="127" rIns="127" bIns="127" rtlCol="0" anchor="ctr">
            <a:normAutofit/>
          </a:bodyPr>
          <a:lstStyle/>
          <a:p>
            <a:pPr marL="0" indent="0">
              <a:buNone/>
            </a:pPr>
            <a:r>
              <a:rPr lang="en-US" sz="1040" dirty="0">
                <a:solidFill>
                  <a:srgbClr val="1E2A35"/>
                </a:solidFill>
              </a:rPr>
              <a:t>Investigate low-score-enriched themes by program and specialty.</a:t>
            </a:r>
            <a:endParaRPr lang="en-US" sz="1040" dirty="0"/>
          </a:p>
        </p:txBody>
      </p:sp>
      <p:sp>
        <p:nvSpPr>
          <p:cNvPr id="43" name="Shape 41"/>
          <p:cNvSpPr/>
          <p:nvPr/>
        </p:nvSpPr>
        <p:spPr>
          <a:xfrm>
            <a:off x="8321040" y="4718304"/>
            <a:ext cx="256032" cy="256032"/>
          </a:xfrm>
          <a:prstGeom prst="ellipse">
            <a:avLst/>
          </a:prstGeom>
          <a:solidFill>
            <a:srgbClr val="2B8C87"/>
          </a:solidFill>
          <a:ln w="12700">
            <a:solidFill>
              <a:srgbClr val="2B8C87"/>
            </a:solidFill>
            <a:prstDash val="solid"/>
          </a:ln>
        </p:spPr>
        <p:txBody>
          <a:bodyPr/>
          <a:lstStyle/>
          <a:p>
            <a:endParaRPr lang="en-US"/>
          </a:p>
        </p:txBody>
      </p:sp>
      <p:sp>
        <p:nvSpPr>
          <p:cNvPr id="44" name="Text 42"/>
          <p:cNvSpPr/>
          <p:nvPr/>
        </p:nvSpPr>
        <p:spPr>
          <a:xfrm>
            <a:off x="8321040" y="4773168"/>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4</a:t>
            </a:r>
            <a:endParaRPr lang="en-US" sz="750" dirty="0"/>
          </a:p>
        </p:txBody>
      </p:sp>
      <p:sp>
        <p:nvSpPr>
          <p:cNvPr id="45" name="Text 43"/>
          <p:cNvSpPr/>
          <p:nvPr/>
        </p:nvSpPr>
        <p:spPr>
          <a:xfrm>
            <a:off x="8686800" y="4663440"/>
            <a:ext cx="2688336" cy="493776"/>
          </a:xfrm>
          <a:prstGeom prst="rect">
            <a:avLst/>
          </a:prstGeom>
          <a:noFill/>
          <a:ln/>
        </p:spPr>
        <p:txBody>
          <a:bodyPr wrap="square" lIns="127" tIns="127" rIns="127" bIns="127" rtlCol="0" anchor="ctr">
            <a:normAutofit/>
          </a:bodyPr>
          <a:lstStyle/>
          <a:p>
            <a:pPr marL="0" indent="0">
              <a:buNone/>
            </a:pPr>
            <a:r>
              <a:rPr lang="en-US" sz="1040" dirty="0">
                <a:solidFill>
                  <a:srgbClr val="1E2A35"/>
                </a:solidFill>
              </a:rPr>
              <a:t>Build a dashboard that links narrative themes, structured scores, and longitudinal change.</a:t>
            </a:r>
            <a:endParaRPr lang="en-US" sz="1040" dirty="0"/>
          </a:p>
        </p:txBody>
      </p:sp>
      <p:sp>
        <p:nvSpPr>
          <p:cNvPr id="46" name="Shape 44"/>
          <p:cNvSpPr/>
          <p:nvPr/>
        </p:nvSpPr>
        <p:spPr>
          <a:xfrm>
            <a:off x="1371600" y="6016752"/>
            <a:ext cx="9436608" cy="384048"/>
          </a:xfrm>
          <a:prstGeom prst="roundRect">
            <a:avLst>
              <a:gd name="adj" fmla="val 11905"/>
            </a:avLst>
          </a:prstGeom>
          <a:solidFill>
            <a:srgbClr val="163A5F"/>
          </a:solidFill>
          <a:ln w="12700">
            <a:solidFill>
              <a:srgbClr val="163A5F"/>
            </a:solidFill>
            <a:prstDash val="solid"/>
          </a:ln>
        </p:spPr>
        <p:txBody>
          <a:bodyPr/>
          <a:lstStyle/>
          <a:p>
            <a:endParaRPr lang="en-US"/>
          </a:p>
        </p:txBody>
      </p:sp>
      <p:sp>
        <p:nvSpPr>
          <p:cNvPr id="47" name="Text 45"/>
          <p:cNvSpPr/>
          <p:nvPr/>
        </p:nvSpPr>
        <p:spPr>
          <a:xfrm>
            <a:off x="1572768" y="6117336"/>
            <a:ext cx="9034272" cy="164592"/>
          </a:xfrm>
          <a:prstGeom prst="rect">
            <a:avLst/>
          </a:prstGeom>
          <a:noFill/>
          <a:ln/>
        </p:spPr>
        <p:txBody>
          <a:bodyPr wrap="square" lIns="0" tIns="0" rIns="0" bIns="0" rtlCol="0" anchor="ctr"/>
          <a:lstStyle/>
          <a:p>
            <a:pPr marL="0" indent="0" algn="ctr">
              <a:buNone/>
            </a:pPr>
            <a:r>
              <a:rPr lang="en-US" sz="1070" b="1" dirty="0">
                <a:solidFill>
                  <a:srgbClr val="FFFFFF"/>
                </a:solidFill>
              </a:rPr>
              <a:t>Recommended priority: validate taxonomy + confidence first, then run adjusted mixed-effects models, then operationalize the strongest themes in a GMETS dashboard.</a:t>
            </a:r>
            <a:endParaRPr lang="en-US" sz="1070" dirty="0"/>
          </a:p>
        </p:txBody>
      </p:sp>
      <p:sp>
        <p:nvSpPr>
          <p:cNvPr id="48" name="Slide Number Placeholder 0"/>
          <p:cNvSpPr>
            <a:spLocks noGrp="1"/>
          </p:cNvSpPr>
          <p:nvPr>
            <p:ph type="sldNum" sz="quarter" idx="4294967295"/>
          </p:nvPr>
        </p:nvSpPr>
        <p:spPr>
          <a:xfrm>
            <a:off x="11823192" y="6492240"/>
            <a:ext cx="201168" cy="164592"/>
          </a:xfrm>
          <a:prstGeom prst="rect">
            <a:avLst/>
          </a:prstGeom>
          <a:extLst>
            <a:ext uri="{C572A759-6A51-4108-AA02-DFA0A04FC94B}">
              <ma14:wrappingTextBoxFlag xmlns:ma14="http://schemas.microsoft.com/office/mac/drawingml/2011/main" xmlns="" val="0"/>
            </a:ext>
          </a:extLst>
        </p:spPr>
        <p:txBody>
          <a:bodyPr/>
          <a:lstStyle>
            <a:lvl1pPr>
              <a:defRPr sz="850">
                <a:solidFill>
                  <a:srgbClr val="6B7785"/>
                </a:solidFill>
                <a:latin typeface="Aptos"/>
                <a:ea typeface="Aptos"/>
                <a:cs typeface="Aptos"/>
              </a:defRPr>
            </a:lvl1pPr>
          </a:lstStyle>
          <a:p>
            <a:pPr algn="r"/>
            <a:fld id="{F7021451-1387-4CA6-816F-3879F97B5CBC}" type="slidenum">
              <a:rPr lang="en-US" b="0"/>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3065</Words>
  <Application>Microsoft Macintosh PowerPoint</Application>
  <PresentationFormat>Widescreen</PresentationFormat>
  <Paragraphs>273</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Cleveland Clinic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GMETS Analysis</dc:title>
  <dc:subject>GMETS Analysis</dc:subject>
  <dc:creator>Rick Rejeleene</dc:creator>
  <cp:lastModifiedBy>Rejeleene, Rick</cp:lastModifiedBy>
  <cp:revision>2</cp:revision>
  <dcterms:created xsi:type="dcterms:W3CDTF">2026-10-06T14:33:29Z</dcterms:created>
  <dcterms:modified xsi:type="dcterms:W3CDTF">2026-10-06T14:44:49Z</dcterms:modified>
</cp:coreProperties>
</file>